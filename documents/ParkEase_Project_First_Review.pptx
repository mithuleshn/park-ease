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4"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3" d="100"/>
          <a:sy n="93" d="100"/>
        </p:scale>
        <p:origin x="53"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924872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I am presenting Park Ease, a Smart Parking Management and Intelligent Reservation System, developed as our MCA 3rd Semester project by myself, Mithulesh N, and my teammate Dineshkumar. This is our first project review, so today I will walk through the problem we identified, our proposed solution, the work completed so far, and a clear roadmap for what remains. Our guide is [Guide Name] from the [Department/College] department.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Conventional parking systems suffer from several problems: drivers cannot see live slot availability, manual management is error-prone, and demand for parking is not constant through the day, so keeping every slot reservation-only is impractical and can even cause revenue loss from slots that stay reserved but empty. There is also no built-in way to track how long a vehicle has parked or to apply penalties for overstay. This motivated us to design Park Ease as a hybrid system: reservations during peak hours, and free walk-in access during off-peak hours, all monitored in real time using IoT sensors.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objectives focus on giving users real-time visibility into parking availability, reducing search time, and automating duration and fare calculation. The core of our proposed solution is a hybrid model. During peak hours, a user reserves a slot in advance by paying a small refundable deposit of 50 rupees and receives a QR parking pass. During off-peak hours, the same user can simply walk in and use any available slot without booking in advance. Both paths converge into the same parking, exit and fare-calculation process, and peak-hour timing and tariffs will be configurable by the administrator.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shows the complete lifecycle. The user opens the web app, selects a parking area and time, and the system checks whether that slot falls in a peak or off-peak window. If it is peak hours, the reservation path is triggered: slot selection, vehicle details, the 50-rupee deposit, and a QR pass that is validated at entry. If it is off-peak, the user simply walks in and uses an available slot, which the sensor detects directly. Both paths converge at the same point: parking duration is tracked, and at exit the system calculates the normal fare, adds any penalty for overstay, adjusts the deposit if one was paid, generates a receipt, and finally frees the slot.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far, we have finalized the project idea and conceptually designed the complete parking lifecycle. We have completed requirement analysis covering availability, reservation, deposit, QR pass, and fare/penalty concepts. On the front-end, we have built an initial single-page web application with a slot availability and selection interface that does not require mandatory login. On the hardware side, we have collected the ESP32 board, HC-SR04 ultrasonic sensor, breadboard and USB cable, and studied their pin configuration — including identifying that we will need a voltage divider to safely connect the sensor echo pin to the ESP32. I want to be clear that the IoT sensor is not yet integrated with the website — that integration is planned work, which I will cover next.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architecture has five layers. HC-SR04 ultrasonic sensors detect whether a slot is occupied; this data is read by an ESP32 microcontroller and sent over Wi-Fi to a Flask-based REST API backend, which stores and manages data in a MySQL database, and finally reflects the live status on the Park Ease web application. An admin dashboard sits alongside the backend for monitoring reservations, payments and reports. For technology, our frontend is a single-page HTML/CSS/JavaScript application, the backend is Python Flask, and the database is MySQL. On hardware, we have purchased all components and prepared an initial circuit design; single-sensor prototype testing is our immediate next milestone.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Park Ease is expected to deliver real-time parking availability, reduced search time, QR-verified entry, and automated fare and penalty calculation, giving operators better monitoring with less manual effort. Looking further ahead, we plan enhancements such as a mobile app, automatic number plate recognition, navigation to the parking area, EV charging slot management, predictive availability, and cloud deployment. In conclusion, Park Ease is a practical hybrid smart-parking solution, and our remaining work is clearly scoped across hardware, backend, database, payments and testing. Thank you.</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image" Target="../media/image11.png"/></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4.png"/><Relationship Id="rId7"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3.png"/><Relationship Id="rId4" Type="http://schemas.openxmlformats.org/officeDocument/2006/relationships/image" Target="../media/image7.png"/><Relationship Id="rId9" Type="http://schemas.openxmlformats.org/officeDocument/2006/relationships/hyperlink" Target="https://park-ease-sigma.vercel.app/"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21024"/>
        </a:solidFill>
        <a:effectLst/>
      </p:bgPr>
    </p:bg>
    <p:spTree>
      <p:nvGrpSpPr>
        <p:cNvPr id="1" name=""/>
        <p:cNvGrpSpPr/>
        <p:nvPr/>
      </p:nvGrpSpPr>
      <p:grpSpPr>
        <a:xfrm>
          <a:off x="0" y="0"/>
          <a:ext cx="0" cy="0"/>
          <a:chOff x="0" y="0"/>
          <a:chExt cx="0" cy="0"/>
        </a:xfrm>
      </p:grpSpPr>
      <p:sp>
        <p:nvSpPr>
          <p:cNvPr id="2" name="Shape 0"/>
          <p:cNvSpPr/>
          <p:nvPr/>
        </p:nvSpPr>
        <p:spPr>
          <a:xfrm>
            <a:off x="8778240" y="-2194560"/>
            <a:ext cx="6400800" cy="6400800"/>
          </a:xfrm>
          <a:prstGeom prst="ellipse">
            <a:avLst/>
          </a:prstGeom>
          <a:solidFill>
            <a:srgbClr val="065A82">
              <a:alpha val="45000"/>
            </a:srgbClr>
          </a:solidFill>
          <a:ln/>
        </p:spPr>
      </p:sp>
      <p:sp>
        <p:nvSpPr>
          <p:cNvPr id="3" name="Shape 1"/>
          <p:cNvSpPr/>
          <p:nvPr/>
        </p:nvSpPr>
        <p:spPr>
          <a:xfrm>
            <a:off x="9875520" y="3474720"/>
            <a:ext cx="3840480" cy="3840480"/>
          </a:xfrm>
          <a:prstGeom prst="ellipse">
            <a:avLst/>
          </a:prstGeom>
          <a:solidFill>
            <a:srgbClr val="02C39A">
              <a:alpha val="25000"/>
            </a:srgbClr>
          </a:solidFill>
          <a:ln/>
        </p:spPr>
      </p:sp>
      <p:sp>
        <p:nvSpPr>
          <p:cNvPr id="4" name="Text 2"/>
          <p:cNvSpPr txBox="1"/>
          <p:nvPr/>
        </p:nvSpPr>
        <p:spPr>
          <a:xfrm>
            <a:off x="822960" y="1234440"/>
            <a:ext cx="8229600" cy="365760"/>
          </a:xfrm>
          <a:prstGeom prst="rect">
            <a:avLst/>
          </a:prstGeom>
          <a:noFill/>
          <a:ln/>
        </p:spPr>
        <p:txBody>
          <a:bodyPr wrap="square" lIns="0" tIns="0" rIns="0" bIns="0" rtlCol="0" anchor="ctr"/>
          <a:lstStyle/>
          <a:p>
            <a:pPr marL="0" indent="0">
              <a:buNone/>
            </a:pPr>
            <a:r>
              <a:rPr lang="en-US" sz="1300" b="1" kern="0" spc="200" dirty="0">
                <a:solidFill>
                  <a:srgbClr val="02C39A"/>
                </a:solidFill>
                <a:latin typeface="Calibri" pitchFamily="34" charset="0"/>
                <a:ea typeface="Calibri" pitchFamily="34" charset="-122"/>
                <a:cs typeface="Calibri" pitchFamily="34" charset="-120"/>
              </a:rPr>
              <a:t>IoT  +  WEB APPLICATION  +  SMART PARKING</a:t>
            </a:r>
            <a:endParaRPr lang="en-US" sz="1300" dirty="0"/>
          </a:p>
        </p:txBody>
      </p:sp>
      <p:sp>
        <p:nvSpPr>
          <p:cNvPr id="5" name="Text 3"/>
          <p:cNvSpPr txBox="1"/>
          <p:nvPr/>
        </p:nvSpPr>
        <p:spPr>
          <a:xfrm>
            <a:off x="777240" y="1691640"/>
            <a:ext cx="9601200" cy="1005840"/>
          </a:xfrm>
          <a:prstGeom prst="rect">
            <a:avLst/>
          </a:prstGeom>
          <a:noFill/>
          <a:ln/>
        </p:spPr>
        <p:txBody>
          <a:bodyPr wrap="square" lIns="0" tIns="0" rIns="0" bIns="0" rtlCol="0" anchor="ctr"/>
          <a:lstStyle/>
          <a:p>
            <a:pPr marL="0" indent="0">
              <a:buNone/>
            </a:pPr>
            <a:r>
              <a:rPr lang="en-US" sz="6000" b="1" dirty="0">
                <a:solidFill>
                  <a:srgbClr val="FFFFFF"/>
                </a:solidFill>
                <a:latin typeface="Cambria" pitchFamily="34" charset="0"/>
                <a:ea typeface="Cambria" pitchFamily="34" charset="-122"/>
                <a:cs typeface="Cambria" pitchFamily="34" charset="-120"/>
              </a:rPr>
              <a:t>Park Ease</a:t>
            </a:r>
            <a:endParaRPr lang="en-US" sz="6000" dirty="0"/>
          </a:p>
        </p:txBody>
      </p:sp>
      <p:sp>
        <p:nvSpPr>
          <p:cNvPr id="6" name="Text 4"/>
          <p:cNvSpPr txBox="1"/>
          <p:nvPr/>
        </p:nvSpPr>
        <p:spPr>
          <a:xfrm>
            <a:off x="822960" y="2606040"/>
            <a:ext cx="8778240" cy="548640"/>
          </a:xfrm>
          <a:prstGeom prst="rect">
            <a:avLst/>
          </a:prstGeom>
          <a:noFill/>
          <a:ln/>
        </p:spPr>
        <p:txBody>
          <a:bodyPr wrap="square" lIns="0" tIns="0" rIns="0" bIns="0" rtlCol="0" anchor="ctr"/>
          <a:lstStyle/>
          <a:p>
            <a:pPr marL="0" indent="0">
              <a:buNone/>
            </a:pPr>
            <a:r>
              <a:rPr lang="en-US" sz="1900" dirty="0">
                <a:solidFill>
                  <a:srgbClr val="C9D8DF"/>
                </a:solidFill>
                <a:latin typeface="Calibri" pitchFamily="34" charset="0"/>
                <a:ea typeface="Calibri" pitchFamily="34" charset="-122"/>
                <a:cs typeface="Calibri" pitchFamily="34" charset="-120"/>
              </a:rPr>
              <a:t>Smart Parking Management and Reservation System</a:t>
            </a:r>
            <a:endParaRPr lang="en-US" sz="1900" dirty="0"/>
          </a:p>
        </p:txBody>
      </p:sp>
      <p:sp>
        <p:nvSpPr>
          <p:cNvPr id="7" name="Shape 5"/>
          <p:cNvSpPr/>
          <p:nvPr/>
        </p:nvSpPr>
        <p:spPr>
          <a:xfrm>
            <a:off x="822960" y="3337560"/>
            <a:ext cx="2926080" cy="0"/>
          </a:xfrm>
          <a:prstGeom prst="line">
            <a:avLst/>
          </a:prstGeom>
          <a:noFill/>
          <a:ln w="25400">
            <a:solidFill>
              <a:srgbClr val="02C39A"/>
            </a:solidFill>
            <a:prstDash val="solid"/>
          </a:ln>
        </p:spPr>
      </p:sp>
      <p:sp>
        <p:nvSpPr>
          <p:cNvPr id="8" name="Text 6"/>
          <p:cNvSpPr txBox="1"/>
          <p:nvPr/>
        </p:nvSpPr>
        <p:spPr>
          <a:xfrm>
            <a:off x="822960" y="3520440"/>
            <a:ext cx="731520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First Project Review  •  MCA 3rd Semester</a:t>
            </a:r>
            <a:endParaRPr lang="en-US" sz="1400" dirty="0"/>
          </a:p>
        </p:txBody>
      </p:sp>
      <p:sp>
        <p:nvSpPr>
          <p:cNvPr id="9" name="Shape 7"/>
          <p:cNvSpPr/>
          <p:nvPr/>
        </p:nvSpPr>
        <p:spPr>
          <a:xfrm>
            <a:off x="822960" y="4069080"/>
            <a:ext cx="7528560" cy="2130552"/>
          </a:xfrm>
          <a:prstGeom prst="roundRect">
            <a:avLst>
              <a:gd name="adj" fmla="val 4848"/>
            </a:avLst>
          </a:prstGeom>
          <a:solidFill>
            <a:srgbClr val="065A82">
              <a:alpha val="35000"/>
            </a:srgbClr>
          </a:solidFill>
          <a:ln w="12700">
            <a:solidFill>
              <a:srgbClr val="2E4A5C"/>
            </a:solidFill>
            <a:prstDash val="solid"/>
          </a:ln>
        </p:spPr>
      </p:sp>
      <p:sp>
        <p:nvSpPr>
          <p:cNvPr id="10" name="Text 8"/>
          <p:cNvSpPr txBox="1"/>
          <p:nvPr/>
        </p:nvSpPr>
        <p:spPr>
          <a:xfrm>
            <a:off x="1058025" y="4398264"/>
            <a:ext cx="6958215" cy="365760"/>
          </a:xfrm>
          <a:prstGeom prst="rect">
            <a:avLst/>
          </a:prstGeom>
          <a:noFill/>
          <a:ln/>
        </p:spPr>
        <p:txBody>
          <a:bodyPr wrap="square" lIns="0" tIns="0" rIns="0" bIns="0" rtlCol="0" anchor="ctr"/>
          <a:lstStyle/>
          <a:p>
            <a:pPr marL="0" indent="0">
              <a:buNone/>
            </a:pPr>
            <a:r>
              <a:rPr lang="en-US" b="1" dirty="0">
                <a:solidFill>
                  <a:srgbClr val="02C39A"/>
                </a:solidFill>
                <a:latin typeface="Calibri" pitchFamily="34" charset="0"/>
                <a:ea typeface="Calibri" pitchFamily="34" charset="-122"/>
                <a:cs typeface="Calibri" pitchFamily="34" charset="-120"/>
              </a:rPr>
              <a:t>Project Team:  </a:t>
            </a:r>
            <a:r>
              <a:rPr lang="en-US" dirty="0">
                <a:solidFill>
                  <a:srgbClr val="FFFFFF"/>
                </a:solidFill>
                <a:latin typeface="Calibri" pitchFamily="34" charset="0"/>
                <a:ea typeface="Calibri" pitchFamily="34" charset="-122"/>
                <a:cs typeface="Calibri" pitchFamily="34" charset="-120"/>
              </a:rPr>
              <a:t>Mithulesh N  [25mx328] &amp; Dinesh Kumar S [25mx312]</a:t>
            </a:r>
            <a:endParaRPr lang="en-US" dirty="0"/>
          </a:p>
        </p:txBody>
      </p:sp>
      <p:sp>
        <p:nvSpPr>
          <p:cNvPr id="11" name="Text 9"/>
          <p:cNvSpPr txBox="1"/>
          <p:nvPr/>
        </p:nvSpPr>
        <p:spPr>
          <a:xfrm>
            <a:off x="1058025" y="4942332"/>
            <a:ext cx="6958215" cy="320040"/>
          </a:xfrm>
          <a:prstGeom prst="rect">
            <a:avLst/>
          </a:prstGeom>
          <a:noFill/>
          <a:ln/>
        </p:spPr>
        <p:txBody>
          <a:bodyPr wrap="square" lIns="0" tIns="0" rIns="0" bIns="0" rtlCol="0" anchor="ctr"/>
          <a:lstStyle/>
          <a:p>
            <a:r>
              <a:rPr lang="en-US" b="1" dirty="0">
                <a:solidFill>
                  <a:srgbClr val="02C39A"/>
                </a:solidFill>
                <a:latin typeface="Calibri" pitchFamily="34" charset="0"/>
                <a:ea typeface="Calibri" pitchFamily="34" charset="-122"/>
                <a:cs typeface="Calibri" pitchFamily="34" charset="-120"/>
              </a:rPr>
              <a:t>Project Guide:  </a:t>
            </a:r>
            <a:r>
              <a:rPr lang="en-US" b="1" dirty="0">
                <a:solidFill>
                  <a:schemeClr val="bg1"/>
                </a:solidFill>
                <a:latin typeface="Calibri" pitchFamily="34" charset="0"/>
                <a:ea typeface="Calibri" pitchFamily="34" charset="-122"/>
                <a:cs typeface="Calibri" pitchFamily="34" charset="-120"/>
              </a:rPr>
              <a:t>Dr. A. Sankar</a:t>
            </a:r>
            <a:endParaRPr lang="en-US" dirty="0">
              <a:solidFill>
                <a:schemeClr val="bg1"/>
              </a:solidFill>
            </a:endParaRPr>
          </a:p>
        </p:txBody>
      </p:sp>
      <p:sp>
        <p:nvSpPr>
          <p:cNvPr id="13" name="Text 11"/>
          <p:cNvSpPr txBox="1"/>
          <p:nvPr/>
        </p:nvSpPr>
        <p:spPr>
          <a:xfrm>
            <a:off x="1051559" y="5445211"/>
            <a:ext cx="6958215" cy="320040"/>
          </a:xfrm>
          <a:prstGeom prst="rect">
            <a:avLst/>
          </a:prstGeom>
          <a:noFill/>
          <a:ln/>
        </p:spPr>
        <p:txBody>
          <a:bodyPr wrap="square" lIns="0" tIns="0" rIns="0" bIns="0" rtlCol="0" anchor="ctr"/>
          <a:lstStyle/>
          <a:p>
            <a:pPr marL="0" indent="0">
              <a:buNone/>
            </a:pPr>
            <a:r>
              <a:rPr lang="en-US" b="1" dirty="0">
                <a:solidFill>
                  <a:srgbClr val="02C39A"/>
                </a:solidFill>
                <a:latin typeface="Calibri" pitchFamily="34" charset="0"/>
                <a:ea typeface="Calibri" pitchFamily="34" charset="-122"/>
                <a:cs typeface="Calibri" pitchFamily="34" charset="-120"/>
              </a:rPr>
              <a:t>Academic Year:  </a:t>
            </a:r>
            <a:r>
              <a:rPr lang="en-US" i="1" dirty="0">
                <a:solidFill>
                  <a:schemeClr val="bg1"/>
                </a:solidFill>
                <a:latin typeface="Calibri" pitchFamily="34" charset="0"/>
                <a:ea typeface="Calibri" pitchFamily="34" charset="-122"/>
                <a:cs typeface="Calibri" pitchFamily="34" charset="-120"/>
              </a:rPr>
              <a:t>[2025 - 2027]</a:t>
            </a:r>
            <a:endParaRPr lang="en-US" dirty="0">
              <a:solidFill>
                <a:schemeClr val="bg1"/>
              </a:solidFill>
            </a:endParaRPr>
          </a:p>
        </p:txBody>
      </p:sp>
      <p:pic>
        <p:nvPicPr>
          <p:cNvPr id="14" name="Image 0" descr="/home/claude/parkease/icons/car.png"/>
          <p:cNvPicPr>
            <a:picLocks noChangeAspect="1"/>
          </p:cNvPicPr>
          <p:nvPr/>
        </p:nvPicPr>
        <p:blipFill>
          <a:blip r:embed="rId3"/>
          <a:stretch>
            <a:fillRect/>
          </a:stretch>
        </p:blipFill>
        <p:spPr>
          <a:xfrm>
            <a:off x="10546080" y="4352544"/>
            <a:ext cx="457200" cy="457200"/>
          </a:xfrm>
          <a:prstGeom prst="rect">
            <a:avLst/>
          </a:prstGeom>
        </p:spPr>
      </p:pic>
      <p:sp>
        <p:nvSpPr>
          <p:cNvPr id="15" name="Text 12"/>
          <p:cNvSpPr txBox="1"/>
          <p:nvPr/>
        </p:nvSpPr>
        <p:spPr>
          <a:xfrm>
            <a:off x="11094720" y="4389120"/>
            <a:ext cx="2194560" cy="384048"/>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Live Slots</a:t>
            </a:r>
            <a:endParaRPr lang="en-US" sz="1300" dirty="0"/>
          </a:p>
        </p:txBody>
      </p:sp>
      <p:pic>
        <p:nvPicPr>
          <p:cNvPr id="16" name="Image 1" descr="/home/claude/parkease/icons/sensor.png"/>
          <p:cNvPicPr>
            <a:picLocks noChangeAspect="1"/>
          </p:cNvPicPr>
          <p:nvPr/>
        </p:nvPicPr>
        <p:blipFill>
          <a:blip r:embed="rId4"/>
          <a:stretch>
            <a:fillRect/>
          </a:stretch>
        </p:blipFill>
        <p:spPr>
          <a:xfrm>
            <a:off x="10546080" y="4956048"/>
            <a:ext cx="457200" cy="457200"/>
          </a:xfrm>
          <a:prstGeom prst="rect">
            <a:avLst/>
          </a:prstGeom>
        </p:spPr>
      </p:pic>
      <p:sp>
        <p:nvSpPr>
          <p:cNvPr id="17" name="Text 13"/>
          <p:cNvSpPr txBox="1"/>
          <p:nvPr/>
        </p:nvSpPr>
        <p:spPr>
          <a:xfrm>
            <a:off x="11094720" y="4992624"/>
            <a:ext cx="2194560" cy="384048"/>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IoT Sensing</a:t>
            </a:r>
            <a:endParaRPr lang="en-US" sz="1300" dirty="0"/>
          </a:p>
        </p:txBody>
      </p:sp>
      <p:pic>
        <p:nvPicPr>
          <p:cNvPr id="18" name="Image 2" descr="/home/claude/parkease/icons/qrcode.png"/>
          <p:cNvPicPr>
            <a:picLocks noChangeAspect="1"/>
          </p:cNvPicPr>
          <p:nvPr/>
        </p:nvPicPr>
        <p:blipFill>
          <a:blip r:embed="rId5"/>
          <a:stretch>
            <a:fillRect/>
          </a:stretch>
        </p:blipFill>
        <p:spPr>
          <a:xfrm>
            <a:off x="10546080" y="5559552"/>
            <a:ext cx="457200" cy="457200"/>
          </a:xfrm>
          <a:prstGeom prst="rect">
            <a:avLst/>
          </a:prstGeom>
        </p:spPr>
      </p:pic>
      <p:sp>
        <p:nvSpPr>
          <p:cNvPr id="19" name="Text 14"/>
          <p:cNvSpPr txBox="1"/>
          <p:nvPr/>
        </p:nvSpPr>
        <p:spPr>
          <a:xfrm>
            <a:off x="11094720" y="5596128"/>
            <a:ext cx="2194560" cy="384048"/>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QR Pass</a:t>
            </a:r>
            <a:endParaRPr lang="en-US" sz="1300" dirty="0"/>
          </a:p>
        </p:txBody>
      </p:sp>
      <p:pic>
        <p:nvPicPr>
          <p:cNvPr id="20" name="Image 3" descr="/home/claude/parkease/icons/chart.png"/>
          <p:cNvPicPr>
            <a:picLocks noChangeAspect="1"/>
          </p:cNvPicPr>
          <p:nvPr/>
        </p:nvPicPr>
        <p:blipFill>
          <a:blip r:embed="rId6"/>
          <a:stretch>
            <a:fillRect/>
          </a:stretch>
        </p:blipFill>
        <p:spPr>
          <a:xfrm>
            <a:off x="10546080" y="6163056"/>
            <a:ext cx="457200" cy="457200"/>
          </a:xfrm>
          <a:prstGeom prst="rect">
            <a:avLst/>
          </a:prstGeom>
        </p:spPr>
      </p:pic>
      <p:sp>
        <p:nvSpPr>
          <p:cNvPr id="21" name="Text 15"/>
          <p:cNvSpPr txBox="1"/>
          <p:nvPr/>
        </p:nvSpPr>
        <p:spPr>
          <a:xfrm>
            <a:off x="11094720" y="6199632"/>
            <a:ext cx="2194560" cy="384048"/>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Smart Fare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marL="0" indent="0">
              <a:buNone/>
            </a:pPr>
            <a:r>
              <a:rPr lang="en-US" b="1" kern="0" spc="200" dirty="0">
                <a:solidFill>
                  <a:srgbClr val="1C7293"/>
                </a:solidFill>
                <a:latin typeface="Calibri" pitchFamily="34" charset="0"/>
                <a:ea typeface="Calibri" pitchFamily="34" charset="-122"/>
                <a:cs typeface="Calibri" pitchFamily="34" charset="-120"/>
              </a:rPr>
              <a:t>THE PROBLEM</a:t>
            </a:r>
            <a:endParaRPr lang="en-US" dirty="0"/>
          </a:p>
        </p:txBody>
      </p:sp>
      <p:sp>
        <p:nvSpPr>
          <p:cNvPr id="3" name="Text 1"/>
          <p:cNvSpPr txBox="1"/>
          <p:nvPr/>
        </p:nvSpPr>
        <p:spPr>
          <a:xfrm>
            <a:off x="548640" y="886968"/>
            <a:ext cx="10789920" cy="640080"/>
          </a:xfrm>
          <a:prstGeom prst="rect">
            <a:avLst/>
          </a:prstGeom>
          <a:noFill/>
          <a:ln/>
        </p:spPr>
        <p:txBody>
          <a:bodyPr wrap="square" lIns="0" tIns="0" rIns="0" bIns="0" rtlCol="0" anchor="ctr"/>
          <a:lstStyle/>
          <a:p>
            <a:pPr marL="0" indent="0">
              <a:buNone/>
            </a:pPr>
            <a:r>
              <a:rPr lang="en-US" sz="3200" b="1" dirty="0">
                <a:solidFill>
                  <a:srgbClr val="021024"/>
                </a:solidFill>
                <a:latin typeface="Cambria" pitchFamily="34" charset="0"/>
                <a:ea typeface="Cambria" pitchFamily="34" charset="-122"/>
                <a:cs typeface="Cambria" pitchFamily="34" charset="-120"/>
              </a:rPr>
              <a:t>Why Conventional Parking Falls Short</a:t>
            </a:r>
            <a:endParaRPr lang="en-US" sz="3200" dirty="0"/>
          </a:p>
        </p:txBody>
      </p:sp>
      <p:sp>
        <p:nvSpPr>
          <p:cNvPr id="4" name="Shape 2"/>
          <p:cNvSpPr/>
          <p:nvPr/>
        </p:nvSpPr>
        <p:spPr>
          <a:xfrm>
            <a:off x="530352" y="2011680"/>
            <a:ext cx="3538728" cy="1481328"/>
          </a:xfrm>
          <a:prstGeom prst="roundRect">
            <a:avLst>
              <a:gd name="adj" fmla="val 4321"/>
            </a:avLst>
          </a:prstGeom>
          <a:solidFill>
            <a:srgbClr val="F3F7F9"/>
          </a:solidFill>
          <a:ln w="12700">
            <a:solidFill>
              <a:srgbClr val="DCE6EA"/>
            </a:solidFill>
            <a:prstDash val="solid"/>
          </a:ln>
        </p:spPr>
      </p:sp>
      <p:pic>
        <p:nvPicPr>
          <p:cNvPr id="5" name="Image 0" descr="/home/claude/parkease/icons/search.png"/>
          <p:cNvPicPr>
            <a:picLocks noChangeAspect="1"/>
          </p:cNvPicPr>
          <p:nvPr/>
        </p:nvPicPr>
        <p:blipFill>
          <a:blip r:embed="rId3"/>
          <a:stretch>
            <a:fillRect/>
          </a:stretch>
        </p:blipFill>
        <p:spPr>
          <a:xfrm>
            <a:off x="731520" y="2194560"/>
            <a:ext cx="457200" cy="457200"/>
          </a:xfrm>
          <a:prstGeom prst="rect">
            <a:avLst/>
          </a:prstGeom>
        </p:spPr>
      </p:pic>
      <p:sp>
        <p:nvSpPr>
          <p:cNvPr id="6" name="Text 3"/>
          <p:cNvSpPr txBox="1"/>
          <p:nvPr/>
        </p:nvSpPr>
        <p:spPr>
          <a:xfrm>
            <a:off x="731520" y="2724912"/>
            <a:ext cx="3136392" cy="310896"/>
          </a:xfrm>
          <a:prstGeom prst="rect">
            <a:avLst/>
          </a:prstGeom>
          <a:noFill/>
          <a:ln/>
        </p:spPr>
        <p:txBody>
          <a:bodyPr wrap="square" lIns="0" tIns="0" rIns="0" bIns="0" rtlCol="0" anchor="ctr"/>
          <a:lstStyle/>
          <a:p>
            <a:pPr marL="0" indent="0">
              <a:buNone/>
            </a:pPr>
            <a:r>
              <a:rPr lang="en-US" sz="1600" b="1" dirty="0">
                <a:solidFill>
                  <a:srgbClr val="13293D"/>
                </a:solidFill>
                <a:latin typeface="Calibri" pitchFamily="34" charset="0"/>
                <a:ea typeface="Calibri" pitchFamily="34" charset="-122"/>
                <a:cs typeface="Calibri" pitchFamily="34" charset="-120"/>
              </a:rPr>
              <a:t>No Real-Time Visibility</a:t>
            </a:r>
            <a:endParaRPr lang="en-US" sz="1600" dirty="0"/>
          </a:p>
        </p:txBody>
      </p:sp>
      <p:sp>
        <p:nvSpPr>
          <p:cNvPr id="7" name="Text 4"/>
          <p:cNvSpPr txBox="1"/>
          <p:nvPr/>
        </p:nvSpPr>
        <p:spPr>
          <a:xfrm>
            <a:off x="731520" y="3017520"/>
            <a:ext cx="3136392" cy="420624"/>
          </a:xfrm>
          <a:prstGeom prst="rect">
            <a:avLst/>
          </a:prstGeom>
          <a:noFill/>
          <a:ln/>
        </p:spPr>
        <p:txBody>
          <a:bodyPr wrap="square" lIns="0" tIns="0" rIns="0" bIns="0" rtlCol="0" anchor="ctr"/>
          <a:lstStyle/>
          <a:p>
            <a:pPr marL="0" indent="0">
              <a:lnSpc>
                <a:spcPct val="105000"/>
              </a:lnSpc>
              <a:buNone/>
            </a:pPr>
            <a:r>
              <a:rPr lang="en-US" sz="1200" dirty="0">
                <a:solidFill>
                  <a:srgbClr val="4B5A66"/>
                </a:solidFill>
                <a:latin typeface="Calibri" pitchFamily="34" charset="0"/>
                <a:ea typeface="Calibri" pitchFamily="34" charset="-122"/>
                <a:cs typeface="Calibri" pitchFamily="34" charset="-120"/>
              </a:rPr>
              <a:t>Drivers waste time searching for a vacant slot with no live availability data.</a:t>
            </a:r>
            <a:endParaRPr lang="en-US" sz="1200" dirty="0"/>
          </a:p>
        </p:txBody>
      </p:sp>
      <p:sp>
        <p:nvSpPr>
          <p:cNvPr id="8" name="Shape 5"/>
          <p:cNvSpPr/>
          <p:nvPr/>
        </p:nvSpPr>
        <p:spPr>
          <a:xfrm>
            <a:off x="4251960" y="2011680"/>
            <a:ext cx="3538728" cy="1481328"/>
          </a:xfrm>
          <a:prstGeom prst="roundRect">
            <a:avLst>
              <a:gd name="adj" fmla="val 4321"/>
            </a:avLst>
          </a:prstGeom>
          <a:solidFill>
            <a:srgbClr val="F3F7F9"/>
          </a:solidFill>
          <a:ln w="12700">
            <a:solidFill>
              <a:srgbClr val="DCE6EA"/>
            </a:solidFill>
            <a:prstDash val="solid"/>
          </a:ln>
        </p:spPr>
      </p:sp>
      <p:pic>
        <p:nvPicPr>
          <p:cNvPr id="9" name="Image 1" descr="/home/claude/parkease/icons/gear.png"/>
          <p:cNvPicPr>
            <a:picLocks noChangeAspect="1"/>
          </p:cNvPicPr>
          <p:nvPr/>
        </p:nvPicPr>
        <p:blipFill>
          <a:blip r:embed="rId4"/>
          <a:stretch>
            <a:fillRect/>
          </a:stretch>
        </p:blipFill>
        <p:spPr>
          <a:xfrm>
            <a:off x="4453128" y="2194560"/>
            <a:ext cx="457200" cy="457200"/>
          </a:xfrm>
          <a:prstGeom prst="rect">
            <a:avLst/>
          </a:prstGeom>
        </p:spPr>
      </p:pic>
      <p:sp>
        <p:nvSpPr>
          <p:cNvPr id="10" name="Text 6"/>
          <p:cNvSpPr txBox="1"/>
          <p:nvPr/>
        </p:nvSpPr>
        <p:spPr>
          <a:xfrm>
            <a:off x="4453128" y="2724912"/>
            <a:ext cx="3136392" cy="310896"/>
          </a:xfrm>
          <a:prstGeom prst="rect">
            <a:avLst/>
          </a:prstGeom>
          <a:noFill/>
          <a:ln/>
        </p:spPr>
        <p:txBody>
          <a:bodyPr wrap="square" lIns="0" tIns="0" rIns="0" bIns="0" rtlCol="0" anchor="ctr"/>
          <a:lstStyle/>
          <a:p>
            <a:pPr marL="0" indent="0">
              <a:buNone/>
            </a:pPr>
            <a:r>
              <a:rPr lang="en-US" sz="1600" b="1" dirty="0">
                <a:solidFill>
                  <a:srgbClr val="13293D"/>
                </a:solidFill>
                <a:latin typeface="Calibri" pitchFamily="34" charset="0"/>
                <a:ea typeface="Calibri" pitchFamily="34" charset="-122"/>
                <a:cs typeface="Calibri" pitchFamily="34" charset="-120"/>
              </a:rPr>
              <a:t>Manual, Error-Prone Management</a:t>
            </a:r>
            <a:endParaRPr lang="en-US" sz="1600" dirty="0"/>
          </a:p>
        </p:txBody>
      </p:sp>
      <p:sp>
        <p:nvSpPr>
          <p:cNvPr id="11" name="Text 7"/>
          <p:cNvSpPr txBox="1"/>
          <p:nvPr/>
        </p:nvSpPr>
        <p:spPr>
          <a:xfrm>
            <a:off x="4453128" y="3017520"/>
            <a:ext cx="3136392" cy="420624"/>
          </a:xfrm>
          <a:prstGeom prst="rect">
            <a:avLst/>
          </a:prstGeom>
          <a:noFill/>
          <a:ln/>
        </p:spPr>
        <p:txBody>
          <a:bodyPr wrap="square" lIns="0" tIns="0" rIns="0" bIns="0" rtlCol="0" anchor="ctr"/>
          <a:lstStyle/>
          <a:p>
            <a:pPr marL="0" indent="0">
              <a:lnSpc>
                <a:spcPct val="105000"/>
              </a:lnSpc>
              <a:buNone/>
            </a:pPr>
            <a:r>
              <a:rPr lang="en-US" sz="1200" dirty="0">
                <a:solidFill>
                  <a:srgbClr val="4B5A66"/>
                </a:solidFill>
                <a:latin typeface="Calibri" pitchFamily="34" charset="0"/>
                <a:ea typeface="Calibri" pitchFamily="34" charset="-122"/>
                <a:cs typeface="Calibri" pitchFamily="34" charset="-120"/>
              </a:rPr>
              <a:t>Manual tracking of slots and vehicles is slow and inconsistent.</a:t>
            </a:r>
            <a:endParaRPr lang="en-US" sz="1200" dirty="0"/>
          </a:p>
        </p:txBody>
      </p:sp>
      <p:sp>
        <p:nvSpPr>
          <p:cNvPr id="12" name="Shape 8"/>
          <p:cNvSpPr/>
          <p:nvPr/>
        </p:nvSpPr>
        <p:spPr>
          <a:xfrm>
            <a:off x="7973568" y="2011680"/>
            <a:ext cx="3538728" cy="1481328"/>
          </a:xfrm>
          <a:prstGeom prst="roundRect">
            <a:avLst>
              <a:gd name="adj" fmla="val 4321"/>
            </a:avLst>
          </a:prstGeom>
          <a:solidFill>
            <a:srgbClr val="F3F7F9"/>
          </a:solidFill>
          <a:ln w="12700">
            <a:solidFill>
              <a:srgbClr val="DCE6EA"/>
            </a:solidFill>
            <a:prstDash val="solid"/>
          </a:ln>
        </p:spPr>
      </p:sp>
      <p:pic>
        <p:nvPicPr>
          <p:cNvPr id="13" name="Image 2" descr="/home/claude/parkease/icons/clock.png"/>
          <p:cNvPicPr>
            <a:picLocks noChangeAspect="1"/>
          </p:cNvPicPr>
          <p:nvPr/>
        </p:nvPicPr>
        <p:blipFill>
          <a:blip r:embed="rId5"/>
          <a:stretch>
            <a:fillRect/>
          </a:stretch>
        </p:blipFill>
        <p:spPr>
          <a:xfrm>
            <a:off x="8174736" y="2194560"/>
            <a:ext cx="457200" cy="457200"/>
          </a:xfrm>
          <a:prstGeom prst="rect">
            <a:avLst/>
          </a:prstGeom>
        </p:spPr>
      </p:pic>
      <p:sp>
        <p:nvSpPr>
          <p:cNvPr id="14" name="Text 9"/>
          <p:cNvSpPr txBox="1"/>
          <p:nvPr/>
        </p:nvSpPr>
        <p:spPr>
          <a:xfrm>
            <a:off x="8174736" y="2724912"/>
            <a:ext cx="3136392" cy="310896"/>
          </a:xfrm>
          <a:prstGeom prst="rect">
            <a:avLst/>
          </a:prstGeom>
          <a:noFill/>
          <a:ln/>
        </p:spPr>
        <p:txBody>
          <a:bodyPr wrap="square" lIns="0" tIns="0" rIns="0" bIns="0" rtlCol="0" anchor="ctr"/>
          <a:lstStyle/>
          <a:p>
            <a:pPr marL="0" indent="0">
              <a:buNone/>
            </a:pPr>
            <a:r>
              <a:rPr lang="en-US" sz="1300" b="1" dirty="0">
                <a:solidFill>
                  <a:srgbClr val="13293D"/>
                </a:solidFill>
                <a:latin typeface="Calibri" pitchFamily="34" charset="0"/>
                <a:ea typeface="Calibri" pitchFamily="34" charset="-122"/>
                <a:cs typeface="Calibri" pitchFamily="34" charset="-120"/>
              </a:rPr>
              <a:t>Demand Varies All Day</a:t>
            </a:r>
            <a:endParaRPr lang="en-US" sz="1300" dirty="0"/>
          </a:p>
        </p:txBody>
      </p:sp>
      <p:sp>
        <p:nvSpPr>
          <p:cNvPr id="15" name="Text 10"/>
          <p:cNvSpPr txBox="1"/>
          <p:nvPr/>
        </p:nvSpPr>
        <p:spPr>
          <a:xfrm>
            <a:off x="8174736" y="3017520"/>
            <a:ext cx="3136392" cy="420624"/>
          </a:xfrm>
          <a:prstGeom prst="rect">
            <a:avLst/>
          </a:prstGeom>
          <a:noFill/>
          <a:ln/>
        </p:spPr>
        <p:txBody>
          <a:bodyPr wrap="square" lIns="0" tIns="0" rIns="0" bIns="0" rtlCol="0" anchor="ctr"/>
          <a:lstStyle/>
          <a:p>
            <a:pPr marL="0" indent="0">
              <a:lnSpc>
                <a:spcPct val="105000"/>
              </a:lnSpc>
              <a:buNone/>
            </a:pPr>
            <a:r>
              <a:rPr lang="en-US" sz="1050" dirty="0">
                <a:solidFill>
                  <a:srgbClr val="4B5A66"/>
                </a:solidFill>
                <a:latin typeface="Calibri" pitchFamily="34" charset="0"/>
                <a:ea typeface="Calibri" pitchFamily="34" charset="-122"/>
                <a:cs typeface="Calibri" pitchFamily="34" charset="-120"/>
              </a:rPr>
              <a:t>Parking demand changes hour to hour, so an always-reserved model is impractical.</a:t>
            </a:r>
            <a:endParaRPr lang="en-US" sz="1050" dirty="0"/>
          </a:p>
        </p:txBody>
      </p:sp>
      <p:sp>
        <p:nvSpPr>
          <p:cNvPr id="16" name="Shape 11"/>
          <p:cNvSpPr/>
          <p:nvPr/>
        </p:nvSpPr>
        <p:spPr>
          <a:xfrm>
            <a:off x="548640" y="3948925"/>
            <a:ext cx="3538728" cy="1481328"/>
          </a:xfrm>
          <a:prstGeom prst="roundRect">
            <a:avLst>
              <a:gd name="adj" fmla="val 4321"/>
            </a:avLst>
          </a:prstGeom>
          <a:solidFill>
            <a:srgbClr val="F3F7F9"/>
          </a:solidFill>
          <a:ln w="12700">
            <a:solidFill>
              <a:srgbClr val="DCE6EA"/>
            </a:solidFill>
            <a:prstDash val="solid"/>
          </a:ln>
        </p:spPr>
      </p:sp>
      <p:pic>
        <p:nvPicPr>
          <p:cNvPr id="17" name="Image 3" descr="/home/claude/parkease/icons/money.png"/>
          <p:cNvPicPr>
            <a:picLocks noChangeAspect="1"/>
          </p:cNvPicPr>
          <p:nvPr/>
        </p:nvPicPr>
        <p:blipFill>
          <a:blip r:embed="rId6"/>
          <a:stretch>
            <a:fillRect/>
          </a:stretch>
        </p:blipFill>
        <p:spPr>
          <a:xfrm>
            <a:off x="749808" y="4131805"/>
            <a:ext cx="457200" cy="457200"/>
          </a:xfrm>
          <a:prstGeom prst="rect">
            <a:avLst/>
          </a:prstGeom>
        </p:spPr>
      </p:pic>
      <p:sp>
        <p:nvSpPr>
          <p:cNvPr id="18" name="Text 12"/>
          <p:cNvSpPr txBox="1"/>
          <p:nvPr/>
        </p:nvSpPr>
        <p:spPr>
          <a:xfrm>
            <a:off x="749808" y="4662157"/>
            <a:ext cx="3136392" cy="310896"/>
          </a:xfrm>
          <a:prstGeom prst="rect">
            <a:avLst/>
          </a:prstGeom>
          <a:noFill/>
          <a:ln/>
        </p:spPr>
        <p:txBody>
          <a:bodyPr wrap="square" lIns="0" tIns="0" rIns="0" bIns="0" rtlCol="0" anchor="ctr"/>
          <a:lstStyle/>
          <a:p>
            <a:pPr marL="0" indent="0">
              <a:buNone/>
            </a:pPr>
            <a:r>
              <a:rPr lang="en-US" sz="1600" b="1" dirty="0">
                <a:solidFill>
                  <a:srgbClr val="13293D"/>
                </a:solidFill>
                <a:latin typeface="Calibri" pitchFamily="34" charset="0"/>
                <a:ea typeface="Calibri" pitchFamily="34" charset="-122"/>
                <a:cs typeface="Calibri" pitchFamily="34" charset="-120"/>
              </a:rPr>
              <a:t>Revenue Loss from Idle Reservations</a:t>
            </a:r>
            <a:endParaRPr lang="en-US" sz="1600" dirty="0"/>
          </a:p>
        </p:txBody>
      </p:sp>
      <p:sp>
        <p:nvSpPr>
          <p:cNvPr id="19" name="Text 13"/>
          <p:cNvSpPr txBox="1"/>
          <p:nvPr/>
        </p:nvSpPr>
        <p:spPr>
          <a:xfrm>
            <a:off x="749808" y="4954765"/>
            <a:ext cx="3136392" cy="420624"/>
          </a:xfrm>
          <a:prstGeom prst="rect">
            <a:avLst/>
          </a:prstGeom>
          <a:noFill/>
          <a:ln/>
        </p:spPr>
        <p:txBody>
          <a:bodyPr wrap="square" lIns="0" tIns="0" rIns="0" bIns="0" rtlCol="0" anchor="ctr"/>
          <a:lstStyle/>
          <a:p>
            <a:pPr marL="0" indent="0">
              <a:lnSpc>
                <a:spcPct val="105000"/>
              </a:lnSpc>
              <a:buNone/>
            </a:pPr>
            <a:r>
              <a:rPr lang="en-US" sz="1200" dirty="0">
                <a:solidFill>
                  <a:srgbClr val="4B5A66"/>
                </a:solidFill>
                <a:latin typeface="Calibri" pitchFamily="34" charset="0"/>
                <a:ea typeface="Calibri" pitchFamily="34" charset="-122"/>
                <a:cs typeface="Calibri" pitchFamily="34" charset="-120"/>
              </a:rPr>
              <a:t>Slots held by reservation but left unused reduce operator revenue.</a:t>
            </a:r>
            <a:endParaRPr lang="en-US" sz="1200" dirty="0"/>
          </a:p>
        </p:txBody>
      </p:sp>
      <p:sp>
        <p:nvSpPr>
          <p:cNvPr id="20" name="Shape 14"/>
          <p:cNvSpPr/>
          <p:nvPr/>
        </p:nvSpPr>
        <p:spPr>
          <a:xfrm>
            <a:off x="4251960" y="3948925"/>
            <a:ext cx="3538728" cy="1481328"/>
          </a:xfrm>
          <a:prstGeom prst="roundRect">
            <a:avLst>
              <a:gd name="adj" fmla="val 4321"/>
            </a:avLst>
          </a:prstGeom>
          <a:solidFill>
            <a:srgbClr val="F3F7F9"/>
          </a:solidFill>
          <a:ln w="12700">
            <a:solidFill>
              <a:srgbClr val="DCE6EA"/>
            </a:solidFill>
            <a:prstDash val="solid"/>
          </a:ln>
        </p:spPr>
      </p:sp>
      <p:pic>
        <p:nvPicPr>
          <p:cNvPr id="21" name="Image 4" descr="/home/claude/parkease/icons/warning.png"/>
          <p:cNvPicPr>
            <a:picLocks noChangeAspect="1"/>
          </p:cNvPicPr>
          <p:nvPr/>
        </p:nvPicPr>
        <p:blipFill>
          <a:blip r:embed="rId7"/>
          <a:stretch>
            <a:fillRect/>
          </a:stretch>
        </p:blipFill>
        <p:spPr>
          <a:xfrm>
            <a:off x="4453128" y="4131805"/>
            <a:ext cx="457200" cy="457200"/>
          </a:xfrm>
          <a:prstGeom prst="rect">
            <a:avLst/>
          </a:prstGeom>
        </p:spPr>
      </p:pic>
      <p:sp>
        <p:nvSpPr>
          <p:cNvPr id="22" name="Text 15"/>
          <p:cNvSpPr txBox="1"/>
          <p:nvPr/>
        </p:nvSpPr>
        <p:spPr>
          <a:xfrm>
            <a:off x="4453128" y="4662157"/>
            <a:ext cx="3136392" cy="310896"/>
          </a:xfrm>
          <a:prstGeom prst="rect">
            <a:avLst/>
          </a:prstGeom>
          <a:noFill/>
          <a:ln/>
        </p:spPr>
        <p:txBody>
          <a:bodyPr wrap="square" lIns="0" tIns="0" rIns="0" bIns="0" rtlCol="0" anchor="ctr"/>
          <a:lstStyle/>
          <a:p>
            <a:pPr marL="0" indent="0">
              <a:buNone/>
            </a:pPr>
            <a:r>
              <a:rPr lang="en-US" sz="1600" b="1" dirty="0">
                <a:solidFill>
                  <a:srgbClr val="13293D"/>
                </a:solidFill>
                <a:latin typeface="Calibri" pitchFamily="34" charset="0"/>
                <a:ea typeface="Calibri" pitchFamily="34" charset="-122"/>
                <a:cs typeface="Calibri" pitchFamily="34" charset="-120"/>
              </a:rPr>
              <a:t>No Overstay / Penalty Tracking</a:t>
            </a:r>
            <a:endParaRPr lang="en-US" sz="1600" dirty="0"/>
          </a:p>
        </p:txBody>
      </p:sp>
      <p:sp>
        <p:nvSpPr>
          <p:cNvPr id="23" name="Text 16"/>
          <p:cNvSpPr txBox="1"/>
          <p:nvPr/>
        </p:nvSpPr>
        <p:spPr>
          <a:xfrm>
            <a:off x="4453128" y="4954765"/>
            <a:ext cx="3136392" cy="420624"/>
          </a:xfrm>
          <a:prstGeom prst="rect">
            <a:avLst/>
          </a:prstGeom>
          <a:noFill/>
          <a:ln/>
        </p:spPr>
        <p:txBody>
          <a:bodyPr wrap="square" lIns="0" tIns="0" rIns="0" bIns="0" rtlCol="0" anchor="ctr"/>
          <a:lstStyle/>
          <a:p>
            <a:pPr marL="0" indent="0">
              <a:lnSpc>
                <a:spcPct val="105000"/>
              </a:lnSpc>
              <a:buNone/>
            </a:pPr>
            <a:r>
              <a:rPr lang="en-US" sz="1200" dirty="0">
                <a:solidFill>
                  <a:srgbClr val="4B5A66"/>
                </a:solidFill>
                <a:latin typeface="Calibri" pitchFamily="34" charset="0"/>
                <a:ea typeface="Calibri" pitchFamily="34" charset="-122"/>
                <a:cs typeface="Calibri" pitchFamily="34" charset="-120"/>
              </a:rPr>
              <a:t>There is no mechanism to monitor overstay or apply violation charges.</a:t>
            </a:r>
            <a:endParaRPr lang="en-US" sz="1200" dirty="0"/>
          </a:p>
        </p:txBody>
      </p:sp>
      <p:sp>
        <p:nvSpPr>
          <p:cNvPr id="24" name="Shape 17"/>
          <p:cNvSpPr/>
          <p:nvPr/>
        </p:nvSpPr>
        <p:spPr>
          <a:xfrm>
            <a:off x="7991856" y="3945636"/>
            <a:ext cx="3538728" cy="1481328"/>
          </a:xfrm>
          <a:prstGeom prst="roundRect">
            <a:avLst>
              <a:gd name="adj" fmla="val 4321"/>
            </a:avLst>
          </a:prstGeom>
          <a:solidFill>
            <a:srgbClr val="F3F7F9"/>
          </a:solidFill>
          <a:ln w="12700">
            <a:solidFill>
              <a:srgbClr val="DCE6EA"/>
            </a:solidFill>
            <a:prstDash val="solid"/>
          </a:ln>
        </p:spPr>
      </p:sp>
      <p:pic>
        <p:nvPicPr>
          <p:cNvPr id="25" name="Image 5" descr="/home/claude/parkease/icons/user-check.png"/>
          <p:cNvPicPr>
            <a:picLocks noChangeAspect="1"/>
          </p:cNvPicPr>
          <p:nvPr/>
        </p:nvPicPr>
        <p:blipFill>
          <a:blip r:embed="rId8"/>
          <a:stretch>
            <a:fillRect/>
          </a:stretch>
        </p:blipFill>
        <p:spPr>
          <a:xfrm>
            <a:off x="8193024" y="4128516"/>
            <a:ext cx="457200" cy="457200"/>
          </a:xfrm>
          <a:prstGeom prst="rect">
            <a:avLst/>
          </a:prstGeom>
        </p:spPr>
      </p:pic>
      <p:sp>
        <p:nvSpPr>
          <p:cNvPr id="26" name="Text 18"/>
          <p:cNvSpPr txBox="1"/>
          <p:nvPr/>
        </p:nvSpPr>
        <p:spPr>
          <a:xfrm>
            <a:off x="8193024" y="4658868"/>
            <a:ext cx="3136392" cy="310896"/>
          </a:xfrm>
          <a:prstGeom prst="rect">
            <a:avLst/>
          </a:prstGeom>
          <a:noFill/>
          <a:ln/>
        </p:spPr>
        <p:txBody>
          <a:bodyPr wrap="square" lIns="0" tIns="0" rIns="0" bIns="0" rtlCol="0" anchor="ctr"/>
          <a:lstStyle/>
          <a:p>
            <a:pPr marL="0" indent="0">
              <a:buNone/>
            </a:pPr>
            <a:r>
              <a:rPr lang="en-US" sz="1300" b="1" dirty="0">
                <a:solidFill>
                  <a:srgbClr val="13293D"/>
                </a:solidFill>
                <a:latin typeface="Calibri" pitchFamily="34" charset="0"/>
                <a:ea typeface="Calibri" pitchFamily="34" charset="-122"/>
                <a:cs typeface="Calibri" pitchFamily="34" charset="-120"/>
              </a:rPr>
              <a:t>Poor User Experience</a:t>
            </a:r>
            <a:endParaRPr lang="en-US" sz="1300" dirty="0"/>
          </a:p>
        </p:txBody>
      </p:sp>
      <p:sp>
        <p:nvSpPr>
          <p:cNvPr id="27" name="Text 19"/>
          <p:cNvSpPr txBox="1"/>
          <p:nvPr/>
        </p:nvSpPr>
        <p:spPr>
          <a:xfrm>
            <a:off x="8193024" y="4951476"/>
            <a:ext cx="3136392" cy="420624"/>
          </a:xfrm>
          <a:prstGeom prst="rect">
            <a:avLst/>
          </a:prstGeom>
          <a:noFill/>
          <a:ln/>
        </p:spPr>
        <p:txBody>
          <a:bodyPr wrap="square" lIns="0" tIns="0" rIns="0" bIns="0" rtlCol="0" anchor="ctr"/>
          <a:lstStyle/>
          <a:p>
            <a:pPr marL="0" indent="0">
              <a:lnSpc>
                <a:spcPct val="105000"/>
              </a:lnSpc>
              <a:buNone/>
            </a:pPr>
            <a:r>
              <a:rPr lang="en-US" sz="1050" dirty="0">
                <a:solidFill>
                  <a:srgbClr val="4B5A66"/>
                </a:solidFill>
                <a:latin typeface="Calibri" pitchFamily="34" charset="0"/>
                <a:ea typeface="Calibri" pitchFamily="34" charset="-122"/>
                <a:cs typeface="Calibri" pitchFamily="34" charset="-120"/>
              </a:rPr>
              <a:t>No simple, unified interface for finding, booking and paying for parking.</a:t>
            </a:r>
            <a:endParaRPr lang="en-US" sz="1050" dirty="0"/>
          </a:p>
        </p:txBody>
      </p:sp>
      <p:sp>
        <p:nvSpPr>
          <p:cNvPr id="28" name="Shape 20"/>
          <p:cNvSpPr/>
          <p:nvPr/>
        </p:nvSpPr>
        <p:spPr>
          <a:xfrm>
            <a:off x="548640" y="5742432"/>
            <a:ext cx="11091672" cy="777240"/>
          </a:xfrm>
          <a:prstGeom prst="roundRect">
            <a:avLst>
              <a:gd name="adj" fmla="val 9412"/>
            </a:avLst>
          </a:prstGeom>
          <a:solidFill>
            <a:srgbClr val="21295C"/>
          </a:solidFill>
          <a:ln/>
        </p:spPr>
      </p:sp>
      <p:pic>
        <p:nvPicPr>
          <p:cNvPr id="29" name="Image 6" descr="/home/claude/parkease/icons/idea.png"/>
          <p:cNvPicPr>
            <a:picLocks noChangeAspect="1"/>
          </p:cNvPicPr>
          <p:nvPr/>
        </p:nvPicPr>
        <p:blipFill>
          <a:blip r:embed="rId9"/>
          <a:stretch>
            <a:fillRect/>
          </a:stretch>
        </p:blipFill>
        <p:spPr>
          <a:xfrm>
            <a:off x="749808" y="5888736"/>
            <a:ext cx="475488" cy="475488"/>
          </a:xfrm>
          <a:prstGeom prst="rect">
            <a:avLst/>
          </a:prstGeom>
        </p:spPr>
      </p:pic>
      <p:sp>
        <p:nvSpPr>
          <p:cNvPr id="30" name="Text 21"/>
          <p:cNvSpPr txBox="1"/>
          <p:nvPr/>
        </p:nvSpPr>
        <p:spPr>
          <a:xfrm>
            <a:off x="1371600" y="5779008"/>
            <a:ext cx="10058400" cy="713232"/>
          </a:xfrm>
          <a:prstGeom prst="rect">
            <a:avLst/>
          </a:prstGeom>
          <a:noFill/>
          <a:ln/>
        </p:spPr>
        <p:txBody>
          <a:bodyPr wrap="square" lIns="0" tIns="0" rIns="0" bIns="0" rtlCol="0" anchor="ctr"/>
          <a:lstStyle/>
          <a:p>
            <a:pPr marL="0" indent="0">
              <a:buNone/>
            </a:pPr>
            <a:r>
              <a:rPr lang="en-US" sz="1200" b="1" dirty="0">
                <a:solidFill>
                  <a:srgbClr val="02C39A"/>
                </a:solidFill>
                <a:latin typeface="Calibri" pitchFamily="34" charset="0"/>
                <a:ea typeface="Calibri" pitchFamily="34" charset="-122"/>
                <a:cs typeface="Calibri" pitchFamily="34" charset="-120"/>
              </a:rPr>
              <a:t>Motivation:  </a:t>
            </a:r>
            <a:r>
              <a:rPr lang="en-US" sz="1200" dirty="0">
                <a:solidFill>
                  <a:srgbClr val="FFFFFF"/>
                </a:solidFill>
                <a:latin typeface="Calibri" pitchFamily="34" charset="0"/>
                <a:ea typeface="Calibri" pitchFamily="34" charset="-122"/>
                <a:cs typeface="Calibri" pitchFamily="34" charset="-120"/>
              </a:rPr>
              <a:t>Park Ease combines peak-hour reservation with off-peak walk-in parking, backed by IoT-based real-time slot monitoring — a practical, hybrid model rather than a rigid, always-reserved system.</a:t>
            </a:r>
            <a:endParaRPr lang="en-US" sz="1200" dirty="0"/>
          </a:p>
        </p:txBody>
      </p:sp>
      <p:sp>
        <p:nvSpPr>
          <p:cNvPr id="31" name="Text 22"/>
          <p:cNvSpPr txBox="1"/>
          <p:nvPr/>
        </p:nvSpPr>
        <p:spPr>
          <a:xfrm>
            <a:off x="11277295" y="6446520"/>
            <a:ext cx="731520" cy="274320"/>
          </a:xfrm>
          <a:prstGeom prst="rect">
            <a:avLst/>
          </a:prstGeom>
          <a:noFill/>
          <a:ln/>
        </p:spPr>
        <p:txBody>
          <a:bodyPr wrap="square" lIns="0" tIns="0" rIns="0" bIns="0" rtlCol="0" anchor="ctr"/>
          <a:lstStyle/>
          <a:p>
            <a:pPr marL="0" indent="0" algn="r">
              <a:buNone/>
            </a:pPr>
            <a:r>
              <a:rPr lang="en-US" sz="1000" dirty="0">
                <a:solidFill>
                  <a:srgbClr val="6E7B85"/>
                </a:solidFill>
                <a:latin typeface="Calibri" pitchFamily="34" charset="0"/>
                <a:ea typeface="Calibri" pitchFamily="34" charset="-122"/>
                <a:cs typeface="Calibri" pitchFamily="34" charset="-120"/>
              </a:rPr>
              <a:t>2 / 8</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159" y="816483"/>
            <a:ext cx="7315200" cy="320040"/>
          </a:xfrm>
          <a:prstGeom prst="rect">
            <a:avLst/>
          </a:prstGeom>
          <a:noFill/>
          <a:ln/>
        </p:spPr>
        <p:txBody>
          <a:bodyPr wrap="square" lIns="0" tIns="0" rIns="0" bIns="0"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OUR APPROACH</a:t>
            </a:r>
            <a:endParaRPr lang="en-US" sz="1300" dirty="0"/>
          </a:p>
        </p:txBody>
      </p:sp>
      <p:sp>
        <p:nvSpPr>
          <p:cNvPr id="3" name="Text 1"/>
          <p:cNvSpPr txBox="1"/>
          <p:nvPr/>
        </p:nvSpPr>
        <p:spPr>
          <a:xfrm>
            <a:off x="548640" y="658368"/>
            <a:ext cx="4721192" cy="2091810"/>
          </a:xfrm>
          <a:prstGeom prst="rect">
            <a:avLst/>
          </a:prstGeom>
          <a:noFill/>
          <a:ln/>
        </p:spPr>
        <p:txBody>
          <a:bodyPr wrap="square" lIns="0" tIns="0" rIns="0" bIns="0" rtlCol="0" anchor="ctr"/>
          <a:lstStyle/>
          <a:p>
            <a:pPr marL="0" indent="0">
              <a:buNone/>
            </a:pPr>
            <a:r>
              <a:rPr lang="en-US" sz="3200" b="1" dirty="0">
                <a:solidFill>
                  <a:srgbClr val="021024"/>
                </a:solidFill>
                <a:latin typeface="Cambria" pitchFamily="34" charset="0"/>
                <a:ea typeface="Cambria" pitchFamily="34" charset="-122"/>
                <a:cs typeface="Cambria" pitchFamily="34" charset="-120"/>
              </a:rPr>
              <a:t>Objectives &amp; Proposed Solution</a:t>
            </a:r>
            <a:endParaRPr lang="en-US" sz="3200" dirty="0"/>
          </a:p>
        </p:txBody>
      </p:sp>
      <p:sp>
        <p:nvSpPr>
          <p:cNvPr id="4" name="Text 2"/>
          <p:cNvSpPr txBox="1"/>
          <p:nvPr/>
        </p:nvSpPr>
        <p:spPr>
          <a:xfrm>
            <a:off x="579120" y="2163759"/>
            <a:ext cx="4572000" cy="758951"/>
          </a:xfrm>
          <a:prstGeom prst="rect">
            <a:avLst/>
          </a:prstGeom>
          <a:noFill/>
          <a:ln/>
        </p:spPr>
        <p:txBody>
          <a:bodyPr wrap="square" lIns="0" tIns="0" rIns="0" bIns="0" rtlCol="0" anchor="ctr"/>
          <a:lstStyle/>
          <a:p>
            <a:pPr marL="0" indent="0">
              <a:buNone/>
            </a:pPr>
            <a:r>
              <a:rPr lang="en-US" sz="2400" b="1" dirty="0">
                <a:solidFill>
                  <a:srgbClr val="21295C"/>
                </a:solidFill>
                <a:latin typeface="Calibri" pitchFamily="34" charset="0"/>
                <a:ea typeface="Calibri" pitchFamily="34" charset="-122"/>
                <a:cs typeface="Calibri" pitchFamily="34" charset="-120"/>
              </a:rPr>
              <a:t>OBJECTIVES</a:t>
            </a:r>
            <a:endParaRPr lang="en-US" sz="2400" dirty="0"/>
          </a:p>
        </p:txBody>
      </p:sp>
      <p:pic>
        <p:nvPicPr>
          <p:cNvPr id="5" name="Image 0" descr="/home/claude/parkease/icons/check.png"/>
          <p:cNvPicPr>
            <a:picLocks noChangeAspect="1"/>
          </p:cNvPicPr>
          <p:nvPr/>
        </p:nvPicPr>
        <p:blipFill>
          <a:blip r:embed="rId3"/>
          <a:stretch>
            <a:fillRect/>
          </a:stretch>
        </p:blipFill>
        <p:spPr>
          <a:xfrm>
            <a:off x="554576" y="3057705"/>
            <a:ext cx="201168" cy="201168"/>
          </a:xfrm>
          <a:prstGeom prst="rect">
            <a:avLst/>
          </a:prstGeom>
        </p:spPr>
      </p:pic>
      <p:sp>
        <p:nvSpPr>
          <p:cNvPr id="6" name="Text 3"/>
          <p:cNvSpPr txBox="1"/>
          <p:nvPr/>
        </p:nvSpPr>
        <p:spPr>
          <a:xfrm>
            <a:off x="840767" y="3000234"/>
            <a:ext cx="2103120" cy="384048"/>
          </a:xfrm>
          <a:prstGeom prst="rect">
            <a:avLst/>
          </a:prstGeom>
          <a:noFill/>
          <a:ln/>
        </p:spPr>
        <p:txBody>
          <a:bodyPr wrap="square" lIns="0" tIns="0" rIns="0" bIns="0" rtlCol="0" anchor="ctr"/>
          <a:lstStyle/>
          <a:p>
            <a:pPr marL="0" indent="0">
              <a:buNone/>
            </a:pPr>
            <a:r>
              <a:rPr lang="en-US" sz="1400" dirty="0">
                <a:solidFill>
                  <a:srgbClr val="13293D"/>
                </a:solidFill>
                <a:latin typeface="Calibri" pitchFamily="34" charset="0"/>
                <a:ea typeface="Calibri" pitchFamily="34" charset="-122"/>
                <a:cs typeface="Calibri" pitchFamily="34" charset="-120"/>
              </a:rPr>
              <a:t>Real-time parking slot availability</a:t>
            </a:r>
            <a:endParaRPr lang="en-US" sz="1400" dirty="0"/>
          </a:p>
        </p:txBody>
      </p:sp>
      <p:pic>
        <p:nvPicPr>
          <p:cNvPr id="7" name="Image 1" descr="/home/claude/parkease/icons/check.png"/>
          <p:cNvPicPr>
            <a:picLocks noChangeAspect="1"/>
          </p:cNvPicPr>
          <p:nvPr/>
        </p:nvPicPr>
        <p:blipFill>
          <a:blip r:embed="rId3"/>
          <a:stretch>
            <a:fillRect/>
          </a:stretch>
        </p:blipFill>
        <p:spPr>
          <a:xfrm>
            <a:off x="548159" y="3739896"/>
            <a:ext cx="201168" cy="201168"/>
          </a:xfrm>
          <a:prstGeom prst="rect">
            <a:avLst/>
          </a:prstGeom>
        </p:spPr>
      </p:pic>
      <p:sp>
        <p:nvSpPr>
          <p:cNvPr id="8" name="Text 4"/>
          <p:cNvSpPr txBox="1"/>
          <p:nvPr/>
        </p:nvSpPr>
        <p:spPr>
          <a:xfrm>
            <a:off x="840767" y="3657760"/>
            <a:ext cx="2103120" cy="384048"/>
          </a:xfrm>
          <a:prstGeom prst="rect">
            <a:avLst/>
          </a:prstGeom>
          <a:noFill/>
          <a:ln/>
        </p:spPr>
        <p:txBody>
          <a:bodyPr wrap="square" lIns="0" tIns="0" rIns="0" bIns="0" rtlCol="0" anchor="ctr"/>
          <a:lstStyle/>
          <a:p>
            <a:pPr marL="0" indent="0">
              <a:buNone/>
            </a:pPr>
            <a:r>
              <a:rPr lang="en-US" sz="1400" dirty="0">
                <a:solidFill>
                  <a:srgbClr val="13293D"/>
                </a:solidFill>
                <a:latin typeface="Calibri" pitchFamily="34" charset="0"/>
                <a:ea typeface="Calibri" pitchFamily="34" charset="-122"/>
                <a:cs typeface="Calibri" pitchFamily="34" charset="-120"/>
              </a:rPr>
              <a:t>Reduce time spent searching for parking</a:t>
            </a:r>
            <a:endParaRPr lang="en-US" sz="1400" dirty="0"/>
          </a:p>
        </p:txBody>
      </p:sp>
      <p:pic>
        <p:nvPicPr>
          <p:cNvPr id="9" name="Image 2" descr="/home/claude/parkease/icons/check.png"/>
          <p:cNvPicPr>
            <a:picLocks noChangeAspect="1"/>
          </p:cNvPicPr>
          <p:nvPr/>
        </p:nvPicPr>
        <p:blipFill>
          <a:blip r:embed="rId3"/>
          <a:stretch>
            <a:fillRect/>
          </a:stretch>
        </p:blipFill>
        <p:spPr>
          <a:xfrm>
            <a:off x="548640" y="4361688"/>
            <a:ext cx="201168" cy="201168"/>
          </a:xfrm>
          <a:prstGeom prst="rect">
            <a:avLst/>
          </a:prstGeom>
        </p:spPr>
      </p:pic>
      <p:sp>
        <p:nvSpPr>
          <p:cNvPr id="10" name="Text 5"/>
          <p:cNvSpPr txBox="1"/>
          <p:nvPr/>
        </p:nvSpPr>
        <p:spPr>
          <a:xfrm>
            <a:off x="841248" y="4265917"/>
            <a:ext cx="2103120" cy="384048"/>
          </a:xfrm>
          <a:prstGeom prst="rect">
            <a:avLst/>
          </a:prstGeom>
          <a:noFill/>
          <a:ln/>
        </p:spPr>
        <p:txBody>
          <a:bodyPr wrap="square" lIns="0" tIns="0" rIns="0" bIns="0" rtlCol="0" anchor="ctr"/>
          <a:lstStyle/>
          <a:p>
            <a:pPr marL="0" indent="0">
              <a:buNone/>
            </a:pPr>
            <a:r>
              <a:rPr lang="en-US" sz="1400" dirty="0">
                <a:solidFill>
                  <a:srgbClr val="13293D"/>
                </a:solidFill>
                <a:latin typeface="Calibri" pitchFamily="34" charset="0"/>
                <a:ea typeface="Calibri" pitchFamily="34" charset="-122"/>
                <a:cs typeface="Calibri" pitchFamily="34" charset="-120"/>
              </a:rPr>
              <a:t>Peak-hour reservation, off-peak walk-in</a:t>
            </a:r>
            <a:endParaRPr lang="en-US" sz="1400" dirty="0"/>
          </a:p>
        </p:txBody>
      </p:sp>
      <p:pic>
        <p:nvPicPr>
          <p:cNvPr id="11" name="Image 3" descr="/home/claude/parkease/icons/check.png"/>
          <p:cNvPicPr>
            <a:picLocks noChangeAspect="1"/>
          </p:cNvPicPr>
          <p:nvPr/>
        </p:nvPicPr>
        <p:blipFill>
          <a:blip r:embed="rId3"/>
          <a:stretch>
            <a:fillRect/>
          </a:stretch>
        </p:blipFill>
        <p:spPr>
          <a:xfrm>
            <a:off x="554576" y="5031205"/>
            <a:ext cx="201168" cy="201168"/>
          </a:xfrm>
          <a:prstGeom prst="rect">
            <a:avLst/>
          </a:prstGeom>
        </p:spPr>
      </p:pic>
      <p:sp>
        <p:nvSpPr>
          <p:cNvPr id="12" name="Text 6"/>
          <p:cNvSpPr txBox="1"/>
          <p:nvPr/>
        </p:nvSpPr>
        <p:spPr>
          <a:xfrm>
            <a:off x="862584" y="4981555"/>
            <a:ext cx="2103120" cy="384048"/>
          </a:xfrm>
          <a:prstGeom prst="rect">
            <a:avLst/>
          </a:prstGeom>
          <a:noFill/>
          <a:ln/>
        </p:spPr>
        <p:txBody>
          <a:bodyPr wrap="square" lIns="0" tIns="0" rIns="0" bIns="0" rtlCol="0" anchor="ctr"/>
          <a:lstStyle/>
          <a:p>
            <a:pPr marL="0" indent="0">
              <a:buNone/>
            </a:pPr>
            <a:r>
              <a:rPr lang="en-US" sz="1400" dirty="0">
                <a:solidFill>
                  <a:srgbClr val="13293D"/>
                </a:solidFill>
                <a:latin typeface="Calibri" pitchFamily="34" charset="0"/>
                <a:ea typeface="Calibri" pitchFamily="34" charset="-122"/>
                <a:cs typeface="Calibri" pitchFamily="34" charset="-120"/>
              </a:rPr>
              <a:t>IoT-based vehicle presence detection</a:t>
            </a:r>
            <a:endParaRPr lang="en-US" sz="1400" dirty="0"/>
          </a:p>
        </p:txBody>
      </p:sp>
      <p:pic>
        <p:nvPicPr>
          <p:cNvPr id="13" name="Image 4" descr="/home/claude/parkease/icons/check.png"/>
          <p:cNvPicPr>
            <a:picLocks noChangeAspect="1"/>
          </p:cNvPicPr>
          <p:nvPr/>
        </p:nvPicPr>
        <p:blipFill>
          <a:blip r:embed="rId3"/>
          <a:stretch>
            <a:fillRect/>
          </a:stretch>
        </p:blipFill>
        <p:spPr>
          <a:xfrm>
            <a:off x="3012307" y="3057705"/>
            <a:ext cx="201168" cy="201168"/>
          </a:xfrm>
          <a:prstGeom prst="rect">
            <a:avLst/>
          </a:prstGeom>
        </p:spPr>
      </p:pic>
      <p:sp>
        <p:nvSpPr>
          <p:cNvPr id="14" name="Text 7"/>
          <p:cNvSpPr txBox="1"/>
          <p:nvPr/>
        </p:nvSpPr>
        <p:spPr>
          <a:xfrm>
            <a:off x="3264408" y="3009499"/>
            <a:ext cx="2103120" cy="384048"/>
          </a:xfrm>
          <a:prstGeom prst="rect">
            <a:avLst/>
          </a:prstGeom>
          <a:noFill/>
          <a:ln/>
        </p:spPr>
        <p:txBody>
          <a:bodyPr wrap="square" lIns="0" tIns="0" rIns="0" bIns="0" rtlCol="0" anchor="ctr"/>
          <a:lstStyle/>
          <a:p>
            <a:pPr marL="0" indent="0">
              <a:buNone/>
            </a:pPr>
            <a:r>
              <a:rPr lang="en-US" sz="1400" dirty="0">
                <a:solidFill>
                  <a:srgbClr val="13293D"/>
                </a:solidFill>
                <a:latin typeface="Calibri" pitchFamily="34" charset="0"/>
                <a:ea typeface="Calibri" pitchFamily="34" charset="-122"/>
                <a:cs typeface="Calibri" pitchFamily="34" charset="-120"/>
              </a:rPr>
              <a:t>QR-based parking acknowledgement</a:t>
            </a:r>
            <a:endParaRPr lang="en-US" sz="1400" dirty="0"/>
          </a:p>
        </p:txBody>
      </p:sp>
      <p:pic>
        <p:nvPicPr>
          <p:cNvPr id="15" name="Image 5" descr="/home/claude/parkease/icons/check.png"/>
          <p:cNvPicPr>
            <a:picLocks noChangeAspect="1"/>
          </p:cNvPicPr>
          <p:nvPr/>
        </p:nvPicPr>
        <p:blipFill>
          <a:blip r:embed="rId3"/>
          <a:stretch>
            <a:fillRect/>
          </a:stretch>
        </p:blipFill>
        <p:spPr>
          <a:xfrm>
            <a:off x="3012307" y="3757943"/>
            <a:ext cx="201168" cy="201168"/>
          </a:xfrm>
          <a:prstGeom prst="rect">
            <a:avLst/>
          </a:prstGeom>
        </p:spPr>
      </p:pic>
      <p:sp>
        <p:nvSpPr>
          <p:cNvPr id="16" name="Text 8"/>
          <p:cNvSpPr txBox="1"/>
          <p:nvPr/>
        </p:nvSpPr>
        <p:spPr>
          <a:xfrm>
            <a:off x="3264408" y="3703320"/>
            <a:ext cx="2103120" cy="384048"/>
          </a:xfrm>
          <a:prstGeom prst="rect">
            <a:avLst/>
          </a:prstGeom>
          <a:noFill/>
          <a:ln/>
        </p:spPr>
        <p:txBody>
          <a:bodyPr wrap="square" lIns="0" tIns="0" rIns="0" bIns="0" rtlCol="0" anchor="ctr"/>
          <a:lstStyle/>
          <a:p>
            <a:pPr marL="0" indent="0">
              <a:buNone/>
            </a:pPr>
            <a:r>
              <a:rPr lang="en-US" sz="1400" dirty="0">
                <a:solidFill>
                  <a:srgbClr val="13293D"/>
                </a:solidFill>
                <a:latin typeface="Calibri" pitchFamily="34" charset="0"/>
                <a:ea typeface="Calibri" pitchFamily="34" charset="-122"/>
                <a:cs typeface="Calibri" pitchFamily="34" charset="-120"/>
              </a:rPr>
              <a:t>Automatic duration &amp; fare calculation</a:t>
            </a:r>
            <a:endParaRPr lang="en-US" sz="1400" dirty="0"/>
          </a:p>
        </p:txBody>
      </p:sp>
      <p:pic>
        <p:nvPicPr>
          <p:cNvPr id="17" name="Image 6" descr="/home/claude/parkease/icons/check.png"/>
          <p:cNvPicPr>
            <a:picLocks noChangeAspect="1"/>
          </p:cNvPicPr>
          <p:nvPr/>
        </p:nvPicPr>
        <p:blipFill>
          <a:blip r:embed="rId3"/>
          <a:stretch>
            <a:fillRect/>
          </a:stretch>
        </p:blipFill>
        <p:spPr>
          <a:xfrm>
            <a:off x="2995944" y="4357036"/>
            <a:ext cx="201168" cy="201168"/>
          </a:xfrm>
          <a:prstGeom prst="rect">
            <a:avLst/>
          </a:prstGeom>
        </p:spPr>
      </p:pic>
      <p:sp>
        <p:nvSpPr>
          <p:cNvPr id="18" name="Text 9"/>
          <p:cNvSpPr txBox="1"/>
          <p:nvPr/>
        </p:nvSpPr>
        <p:spPr>
          <a:xfrm>
            <a:off x="3251575" y="4302252"/>
            <a:ext cx="2103120" cy="384048"/>
          </a:xfrm>
          <a:prstGeom prst="rect">
            <a:avLst/>
          </a:prstGeom>
          <a:noFill/>
          <a:ln/>
        </p:spPr>
        <p:txBody>
          <a:bodyPr wrap="square" lIns="0" tIns="0" rIns="0" bIns="0" rtlCol="0" anchor="ctr"/>
          <a:lstStyle/>
          <a:p>
            <a:pPr marL="0" indent="0">
              <a:buNone/>
            </a:pPr>
            <a:r>
              <a:rPr lang="en-US" sz="1400" dirty="0">
                <a:solidFill>
                  <a:srgbClr val="13293D"/>
                </a:solidFill>
                <a:latin typeface="Calibri" pitchFamily="34" charset="0"/>
                <a:ea typeface="Calibri" pitchFamily="34" charset="-122"/>
                <a:cs typeface="Calibri" pitchFamily="34" charset="-120"/>
              </a:rPr>
              <a:t>Penalty handling for overstay/violation</a:t>
            </a:r>
            <a:endParaRPr lang="en-US" sz="1400" dirty="0"/>
          </a:p>
        </p:txBody>
      </p:sp>
      <p:pic>
        <p:nvPicPr>
          <p:cNvPr id="19" name="Image 7" descr="/home/claude/parkease/icons/check.png"/>
          <p:cNvPicPr>
            <a:picLocks noChangeAspect="1"/>
          </p:cNvPicPr>
          <p:nvPr/>
        </p:nvPicPr>
        <p:blipFill>
          <a:blip r:embed="rId3"/>
          <a:stretch>
            <a:fillRect/>
          </a:stretch>
        </p:blipFill>
        <p:spPr>
          <a:xfrm>
            <a:off x="2979741" y="4993827"/>
            <a:ext cx="201168" cy="201168"/>
          </a:xfrm>
          <a:prstGeom prst="rect">
            <a:avLst/>
          </a:prstGeom>
        </p:spPr>
      </p:pic>
      <p:sp>
        <p:nvSpPr>
          <p:cNvPr id="20" name="Text 10"/>
          <p:cNvSpPr txBox="1"/>
          <p:nvPr/>
        </p:nvSpPr>
        <p:spPr>
          <a:xfrm>
            <a:off x="3251575" y="4993827"/>
            <a:ext cx="2103120" cy="384048"/>
          </a:xfrm>
          <a:prstGeom prst="rect">
            <a:avLst/>
          </a:prstGeom>
          <a:noFill/>
          <a:ln/>
        </p:spPr>
        <p:txBody>
          <a:bodyPr wrap="square" lIns="0" tIns="0" rIns="0" bIns="0" rtlCol="0" anchor="ctr"/>
          <a:lstStyle/>
          <a:p>
            <a:pPr marL="0" indent="0">
              <a:buNone/>
            </a:pPr>
            <a:r>
              <a:rPr lang="en-US" sz="1400" dirty="0">
                <a:solidFill>
                  <a:srgbClr val="13293D"/>
                </a:solidFill>
                <a:latin typeface="Calibri" pitchFamily="34" charset="0"/>
                <a:ea typeface="Calibri" pitchFamily="34" charset="-122"/>
                <a:cs typeface="Calibri" pitchFamily="34" charset="-120"/>
              </a:rPr>
              <a:t>Centralized admin monitoring</a:t>
            </a:r>
            <a:endParaRPr lang="en-US" sz="1400" dirty="0"/>
          </a:p>
        </p:txBody>
      </p:sp>
      <p:sp>
        <p:nvSpPr>
          <p:cNvPr id="21" name="Shape 11"/>
          <p:cNvSpPr/>
          <p:nvPr/>
        </p:nvSpPr>
        <p:spPr>
          <a:xfrm>
            <a:off x="5461535" y="1417320"/>
            <a:ext cx="0" cy="4709160"/>
          </a:xfrm>
          <a:prstGeom prst="line">
            <a:avLst/>
          </a:prstGeom>
          <a:noFill/>
          <a:ln w="12700">
            <a:solidFill>
              <a:srgbClr val="DCE6EA"/>
            </a:solidFill>
            <a:prstDash val="solid"/>
          </a:ln>
        </p:spPr>
      </p:sp>
      <p:sp>
        <p:nvSpPr>
          <p:cNvPr id="22" name="Text 12"/>
          <p:cNvSpPr txBox="1"/>
          <p:nvPr/>
        </p:nvSpPr>
        <p:spPr>
          <a:xfrm>
            <a:off x="5623560" y="1417320"/>
            <a:ext cx="5943600" cy="320040"/>
          </a:xfrm>
          <a:prstGeom prst="rect">
            <a:avLst/>
          </a:prstGeom>
          <a:noFill/>
          <a:ln/>
        </p:spPr>
        <p:txBody>
          <a:bodyPr wrap="square" lIns="0" tIns="0" rIns="0" bIns="0" rtlCol="0" anchor="ctr"/>
          <a:lstStyle/>
          <a:p>
            <a:pPr marL="0" indent="0">
              <a:buNone/>
            </a:pPr>
            <a:r>
              <a:rPr lang="en-US" sz="2400" b="1" dirty="0">
                <a:solidFill>
                  <a:srgbClr val="21295C"/>
                </a:solidFill>
                <a:latin typeface="Calibri" pitchFamily="34" charset="0"/>
                <a:ea typeface="Calibri" pitchFamily="34" charset="-122"/>
                <a:cs typeface="Calibri" pitchFamily="34" charset="-120"/>
              </a:rPr>
              <a:t>PROPOSED</a:t>
            </a:r>
            <a:r>
              <a:rPr lang="en-US" sz="1400" b="1" dirty="0">
                <a:solidFill>
                  <a:srgbClr val="21295C"/>
                </a:solidFill>
                <a:latin typeface="Calibri" pitchFamily="34" charset="0"/>
                <a:ea typeface="Calibri" pitchFamily="34" charset="-122"/>
                <a:cs typeface="Calibri" pitchFamily="34" charset="-120"/>
              </a:rPr>
              <a:t> </a:t>
            </a:r>
            <a:r>
              <a:rPr lang="en-US" sz="2400" b="1" dirty="0">
                <a:solidFill>
                  <a:srgbClr val="21295C"/>
                </a:solidFill>
                <a:latin typeface="Calibri" pitchFamily="34" charset="0"/>
                <a:ea typeface="Calibri" pitchFamily="34" charset="-122"/>
                <a:cs typeface="Calibri" pitchFamily="34" charset="-120"/>
              </a:rPr>
              <a:t>SOLUTION — HYBRID MODEL</a:t>
            </a:r>
            <a:endParaRPr lang="en-US" sz="1400" dirty="0"/>
          </a:p>
        </p:txBody>
      </p:sp>
      <p:sp>
        <p:nvSpPr>
          <p:cNvPr id="23" name="Shape 13"/>
          <p:cNvSpPr/>
          <p:nvPr/>
        </p:nvSpPr>
        <p:spPr>
          <a:xfrm>
            <a:off x="5623560" y="1828800"/>
            <a:ext cx="5989320" cy="1783080"/>
          </a:xfrm>
          <a:prstGeom prst="roundRect">
            <a:avLst>
              <a:gd name="adj" fmla="val 4103"/>
            </a:avLst>
          </a:prstGeom>
          <a:solidFill>
            <a:srgbClr val="F3F7F9"/>
          </a:solidFill>
          <a:ln w="12700">
            <a:solidFill>
              <a:srgbClr val="DCE6EA"/>
            </a:solidFill>
            <a:prstDash val="solid"/>
          </a:ln>
        </p:spPr>
      </p:sp>
      <p:sp>
        <p:nvSpPr>
          <p:cNvPr id="24" name="Shape 14"/>
          <p:cNvSpPr/>
          <p:nvPr/>
        </p:nvSpPr>
        <p:spPr>
          <a:xfrm>
            <a:off x="5623560" y="1828800"/>
            <a:ext cx="1417320" cy="1783080"/>
          </a:xfrm>
          <a:prstGeom prst="roundRect">
            <a:avLst>
              <a:gd name="adj" fmla="val 5161"/>
            </a:avLst>
          </a:prstGeom>
          <a:solidFill>
            <a:srgbClr val="065A82"/>
          </a:solidFill>
          <a:ln/>
        </p:spPr>
      </p:sp>
      <p:pic>
        <p:nvPicPr>
          <p:cNvPr id="25" name="Image 8" descr="/home/claude/parkease/icons/clock.png"/>
          <p:cNvPicPr>
            <a:picLocks noChangeAspect="1"/>
          </p:cNvPicPr>
          <p:nvPr/>
        </p:nvPicPr>
        <p:blipFill>
          <a:blip r:embed="rId4"/>
          <a:stretch>
            <a:fillRect/>
          </a:stretch>
        </p:blipFill>
        <p:spPr>
          <a:xfrm>
            <a:off x="5989320" y="2084832"/>
            <a:ext cx="685800" cy="685800"/>
          </a:xfrm>
          <a:prstGeom prst="rect">
            <a:avLst/>
          </a:prstGeom>
        </p:spPr>
      </p:pic>
      <p:sp>
        <p:nvSpPr>
          <p:cNvPr id="26" name="Text 15"/>
          <p:cNvSpPr txBox="1"/>
          <p:nvPr/>
        </p:nvSpPr>
        <p:spPr>
          <a:xfrm>
            <a:off x="5669280" y="2834640"/>
            <a:ext cx="1325880" cy="68580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PEAK</a:t>
            </a:r>
            <a:endParaRPr lang="en-US" sz="1250" dirty="0"/>
          </a:p>
          <a:p>
            <a:pPr marL="0" indent="0" algn="ctr">
              <a:buNone/>
            </a:pPr>
            <a:r>
              <a:rPr lang="en-US" sz="1250" b="1" dirty="0">
                <a:solidFill>
                  <a:srgbClr val="FFFFFF"/>
                </a:solidFill>
                <a:latin typeface="Calibri" pitchFamily="34" charset="0"/>
                <a:ea typeface="Calibri" pitchFamily="34" charset="-122"/>
                <a:cs typeface="Calibri" pitchFamily="34" charset="-120"/>
              </a:rPr>
              <a:t>HOURS</a:t>
            </a:r>
            <a:endParaRPr lang="en-US" sz="1250" dirty="0"/>
          </a:p>
        </p:txBody>
      </p:sp>
      <p:sp>
        <p:nvSpPr>
          <p:cNvPr id="27" name="Text 16"/>
          <p:cNvSpPr txBox="1"/>
          <p:nvPr/>
        </p:nvSpPr>
        <p:spPr>
          <a:xfrm>
            <a:off x="7269480" y="1975104"/>
            <a:ext cx="274320" cy="274320"/>
          </a:xfrm>
          <a:prstGeom prst="ellipse">
            <a:avLst/>
          </a:prstGeom>
          <a:solidFill>
            <a:srgbClr val="065A82"/>
          </a:solid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28" name="Text 17"/>
          <p:cNvSpPr txBox="1"/>
          <p:nvPr/>
        </p:nvSpPr>
        <p:spPr>
          <a:xfrm>
            <a:off x="7635240" y="1929384"/>
            <a:ext cx="3794760" cy="365760"/>
          </a:xfrm>
          <a:prstGeom prst="rect">
            <a:avLst/>
          </a:prstGeom>
          <a:noFill/>
          <a:ln/>
        </p:spPr>
        <p:txBody>
          <a:bodyPr wrap="square" lIns="0" tIns="0" rIns="0" bIns="0" rtlCol="0" anchor="ctr"/>
          <a:lstStyle/>
          <a:p>
            <a:pPr marL="0" indent="0">
              <a:buNone/>
            </a:pPr>
            <a:r>
              <a:rPr lang="en-US" sz="1030" dirty="0">
                <a:solidFill>
                  <a:srgbClr val="13293D"/>
                </a:solidFill>
                <a:latin typeface="Calibri" pitchFamily="34" charset="0"/>
                <a:ea typeface="Calibri" pitchFamily="34" charset="-122"/>
                <a:cs typeface="Calibri" pitchFamily="34" charset="-120"/>
              </a:rPr>
              <a:t>Select slot &amp; enter vehicle details</a:t>
            </a:r>
            <a:endParaRPr lang="en-US" sz="1030" dirty="0"/>
          </a:p>
        </p:txBody>
      </p:sp>
      <p:sp>
        <p:nvSpPr>
          <p:cNvPr id="29" name="Text 18"/>
          <p:cNvSpPr txBox="1"/>
          <p:nvPr/>
        </p:nvSpPr>
        <p:spPr>
          <a:xfrm>
            <a:off x="7269480" y="2359152"/>
            <a:ext cx="274320" cy="274320"/>
          </a:xfrm>
          <a:prstGeom prst="ellipse">
            <a:avLst/>
          </a:prstGeom>
          <a:solidFill>
            <a:srgbClr val="065A82"/>
          </a:solid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30" name="Text 19"/>
          <p:cNvSpPr txBox="1"/>
          <p:nvPr/>
        </p:nvSpPr>
        <p:spPr>
          <a:xfrm>
            <a:off x="7635240" y="2313432"/>
            <a:ext cx="3794760" cy="365760"/>
          </a:xfrm>
          <a:prstGeom prst="rect">
            <a:avLst/>
          </a:prstGeom>
          <a:noFill/>
          <a:ln/>
        </p:spPr>
        <p:txBody>
          <a:bodyPr wrap="square" lIns="0" tIns="0" rIns="0" bIns="0" rtlCol="0" anchor="ctr"/>
          <a:lstStyle/>
          <a:p>
            <a:pPr marL="0" indent="0">
              <a:buNone/>
            </a:pPr>
            <a:r>
              <a:rPr lang="en-US" sz="1030" dirty="0">
                <a:solidFill>
                  <a:srgbClr val="13293D"/>
                </a:solidFill>
                <a:latin typeface="Calibri" pitchFamily="34" charset="0"/>
                <a:ea typeface="Calibri" pitchFamily="34" charset="-122"/>
                <a:cs typeface="Calibri" pitchFamily="34" charset="-120"/>
              </a:rPr>
              <a:t>Pay ₹50 reservation deposit</a:t>
            </a:r>
            <a:endParaRPr lang="en-US" sz="1030" dirty="0"/>
          </a:p>
        </p:txBody>
      </p:sp>
      <p:sp>
        <p:nvSpPr>
          <p:cNvPr id="31" name="Text 20"/>
          <p:cNvSpPr txBox="1"/>
          <p:nvPr/>
        </p:nvSpPr>
        <p:spPr>
          <a:xfrm>
            <a:off x="7269480" y="2743200"/>
            <a:ext cx="274320" cy="274320"/>
          </a:xfrm>
          <a:prstGeom prst="ellipse">
            <a:avLst/>
          </a:prstGeom>
          <a:solidFill>
            <a:srgbClr val="065A82"/>
          </a:solid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32" name="Text 21"/>
          <p:cNvSpPr txBox="1"/>
          <p:nvPr/>
        </p:nvSpPr>
        <p:spPr>
          <a:xfrm>
            <a:off x="7635240" y="2697480"/>
            <a:ext cx="3794760" cy="365760"/>
          </a:xfrm>
          <a:prstGeom prst="rect">
            <a:avLst/>
          </a:prstGeom>
          <a:noFill/>
          <a:ln/>
        </p:spPr>
        <p:txBody>
          <a:bodyPr wrap="square" lIns="0" tIns="0" rIns="0" bIns="0" rtlCol="0" anchor="ctr"/>
          <a:lstStyle/>
          <a:p>
            <a:pPr marL="0" indent="0">
              <a:buNone/>
            </a:pPr>
            <a:r>
              <a:rPr lang="en-US" sz="1030" dirty="0">
                <a:solidFill>
                  <a:srgbClr val="13293D"/>
                </a:solidFill>
                <a:latin typeface="Calibri" pitchFamily="34" charset="0"/>
                <a:ea typeface="Calibri" pitchFamily="34" charset="-122"/>
                <a:cs typeface="Calibri" pitchFamily="34" charset="-120"/>
              </a:rPr>
              <a:t>Receive QR parking pass</a:t>
            </a:r>
            <a:endParaRPr lang="en-US" sz="1030" dirty="0"/>
          </a:p>
        </p:txBody>
      </p:sp>
      <p:sp>
        <p:nvSpPr>
          <p:cNvPr id="33" name="Text 22"/>
          <p:cNvSpPr txBox="1"/>
          <p:nvPr/>
        </p:nvSpPr>
        <p:spPr>
          <a:xfrm>
            <a:off x="7269480" y="3127248"/>
            <a:ext cx="274320" cy="274320"/>
          </a:xfrm>
          <a:prstGeom prst="ellipse">
            <a:avLst/>
          </a:prstGeom>
          <a:solidFill>
            <a:srgbClr val="065A82"/>
          </a:solid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34" name="Text 23"/>
          <p:cNvSpPr txBox="1"/>
          <p:nvPr/>
        </p:nvSpPr>
        <p:spPr>
          <a:xfrm>
            <a:off x="7635240" y="3081528"/>
            <a:ext cx="3794760" cy="365760"/>
          </a:xfrm>
          <a:prstGeom prst="rect">
            <a:avLst/>
          </a:prstGeom>
          <a:noFill/>
          <a:ln/>
        </p:spPr>
        <p:txBody>
          <a:bodyPr wrap="square" lIns="0" tIns="0" rIns="0" bIns="0" rtlCol="0" anchor="ctr"/>
          <a:lstStyle/>
          <a:p>
            <a:pPr marL="0" indent="0">
              <a:buNone/>
            </a:pPr>
            <a:r>
              <a:rPr lang="en-US" sz="1030" dirty="0">
                <a:solidFill>
                  <a:srgbClr val="13293D"/>
                </a:solidFill>
                <a:latin typeface="Calibri" pitchFamily="34" charset="0"/>
                <a:ea typeface="Calibri" pitchFamily="34" charset="-122"/>
                <a:cs typeface="Calibri" pitchFamily="34" charset="-120"/>
              </a:rPr>
              <a:t>Entry validation → park → exit fare</a:t>
            </a:r>
            <a:endParaRPr lang="en-US" sz="1030" dirty="0"/>
          </a:p>
        </p:txBody>
      </p:sp>
      <p:sp>
        <p:nvSpPr>
          <p:cNvPr id="35" name="Shape 24"/>
          <p:cNvSpPr/>
          <p:nvPr/>
        </p:nvSpPr>
        <p:spPr>
          <a:xfrm>
            <a:off x="5623560" y="3794760"/>
            <a:ext cx="5989320" cy="1783080"/>
          </a:xfrm>
          <a:prstGeom prst="roundRect">
            <a:avLst>
              <a:gd name="adj" fmla="val 4103"/>
            </a:avLst>
          </a:prstGeom>
          <a:solidFill>
            <a:srgbClr val="F3F7F9"/>
          </a:solidFill>
          <a:ln w="12700">
            <a:solidFill>
              <a:srgbClr val="DCE6EA"/>
            </a:solidFill>
            <a:prstDash val="solid"/>
          </a:ln>
        </p:spPr>
      </p:sp>
      <p:sp>
        <p:nvSpPr>
          <p:cNvPr id="36" name="Shape 25"/>
          <p:cNvSpPr/>
          <p:nvPr/>
        </p:nvSpPr>
        <p:spPr>
          <a:xfrm>
            <a:off x="5623560" y="3794760"/>
            <a:ext cx="1417320" cy="1783080"/>
          </a:xfrm>
          <a:prstGeom prst="roundRect">
            <a:avLst>
              <a:gd name="adj" fmla="val 5161"/>
            </a:avLst>
          </a:prstGeom>
          <a:solidFill>
            <a:srgbClr val="1C7293"/>
          </a:solidFill>
          <a:ln/>
        </p:spPr>
      </p:sp>
      <p:pic>
        <p:nvPicPr>
          <p:cNvPr id="37" name="Image 9" descr="/home/claude/parkease/icons/walk.png"/>
          <p:cNvPicPr>
            <a:picLocks noChangeAspect="1"/>
          </p:cNvPicPr>
          <p:nvPr/>
        </p:nvPicPr>
        <p:blipFill>
          <a:blip r:embed="rId5"/>
          <a:stretch>
            <a:fillRect/>
          </a:stretch>
        </p:blipFill>
        <p:spPr>
          <a:xfrm>
            <a:off x="5989320" y="4050792"/>
            <a:ext cx="685800" cy="685800"/>
          </a:xfrm>
          <a:prstGeom prst="rect">
            <a:avLst/>
          </a:prstGeom>
        </p:spPr>
      </p:pic>
      <p:sp>
        <p:nvSpPr>
          <p:cNvPr id="38" name="Text 26"/>
          <p:cNvSpPr txBox="1"/>
          <p:nvPr/>
        </p:nvSpPr>
        <p:spPr>
          <a:xfrm>
            <a:off x="5669280" y="4800600"/>
            <a:ext cx="1325880" cy="68580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OFF-PEAK</a:t>
            </a:r>
            <a:endParaRPr lang="en-US" sz="1250" dirty="0"/>
          </a:p>
          <a:p>
            <a:pPr marL="0" indent="0" algn="ctr">
              <a:buNone/>
            </a:pPr>
            <a:r>
              <a:rPr lang="en-US" sz="1250" b="1" dirty="0">
                <a:solidFill>
                  <a:srgbClr val="FFFFFF"/>
                </a:solidFill>
                <a:latin typeface="Calibri" pitchFamily="34" charset="0"/>
                <a:ea typeface="Calibri" pitchFamily="34" charset="-122"/>
                <a:cs typeface="Calibri" pitchFamily="34" charset="-120"/>
              </a:rPr>
              <a:t>HOURS</a:t>
            </a:r>
            <a:endParaRPr lang="en-US" sz="1250" dirty="0"/>
          </a:p>
        </p:txBody>
      </p:sp>
      <p:sp>
        <p:nvSpPr>
          <p:cNvPr id="39" name="Text 27"/>
          <p:cNvSpPr txBox="1"/>
          <p:nvPr/>
        </p:nvSpPr>
        <p:spPr>
          <a:xfrm>
            <a:off x="7269480" y="3941064"/>
            <a:ext cx="274320" cy="274320"/>
          </a:xfrm>
          <a:prstGeom prst="ellipse">
            <a:avLst/>
          </a:prstGeom>
          <a:solidFill>
            <a:srgbClr val="1C7293"/>
          </a:solid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40" name="Text 28"/>
          <p:cNvSpPr txBox="1"/>
          <p:nvPr/>
        </p:nvSpPr>
        <p:spPr>
          <a:xfrm>
            <a:off x="7635240" y="3895344"/>
            <a:ext cx="3794760" cy="365760"/>
          </a:xfrm>
          <a:prstGeom prst="rect">
            <a:avLst/>
          </a:prstGeom>
          <a:noFill/>
          <a:ln/>
        </p:spPr>
        <p:txBody>
          <a:bodyPr wrap="square" lIns="0" tIns="0" rIns="0" bIns="0" rtlCol="0" anchor="ctr"/>
          <a:lstStyle/>
          <a:p>
            <a:pPr marL="0" indent="0">
              <a:buNone/>
            </a:pPr>
            <a:r>
              <a:rPr lang="en-US" sz="1030" dirty="0">
                <a:solidFill>
                  <a:srgbClr val="13293D"/>
                </a:solidFill>
                <a:latin typeface="Calibri" pitchFamily="34" charset="0"/>
                <a:ea typeface="Calibri" pitchFamily="34" charset="-122"/>
                <a:cs typeface="Calibri" pitchFamily="34" charset="-120"/>
              </a:rPr>
              <a:t>Arrive &amp; view available slots</a:t>
            </a:r>
            <a:endParaRPr lang="en-US" sz="1030" dirty="0"/>
          </a:p>
        </p:txBody>
      </p:sp>
      <p:sp>
        <p:nvSpPr>
          <p:cNvPr id="41" name="Text 29"/>
          <p:cNvSpPr txBox="1"/>
          <p:nvPr/>
        </p:nvSpPr>
        <p:spPr>
          <a:xfrm>
            <a:off x="7269480" y="4325112"/>
            <a:ext cx="274320" cy="274320"/>
          </a:xfrm>
          <a:prstGeom prst="ellipse">
            <a:avLst/>
          </a:prstGeom>
          <a:solidFill>
            <a:srgbClr val="1C7293"/>
          </a:solid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42" name="Text 30"/>
          <p:cNvSpPr txBox="1"/>
          <p:nvPr/>
        </p:nvSpPr>
        <p:spPr>
          <a:xfrm>
            <a:off x="7635240" y="4279392"/>
            <a:ext cx="3794760" cy="365760"/>
          </a:xfrm>
          <a:prstGeom prst="rect">
            <a:avLst/>
          </a:prstGeom>
          <a:noFill/>
          <a:ln/>
        </p:spPr>
        <p:txBody>
          <a:bodyPr wrap="square" lIns="0" tIns="0" rIns="0" bIns="0" rtlCol="0" anchor="ctr"/>
          <a:lstStyle/>
          <a:p>
            <a:pPr marL="0" indent="0">
              <a:buNone/>
            </a:pPr>
            <a:r>
              <a:rPr lang="en-US" sz="1030" dirty="0">
                <a:solidFill>
                  <a:srgbClr val="13293D"/>
                </a:solidFill>
                <a:latin typeface="Calibri" pitchFamily="34" charset="0"/>
                <a:ea typeface="Calibri" pitchFamily="34" charset="-122"/>
                <a:cs typeface="Calibri" pitchFamily="34" charset="-120"/>
              </a:rPr>
              <a:t>Use an available slot directly</a:t>
            </a:r>
            <a:endParaRPr lang="en-US" sz="1030" dirty="0"/>
          </a:p>
        </p:txBody>
      </p:sp>
      <p:sp>
        <p:nvSpPr>
          <p:cNvPr id="43" name="Text 31"/>
          <p:cNvSpPr txBox="1"/>
          <p:nvPr/>
        </p:nvSpPr>
        <p:spPr>
          <a:xfrm>
            <a:off x="7269480" y="4709160"/>
            <a:ext cx="274320" cy="274320"/>
          </a:xfrm>
          <a:prstGeom prst="ellipse">
            <a:avLst/>
          </a:prstGeom>
          <a:solidFill>
            <a:srgbClr val="1C7293"/>
          </a:solid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44" name="Text 32"/>
          <p:cNvSpPr txBox="1"/>
          <p:nvPr/>
        </p:nvSpPr>
        <p:spPr>
          <a:xfrm>
            <a:off x="7635240" y="4663440"/>
            <a:ext cx="3794760" cy="365760"/>
          </a:xfrm>
          <a:prstGeom prst="rect">
            <a:avLst/>
          </a:prstGeom>
          <a:noFill/>
          <a:ln/>
        </p:spPr>
        <p:txBody>
          <a:bodyPr wrap="square" lIns="0" tIns="0" rIns="0" bIns="0" rtlCol="0" anchor="ctr"/>
          <a:lstStyle/>
          <a:p>
            <a:pPr marL="0" indent="0">
              <a:buNone/>
            </a:pPr>
            <a:r>
              <a:rPr lang="en-US" sz="1030" dirty="0">
                <a:solidFill>
                  <a:srgbClr val="13293D"/>
                </a:solidFill>
                <a:latin typeface="Calibri" pitchFamily="34" charset="0"/>
                <a:ea typeface="Calibri" pitchFamily="34" charset="-122"/>
                <a:cs typeface="Calibri" pitchFamily="34" charset="-120"/>
              </a:rPr>
              <a:t>No advance reservation needed</a:t>
            </a:r>
            <a:endParaRPr lang="en-US" sz="1030" dirty="0"/>
          </a:p>
        </p:txBody>
      </p:sp>
      <p:sp>
        <p:nvSpPr>
          <p:cNvPr id="45" name="Text 33"/>
          <p:cNvSpPr txBox="1"/>
          <p:nvPr/>
        </p:nvSpPr>
        <p:spPr>
          <a:xfrm>
            <a:off x="7269480" y="5093208"/>
            <a:ext cx="274320" cy="274320"/>
          </a:xfrm>
          <a:prstGeom prst="ellipse">
            <a:avLst/>
          </a:prstGeom>
          <a:solidFill>
            <a:srgbClr val="1C7293"/>
          </a:solid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46" name="Text 34"/>
          <p:cNvSpPr txBox="1"/>
          <p:nvPr/>
        </p:nvSpPr>
        <p:spPr>
          <a:xfrm>
            <a:off x="7635240" y="5047488"/>
            <a:ext cx="3794760" cy="365760"/>
          </a:xfrm>
          <a:prstGeom prst="rect">
            <a:avLst/>
          </a:prstGeom>
          <a:noFill/>
          <a:ln/>
        </p:spPr>
        <p:txBody>
          <a:bodyPr wrap="square" lIns="0" tIns="0" rIns="0" bIns="0" rtlCol="0" anchor="ctr"/>
          <a:lstStyle/>
          <a:p>
            <a:pPr marL="0" indent="0">
              <a:buNone/>
            </a:pPr>
            <a:r>
              <a:rPr lang="en-US" sz="1030" dirty="0">
                <a:solidFill>
                  <a:srgbClr val="13293D"/>
                </a:solidFill>
                <a:latin typeface="Calibri" pitchFamily="34" charset="0"/>
                <a:ea typeface="Calibri" pitchFamily="34" charset="-122"/>
                <a:cs typeface="Calibri" pitchFamily="34" charset="-120"/>
              </a:rPr>
              <a:t>Park → exit → fare calculated</a:t>
            </a:r>
            <a:endParaRPr lang="en-US" sz="1030" dirty="0"/>
          </a:p>
        </p:txBody>
      </p:sp>
      <p:sp>
        <p:nvSpPr>
          <p:cNvPr id="47" name="Text 35"/>
          <p:cNvSpPr txBox="1"/>
          <p:nvPr/>
        </p:nvSpPr>
        <p:spPr>
          <a:xfrm>
            <a:off x="5623560" y="5715000"/>
            <a:ext cx="5989320" cy="365760"/>
          </a:xfrm>
          <a:prstGeom prst="rect">
            <a:avLst/>
          </a:prstGeom>
          <a:noFill/>
          <a:ln/>
        </p:spPr>
        <p:txBody>
          <a:bodyPr wrap="square" lIns="0" tIns="0" rIns="0" bIns="0" rtlCol="0" anchor="ctr"/>
          <a:lstStyle/>
          <a:p>
            <a:pPr marL="0" indent="0">
              <a:buNone/>
            </a:pPr>
            <a:r>
              <a:rPr lang="en-US" sz="1050" i="1" dirty="0">
                <a:solidFill>
                  <a:srgbClr val="4B5A66"/>
                </a:solidFill>
                <a:latin typeface="Calibri" pitchFamily="34" charset="0"/>
                <a:ea typeface="Calibri" pitchFamily="34" charset="-122"/>
                <a:cs typeface="Calibri" pitchFamily="34" charset="-120"/>
              </a:rPr>
              <a:t>Peak-hour timings and tariff rules are configurable by the administrator.</a:t>
            </a:r>
            <a:endParaRPr lang="en-US" sz="1050" dirty="0"/>
          </a:p>
        </p:txBody>
      </p:sp>
      <p:sp>
        <p:nvSpPr>
          <p:cNvPr id="48" name="Text 36"/>
          <p:cNvSpPr txBox="1"/>
          <p:nvPr/>
        </p:nvSpPr>
        <p:spPr>
          <a:xfrm>
            <a:off x="11277295" y="6446520"/>
            <a:ext cx="731520" cy="274320"/>
          </a:xfrm>
          <a:prstGeom prst="rect">
            <a:avLst/>
          </a:prstGeom>
          <a:noFill/>
          <a:ln/>
        </p:spPr>
        <p:txBody>
          <a:bodyPr wrap="square" lIns="0" tIns="0" rIns="0" bIns="0" rtlCol="0" anchor="ctr"/>
          <a:lstStyle/>
          <a:p>
            <a:pPr marL="0" indent="0" algn="r">
              <a:buNone/>
            </a:pPr>
            <a:r>
              <a:rPr lang="en-US" sz="1000" dirty="0">
                <a:solidFill>
                  <a:srgbClr val="6E7B85"/>
                </a:solidFill>
                <a:latin typeface="Calibri" pitchFamily="34" charset="0"/>
                <a:ea typeface="Calibri" pitchFamily="34" charset="-122"/>
                <a:cs typeface="Calibri" pitchFamily="34" charset="-120"/>
              </a:rPr>
              <a:t>3 / 8</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END-TO-END FLOW</a:t>
            </a:r>
            <a:endParaRPr lang="en-US" sz="1300" dirty="0"/>
          </a:p>
        </p:txBody>
      </p:sp>
      <p:sp>
        <p:nvSpPr>
          <p:cNvPr id="3" name="Text 1"/>
          <p:cNvSpPr txBox="1"/>
          <p:nvPr/>
        </p:nvSpPr>
        <p:spPr>
          <a:xfrm>
            <a:off x="548640" y="658368"/>
            <a:ext cx="10789920" cy="640080"/>
          </a:xfrm>
          <a:prstGeom prst="rect">
            <a:avLst/>
          </a:prstGeom>
          <a:noFill/>
          <a:ln/>
        </p:spPr>
        <p:txBody>
          <a:bodyPr wrap="square" lIns="0" tIns="0" rIns="0" bIns="0" rtlCol="0" anchor="ctr"/>
          <a:lstStyle/>
          <a:p>
            <a:pPr marL="0" indent="0">
              <a:buNone/>
            </a:pPr>
            <a:r>
              <a:rPr lang="en-US" sz="2800" b="1" dirty="0">
                <a:solidFill>
                  <a:srgbClr val="021024"/>
                </a:solidFill>
                <a:latin typeface="Cambria" pitchFamily="34" charset="0"/>
                <a:ea typeface="Cambria" pitchFamily="34" charset="-122"/>
                <a:cs typeface="Cambria" pitchFamily="34" charset="-120"/>
              </a:rPr>
              <a:t>Complete System Workflow</a:t>
            </a:r>
            <a:endParaRPr lang="en-US" sz="2800" dirty="0"/>
          </a:p>
        </p:txBody>
      </p:sp>
      <p:sp>
        <p:nvSpPr>
          <p:cNvPr id="4" name="Shape 2"/>
          <p:cNvSpPr/>
          <p:nvPr/>
        </p:nvSpPr>
        <p:spPr>
          <a:xfrm>
            <a:off x="4663440" y="1371600"/>
            <a:ext cx="2834640" cy="384048"/>
          </a:xfrm>
          <a:prstGeom prst="roundRect">
            <a:avLst>
              <a:gd name="adj" fmla="val 14286"/>
            </a:avLst>
          </a:prstGeom>
          <a:solidFill>
            <a:srgbClr val="21295C"/>
          </a:solidFill>
          <a:ln w="12700">
            <a:solidFill>
              <a:srgbClr val="DCE6EA"/>
            </a:solidFill>
            <a:prstDash val="solid"/>
          </a:ln>
        </p:spPr>
      </p:sp>
      <p:sp>
        <p:nvSpPr>
          <p:cNvPr id="5" name="Text 3"/>
          <p:cNvSpPr txBox="1"/>
          <p:nvPr/>
        </p:nvSpPr>
        <p:spPr>
          <a:xfrm>
            <a:off x="4663440" y="1371600"/>
            <a:ext cx="2834640" cy="384048"/>
          </a:xfrm>
          <a:prstGeom prst="rect">
            <a:avLst/>
          </a:prstGeom>
          <a:noFill/>
          <a:ln/>
        </p:spPr>
        <p:txBody>
          <a:bodyPr wrap="square" lIns="25400" tIns="25400" rIns="25400" bIns="25400" rtlCol="0" anchor="ctr"/>
          <a:lstStyle/>
          <a:p>
            <a:pPr marL="0" indent="0" algn="ctr">
              <a:buNone/>
            </a:pPr>
            <a:r>
              <a:rPr lang="en-US" sz="1030" b="1" dirty="0">
                <a:solidFill>
                  <a:srgbClr val="FFFFFF"/>
                </a:solidFill>
                <a:latin typeface="Calibri" pitchFamily="34" charset="0"/>
                <a:ea typeface="Calibri" pitchFamily="34" charset="-122"/>
                <a:cs typeface="Calibri" pitchFamily="34" charset="-120"/>
              </a:rPr>
              <a:t>User opens Park Ease web app</a:t>
            </a:r>
            <a:endParaRPr lang="en-US" sz="1030" dirty="0"/>
          </a:p>
        </p:txBody>
      </p:sp>
      <p:sp>
        <p:nvSpPr>
          <p:cNvPr id="6" name="Shape 4"/>
          <p:cNvSpPr/>
          <p:nvPr/>
        </p:nvSpPr>
        <p:spPr>
          <a:xfrm>
            <a:off x="6080760" y="1755648"/>
            <a:ext cx="0" cy="109728"/>
          </a:xfrm>
          <a:prstGeom prst="line">
            <a:avLst/>
          </a:prstGeom>
          <a:noFill/>
          <a:ln w="19050">
            <a:solidFill>
              <a:srgbClr val="6E7B85"/>
            </a:solidFill>
            <a:prstDash val="solid"/>
            <a:tailEnd type="triangle"/>
          </a:ln>
        </p:spPr>
      </p:sp>
      <p:sp>
        <p:nvSpPr>
          <p:cNvPr id="7" name="Shape 5"/>
          <p:cNvSpPr/>
          <p:nvPr/>
        </p:nvSpPr>
        <p:spPr>
          <a:xfrm>
            <a:off x="4663440" y="1865376"/>
            <a:ext cx="2834640" cy="384048"/>
          </a:xfrm>
          <a:prstGeom prst="roundRect">
            <a:avLst>
              <a:gd name="adj" fmla="val 14286"/>
            </a:avLst>
          </a:prstGeom>
          <a:solidFill>
            <a:srgbClr val="F3F7F9"/>
          </a:solidFill>
          <a:ln w="12700">
            <a:solidFill>
              <a:srgbClr val="DCE6EA"/>
            </a:solidFill>
            <a:prstDash val="solid"/>
          </a:ln>
        </p:spPr>
      </p:sp>
      <p:sp>
        <p:nvSpPr>
          <p:cNvPr id="8" name="Text 6"/>
          <p:cNvSpPr txBox="1"/>
          <p:nvPr/>
        </p:nvSpPr>
        <p:spPr>
          <a:xfrm>
            <a:off x="4663440" y="1865376"/>
            <a:ext cx="2834640" cy="384048"/>
          </a:xfrm>
          <a:prstGeom prst="rect">
            <a:avLst/>
          </a:prstGeom>
          <a:noFill/>
          <a:ln/>
        </p:spPr>
        <p:txBody>
          <a:bodyPr wrap="square" lIns="25400" tIns="25400" rIns="25400" bIns="25400" rtlCol="0" anchor="ctr"/>
          <a:lstStyle/>
          <a:p>
            <a:pPr marL="0" indent="0" algn="ctr">
              <a:buNone/>
            </a:pPr>
            <a:r>
              <a:rPr lang="en-US" sz="1030" dirty="0">
                <a:solidFill>
                  <a:srgbClr val="13293D"/>
                </a:solidFill>
                <a:latin typeface="Calibri" pitchFamily="34" charset="0"/>
                <a:ea typeface="Calibri" pitchFamily="34" charset="-122"/>
                <a:cs typeface="Calibri" pitchFamily="34" charset="-120"/>
              </a:rPr>
              <a:t>Select parking area → date &amp; time</a:t>
            </a:r>
            <a:endParaRPr lang="en-US" sz="1030" dirty="0"/>
          </a:p>
        </p:txBody>
      </p:sp>
      <p:sp>
        <p:nvSpPr>
          <p:cNvPr id="9" name="Shape 7"/>
          <p:cNvSpPr/>
          <p:nvPr/>
        </p:nvSpPr>
        <p:spPr>
          <a:xfrm>
            <a:off x="6080760" y="2249424"/>
            <a:ext cx="0" cy="109728"/>
          </a:xfrm>
          <a:prstGeom prst="line">
            <a:avLst/>
          </a:prstGeom>
          <a:noFill/>
          <a:ln w="19050">
            <a:solidFill>
              <a:srgbClr val="6E7B85"/>
            </a:solidFill>
            <a:prstDash val="solid"/>
            <a:tailEnd type="triangle"/>
          </a:ln>
        </p:spPr>
      </p:sp>
      <p:sp>
        <p:nvSpPr>
          <p:cNvPr id="10" name="Shape 8"/>
          <p:cNvSpPr/>
          <p:nvPr/>
        </p:nvSpPr>
        <p:spPr>
          <a:xfrm>
            <a:off x="4663440" y="2359152"/>
            <a:ext cx="2834640" cy="384048"/>
          </a:xfrm>
          <a:prstGeom prst="roundRect">
            <a:avLst>
              <a:gd name="adj" fmla="val 14286"/>
            </a:avLst>
          </a:prstGeom>
          <a:solidFill>
            <a:srgbClr val="F3F7F9"/>
          </a:solidFill>
          <a:ln w="12700">
            <a:solidFill>
              <a:srgbClr val="DCE6EA"/>
            </a:solidFill>
            <a:prstDash val="solid"/>
          </a:ln>
        </p:spPr>
      </p:sp>
      <p:sp>
        <p:nvSpPr>
          <p:cNvPr id="11" name="Text 9"/>
          <p:cNvSpPr txBox="1"/>
          <p:nvPr/>
        </p:nvSpPr>
        <p:spPr>
          <a:xfrm>
            <a:off x="4663440" y="2359152"/>
            <a:ext cx="2834640" cy="384048"/>
          </a:xfrm>
          <a:prstGeom prst="rect">
            <a:avLst/>
          </a:prstGeom>
          <a:noFill/>
          <a:ln/>
        </p:spPr>
        <p:txBody>
          <a:bodyPr wrap="square" lIns="25400" tIns="25400" rIns="25400" bIns="25400" rtlCol="0" anchor="ctr"/>
          <a:lstStyle/>
          <a:p>
            <a:pPr marL="0" indent="0" algn="ctr">
              <a:buNone/>
            </a:pPr>
            <a:r>
              <a:rPr lang="en-US" sz="1030" dirty="0">
                <a:solidFill>
                  <a:srgbClr val="13293D"/>
                </a:solidFill>
                <a:latin typeface="Calibri" pitchFamily="34" charset="0"/>
                <a:ea typeface="Calibri" pitchFamily="34" charset="-122"/>
                <a:cs typeface="Calibri" pitchFamily="34" charset="-120"/>
              </a:rPr>
              <a:t>System checks slot status &amp; shows layout</a:t>
            </a:r>
            <a:endParaRPr lang="en-US" sz="1030" dirty="0"/>
          </a:p>
        </p:txBody>
      </p:sp>
      <p:sp>
        <p:nvSpPr>
          <p:cNvPr id="12" name="Shape 10"/>
          <p:cNvSpPr/>
          <p:nvPr/>
        </p:nvSpPr>
        <p:spPr>
          <a:xfrm>
            <a:off x="6080760" y="2743200"/>
            <a:ext cx="0" cy="109728"/>
          </a:xfrm>
          <a:prstGeom prst="line">
            <a:avLst/>
          </a:prstGeom>
          <a:noFill/>
          <a:ln w="19050">
            <a:solidFill>
              <a:srgbClr val="6E7B85"/>
            </a:solidFill>
            <a:prstDash val="solid"/>
            <a:tailEnd type="triangle"/>
          </a:ln>
        </p:spPr>
      </p:sp>
      <p:sp>
        <p:nvSpPr>
          <p:cNvPr id="13" name="Shape 11"/>
          <p:cNvSpPr/>
          <p:nvPr/>
        </p:nvSpPr>
        <p:spPr>
          <a:xfrm>
            <a:off x="5029200" y="2852928"/>
            <a:ext cx="2103120" cy="530352"/>
          </a:xfrm>
          <a:prstGeom prst="diamond">
            <a:avLst/>
          </a:prstGeom>
          <a:solidFill>
            <a:srgbClr val="065A82"/>
          </a:solidFill>
          <a:ln/>
        </p:spPr>
      </p:sp>
      <p:sp>
        <p:nvSpPr>
          <p:cNvPr id="14" name="Text 12"/>
          <p:cNvSpPr txBox="1"/>
          <p:nvPr/>
        </p:nvSpPr>
        <p:spPr>
          <a:xfrm>
            <a:off x="5029200" y="2852928"/>
            <a:ext cx="2103120" cy="53035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Within peak hours?</a:t>
            </a:r>
            <a:endParaRPr lang="en-US" sz="1000" dirty="0"/>
          </a:p>
        </p:txBody>
      </p:sp>
      <p:sp>
        <p:nvSpPr>
          <p:cNvPr id="15" name="Shape 13"/>
          <p:cNvSpPr/>
          <p:nvPr/>
        </p:nvSpPr>
        <p:spPr>
          <a:xfrm>
            <a:off x="2776086" y="3122674"/>
            <a:ext cx="2253112" cy="0"/>
          </a:xfrm>
          <a:prstGeom prst="line">
            <a:avLst/>
          </a:prstGeom>
          <a:noFill/>
          <a:ln w="19050">
            <a:solidFill>
              <a:srgbClr val="6E7B85"/>
            </a:solidFill>
            <a:prstDash val="solid"/>
          </a:ln>
        </p:spPr>
      </p:sp>
      <p:sp>
        <p:nvSpPr>
          <p:cNvPr id="16" name="Shape 14"/>
          <p:cNvSpPr/>
          <p:nvPr/>
        </p:nvSpPr>
        <p:spPr>
          <a:xfrm>
            <a:off x="2776087" y="3095242"/>
            <a:ext cx="0" cy="521208"/>
          </a:xfrm>
          <a:prstGeom prst="line">
            <a:avLst/>
          </a:prstGeom>
          <a:noFill/>
          <a:ln w="19050">
            <a:solidFill>
              <a:srgbClr val="6E7B85"/>
            </a:solidFill>
            <a:prstDash val="solid"/>
            <a:tailEnd type="triangle"/>
          </a:ln>
        </p:spPr>
      </p:sp>
      <p:sp>
        <p:nvSpPr>
          <p:cNvPr id="17" name="Text 15"/>
          <p:cNvSpPr txBox="1"/>
          <p:nvPr/>
        </p:nvSpPr>
        <p:spPr>
          <a:xfrm>
            <a:off x="2880360" y="2843784"/>
            <a:ext cx="457200" cy="219456"/>
          </a:xfrm>
          <a:prstGeom prst="rect">
            <a:avLst/>
          </a:prstGeom>
          <a:noFill/>
          <a:ln/>
        </p:spPr>
        <p:txBody>
          <a:bodyPr wrap="square" lIns="0" tIns="0" rIns="0" bIns="0" rtlCol="0" anchor="ctr"/>
          <a:lstStyle/>
          <a:p>
            <a:pPr marL="0" indent="0">
              <a:buNone/>
            </a:pPr>
            <a:r>
              <a:rPr lang="en-US" sz="900" b="1" dirty="0">
                <a:solidFill>
                  <a:srgbClr val="065A82"/>
                </a:solidFill>
                <a:latin typeface="Calibri" pitchFamily="34" charset="0"/>
                <a:ea typeface="Calibri" pitchFamily="34" charset="-122"/>
                <a:cs typeface="Calibri" pitchFamily="34" charset="-120"/>
              </a:rPr>
              <a:t>YES</a:t>
            </a:r>
            <a:endParaRPr lang="en-US" sz="900" dirty="0"/>
          </a:p>
        </p:txBody>
      </p:sp>
      <p:sp>
        <p:nvSpPr>
          <p:cNvPr id="18" name="Shape 16"/>
          <p:cNvSpPr/>
          <p:nvPr/>
        </p:nvSpPr>
        <p:spPr>
          <a:xfrm>
            <a:off x="7132320" y="3118104"/>
            <a:ext cx="1691640" cy="0"/>
          </a:xfrm>
          <a:prstGeom prst="line">
            <a:avLst/>
          </a:prstGeom>
          <a:noFill/>
          <a:ln w="19050">
            <a:solidFill>
              <a:srgbClr val="6E7B85"/>
            </a:solidFill>
            <a:prstDash val="solid"/>
          </a:ln>
        </p:spPr>
      </p:sp>
      <p:sp>
        <p:nvSpPr>
          <p:cNvPr id="19" name="Shape 17"/>
          <p:cNvSpPr/>
          <p:nvPr/>
        </p:nvSpPr>
        <p:spPr>
          <a:xfrm flipH="1">
            <a:off x="8823960" y="3108960"/>
            <a:ext cx="0" cy="521207"/>
          </a:xfrm>
          <a:prstGeom prst="line">
            <a:avLst/>
          </a:prstGeom>
          <a:noFill/>
          <a:ln w="19050">
            <a:solidFill>
              <a:srgbClr val="6E7B85"/>
            </a:solidFill>
            <a:prstDash val="solid"/>
            <a:tailEnd type="triangle"/>
          </a:ln>
        </p:spPr>
      </p:sp>
      <p:sp>
        <p:nvSpPr>
          <p:cNvPr id="20" name="Text 18"/>
          <p:cNvSpPr txBox="1"/>
          <p:nvPr/>
        </p:nvSpPr>
        <p:spPr>
          <a:xfrm>
            <a:off x="7479792" y="2843784"/>
            <a:ext cx="457200" cy="219456"/>
          </a:xfrm>
          <a:prstGeom prst="rect">
            <a:avLst/>
          </a:prstGeom>
          <a:noFill/>
          <a:ln/>
        </p:spPr>
        <p:txBody>
          <a:bodyPr wrap="square" lIns="0" tIns="0" rIns="0" bIns="0" rtlCol="0" anchor="ctr"/>
          <a:lstStyle/>
          <a:p>
            <a:pPr marL="0" indent="0">
              <a:buNone/>
            </a:pPr>
            <a:r>
              <a:rPr lang="en-US" sz="900" b="1" dirty="0">
                <a:solidFill>
                  <a:srgbClr val="1C7293"/>
                </a:solidFill>
                <a:latin typeface="Calibri" pitchFamily="34" charset="0"/>
                <a:ea typeface="Calibri" pitchFamily="34" charset="-122"/>
                <a:cs typeface="Calibri" pitchFamily="34" charset="-120"/>
              </a:rPr>
              <a:t>NO</a:t>
            </a:r>
            <a:endParaRPr lang="en-US" sz="900" dirty="0"/>
          </a:p>
        </p:txBody>
      </p:sp>
      <p:sp>
        <p:nvSpPr>
          <p:cNvPr id="21" name="Text 19"/>
          <p:cNvSpPr txBox="1"/>
          <p:nvPr/>
        </p:nvSpPr>
        <p:spPr>
          <a:xfrm>
            <a:off x="1358767" y="3630167"/>
            <a:ext cx="2834640" cy="219456"/>
          </a:xfrm>
          <a:prstGeom prst="rect">
            <a:avLst/>
          </a:prstGeom>
          <a:noFill/>
          <a:ln/>
        </p:spPr>
        <p:txBody>
          <a:bodyPr wrap="square" lIns="0" tIns="0" rIns="0" bIns="0" rtlCol="0" anchor="ctr"/>
          <a:lstStyle/>
          <a:p>
            <a:pPr marL="0" indent="0" algn="ctr">
              <a:buNone/>
            </a:pPr>
            <a:r>
              <a:rPr lang="en-US" sz="1000" b="1" dirty="0">
                <a:solidFill>
                  <a:srgbClr val="065A82"/>
                </a:solidFill>
                <a:latin typeface="Calibri" pitchFamily="34" charset="0"/>
                <a:ea typeface="Calibri" pitchFamily="34" charset="-122"/>
                <a:cs typeface="Calibri" pitchFamily="34" charset="-120"/>
              </a:rPr>
              <a:t>RESERVATION PROCESS</a:t>
            </a:r>
            <a:endParaRPr lang="en-US" sz="1000" dirty="0"/>
          </a:p>
        </p:txBody>
      </p:sp>
      <p:sp>
        <p:nvSpPr>
          <p:cNvPr id="22" name="Shape 20"/>
          <p:cNvSpPr/>
          <p:nvPr/>
        </p:nvSpPr>
        <p:spPr>
          <a:xfrm>
            <a:off x="1358767" y="3904487"/>
            <a:ext cx="2834640" cy="329184"/>
          </a:xfrm>
          <a:prstGeom prst="roundRect">
            <a:avLst>
              <a:gd name="adj" fmla="val 16667"/>
            </a:avLst>
          </a:prstGeom>
          <a:solidFill>
            <a:srgbClr val="F3F7F9"/>
          </a:solidFill>
          <a:ln w="12700">
            <a:solidFill>
              <a:srgbClr val="065A82"/>
            </a:solidFill>
            <a:prstDash val="solid"/>
          </a:ln>
        </p:spPr>
      </p:sp>
      <p:sp>
        <p:nvSpPr>
          <p:cNvPr id="23" name="Text 21"/>
          <p:cNvSpPr txBox="1"/>
          <p:nvPr/>
        </p:nvSpPr>
        <p:spPr>
          <a:xfrm>
            <a:off x="1358767" y="3904487"/>
            <a:ext cx="2834640" cy="329184"/>
          </a:xfrm>
          <a:prstGeom prst="rect">
            <a:avLst/>
          </a:prstGeom>
          <a:noFill/>
          <a:ln/>
        </p:spPr>
        <p:txBody>
          <a:bodyPr wrap="square" lIns="25400" tIns="25400" rIns="25400" bIns="25400" rtlCol="0" anchor="ctr"/>
          <a:lstStyle/>
          <a:p>
            <a:pPr marL="0" indent="0" algn="ctr">
              <a:buNone/>
            </a:pPr>
            <a:r>
              <a:rPr lang="en-US" sz="940" dirty="0">
                <a:solidFill>
                  <a:srgbClr val="13293D"/>
                </a:solidFill>
                <a:latin typeface="Calibri" pitchFamily="34" charset="0"/>
                <a:ea typeface="Calibri" pitchFamily="34" charset="-122"/>
                <a:cs typeface="Calibri" pitchFamily="34" charset="-120"/>
              </a:rPr>
              <a:t>Select available slot</a:t>
            </a:r>
            <a:endParaRPr lang="en-US" sz="940" dirty="0"/>
          </a:p>
        </p:txBody>
      </p:sp>
      <p:sp>
        <p:nvSpPr>
          <p:cNvPr id="24" name="Shape 22"/>
          <p:cNvSpPr/>
          <p:nvPr/>
        </p:nvSpPr>
        <p:spPr>
          <a:xfrm>
            <a:off x="2776087" y="4233671"/>
            <a:ext cx="0" cy="82296"/>
          </a:xfrm>
          <a:prstGeom prst="line">
            <a:avLst/>
          </a:prstGeom>
          <a:noFill/>
          <a:ln w="19050">
            <a:solidFill>
              <a:srgbClr val="6E7B85"/>
            </a:solidFill>
            <a:prstDash val="solid"/>
            <a:tailEnd type="triangle"/>
          </a:ln>
        </p:spPr>
      </p:sp>
      <p:sp>
        <p:nvSpPr>
          <p:cNvPr id="25" name="Shape 23"/>
          <p:cNvSpPr/>
          <p:nvPr/>
        </p:nvSpPr>
        <p:spPr>
          <a:xfrm>
            <a:off x="1358767" y="4315967"/>
            <a:ext cx="2834640" cy="329184"/>
          </a:xfrm>
          <a:prstGeom prst="roundRect">
            <a:avLst>
              <a:gd name="adj" fmla="val 16667"/>
            </a:avLst>
          </a:prstGeom>
          <a:solidFill>
            <a:srgbClr val="F3F7F9"/>
          </a:solidFill>
          <a:ln w="12700">
            <a:solidFill>
              <a:srgbClr val="065A82"/>
            </a:solidFill>
            <a:prstDash val="solid"/>
          </a:ln>
        </p:spPr>
      </p:sp>
      <p:sp>
        <p:nvSpPr>
          <p:cNvPr id="26" name="Text 24"/>
          <p:cNvSpPr txBox="1"/>
          <p:nvPr/>
        </p:nvSpPr>
        <p:spPr>
          <a:xfrm>
            <a:off x="1358767" y="4315967"/>
            <a:ext cx="2834640" cy="329184"/>
          </a:xfrm>
          <a:prstGeom prst="rect">
            <a:avLst/>
          </a:prstGeom>
          <a:noFill/>
          <a:ln/>
        </p:spPr>
        <p:txBody>
          <a:bodyPr wrap="square" lIns="25400" tIns="25400" rIns="25400" bIns="25400" rtlCol="0" anchor="ctr"/>
          <a:lstStyle/>
          <a:p>
            <a:pPr marL="0" indent="0" algn="ctr">
              <a:buNone/>
            </a:pPr>
            <a:r>
              <a:rPr lang="en-US" sz="940" dirty="0">
                <a:solidFill>
                  <a:srgbClr val="13293D"/>
                </a:solidFill>
                <a:latin typeface="Calibri" pitchFamily="34" charset="0"/>
                <a:ea typeface="Calibri" pitchFamily="34" charset="-122"/>
                <a:cs typeface="Calibri" pitchFamily="34" charset="-120"/>
              </a:rPr>
              <a:t>Enter vehicle &amp; contact details</a:t>
            </a:r>
            <a:endParaRPr lang="en-US" sz="940" dirty="0"/>
          </a:p>
        </p:txBody>
      </p:sp>
      <p:sp>
        <p:nvSpPr>
          <p:cNvPr id="27" name="Shape 25"/>
          <p:cNvSpPr/>
          <p:nvPr/>
        </p:nvSpPr>
        <p:spPr>
          <a:xfrm>
            <a:off x="2776087" y="4645151"/>
            <a:ext cx="0" cy="82296"/>
          </a:xfrm>
          <a:prstGeom prst="line">
            <a:avLst/>
          </a:prstGeom>
          <a:noFill/>
          <a:ln w="19050">
            <a:solidFill>
              <a:srgbClr val="6E7B85"/>
            </a:solidFill>
            <a:prstDash val="solid"/>
            <a:tailEnd type="triangle"/>
          </a:ln>
        </p:spPr>
      </p:sp>
      <p:sp>
        <p:nvSpPr>
          <p:cNvPr id="28" name="Shape 26"/>
          <p:cNvSpPr/>
          <p:nvPr/>
        </p:nvSpPr>
        <p:spPr>
          <a:xfrm>
            <a:off x="1358767" y="4727447"/>
            <a:ext cx="2834640" cy="329184"/>
          </a:xfrm>
          <a:prstGeom prst="roundRect">
            <a:avLst>
              <a:gd name="adj" fmla="val 16667"/>
            </a:avLst>
          </a:prstGeom>
          <a:solidFill>
            <a:srgbClr val="F3F7F9"/>
          </a:solidFill>
          <a:ln w="12700">
            <a:solidFill>
              <a:srgbClr val="065A82"/>
            </a:solidFill>
            <a:prstDash val="solid"/>
          </a:ln>
        </p:spPr>
      </p:sp>
      <p:sp>
        <p:nvSpPr>
          <p:cNvPr id="29" name="Text 27"/>
          <p:cNvSpPr txBox="1"/>
          <p:nvPr/>
        </p:nvSpPr>
        <p:spPr>
          <a:xfrm>
            <a:off x="1358767" y="4727447"/>
            <a:ext cx="2834640" cy="329184"/>
          </a:xfrm>
          <a:prstGeom prst="rect">
            <a:avLst/>
          </a:prstGeom>
          <a:noFill/>
          <a:ln/>
        </p:spPr>
        <p:txBody>
          <a:bodyPr wrap="square" lIns="25400" tIns="25400" rIns="25400" bIns="25400" rtlCol="0" anchor="ctr"/>
          <a:lstStyle/>
          <a:p>
            <a:pPr marL="0" indent="0" algn="ctr">
              <a:buNone/>
            </a:pPr>
            <a:r>
              <a:rPr lang="en-US" sz="940" dirty="0">
                <a:solidFill>
                  <a:srgbClr val="13293D"/>
                </a:solidFill>
                <a:latin typeface="Calibri" pitchFamily="34" charset="0"/>
                <a:ea typeface="Calibri" pitchFamily="34" charset="-122"/>
                <a:cs typeface="Calibri" pitchFamily="34" charset="-120"/>
              </a:rPr>
              <a:t>Pay ₹50 reservation deposit</a:t>
            </a:r>
            <a:endParaRPr lang="en-US" sz="940" dirty="0"/>
          </a:p>
        </p:txBody>
      </p:sp>
      <p:sp>
        <p:nvSpPr>
          <p:cNvPr id="30" name="Shape 28"/>
          <p:cNvSpPr/>
          <p:nvPr/>
        </p:nvSpPr>
        <p:spPr>
          <a:xfrm>
            <a:off x="2776087" y="5056631"/>
            <a:ext cx="0" cy="82296"/>
          </a:xfrm>
          <a:prstGeom prst="line">
            <a:avLst/>
          </a:prstGeom>
          <a:noFill/>
          <a:ln w="19050">
            <a:solidFill>
              <a:srgbClr val="6E7B85"/>
            </a:solidFill>
            <a:prstDash val="solid"/>
            <a:tailEnd type="triangle"/>
          </a:ln>
        </p:spPr>
      </p:sp>
      <p:sp>
        <p:nvSpPr>
          <p:cNvPr id="31" name="Shape 29"/>
          <p:cNvSpPr/>
          <p:nvPr/>
        </p:nvSpPr>
        <p:spPr>
          <a:xfrm>
            <a:off x="1358767" y="5138927"/>
            <a:ext cx="2834640" cy="329184"/>
          </a:xfrm>
          <a:prstGeom prst="roundRect">
            <a:avLst>
              <a:gd name="adj" fmla="val 16667"/>
            </a:avLst>
          </a:prstGeom>
          <a:solidFill>
            <a:srgbClr val="F3F7F9"/>
          </a:solidFill>
          <a:ln w="12700">
            <a:solidFill>
              <a:srgbClr val="065A82"/>
            </a:solidFill>
            <a:prstDash val="solid"/>
          </a:ln>
        </p:spPr>
      </p:sp>
      <p:sp>
        <p:nvSpPr>
          <p:cNvPr id="32" name="Text 30"/>
          <p:cNvSpPr txBox="1"/>
          <p:nvPr/>
        </p:nvSpPr>
        <p:spPr>
          <a:xfrm>
            <a:off x="1358767" y="5138927"/>
            <a:ext cx="2834640" cy="329184"/>
          </a:xfrm>
          <a:prstGeom prst="rect">
            <a:avLst/>
          </a:prstGeom>
          <a:noFill/>
          <a:ln/>
        </p:spPr>
        <p:txBody>
          <a:bodyPr wrap="square" lIns="25400" tIns="25400" rIns="25400" bIns="25400" rtlCol="0" anchor="ctr"/>
          <a:lstStyle/>
          <a:p>
            <a:pPr marL="0" indent="0" algn="ctr">
              <a:buNone/>
            </a:pPr>
            <a:r>
              <a:rPr lang="en-US" sz="940" dirty="0">
                <a:solidFill>
                  <a:srgbClr val="13293D"/>
                </a:solidFill>
                <a:latin typeface="Calibri" pitchFamily="34" charset="0"/>
                <a:ea typeface="Calibri" pitchFamily="34" charset="-122"/>
                <a:cs typeface="Calibri" pitchFamily="34" charset="-120"/>
              </a:rPr>
              <a:t>Generate QR parking pass</a:t>
            </a:r>
            <a:endParaRPr lang="en-US" sz="940" dirty="0"/>
          </a:p>
        </p:txBody>
      </p:sp>
      <p:sp>
        <p:nvSpPr>
          <p:cNvPr id="33" name="Shape 31"/>
          <p:cNvSpPr/>
          <p:nvPr/>
        </p:nvSpPr>
        <p:spPr>
          <a:xfrm>
            <a:off x="2776087" y="5468111"/>
            <a:ext cx="0" cy="82296"/>
          </a:xfrm>
          <a:prstGeom prst="line">
            <a:avLst/>
          </a:prstGeom>
          <a:noFill/>
          <a:ln w="19050">
            <a:solidFill>
              <a:srgbClr val="6E7B85"/>
            </a:solidFill>
            <a:prstDash val="solid"/>
            <a:tailEnd type="triangle"/>
          </a:ln>
        </p:spPr>
      </p:sp>
      <p:sp>
        <p:nvSpPr>
          <p:cNvPr id="34" name="Shape 32"/>
          <p:cNvSpPr/>
          <p:nvPr/>
        </p:nvSpPr>
        <p:spPr>
          <a:xfrm>
            <a:off x="1358767" y="5550407"/>
            <a:ext cx="2834640" cy="329184"/>
          </a:xfrm>
          <a:prstGeom prst="roundRect">
            <a:avLst>
              <a:gd name="adj" fmla="val 16667"/>
            </a:avLst>
          </a:prstGeom>
          <a:solidFill>
            <a:srgbClr val="F3F7F9"/>
          </a:solidFill>
          <a:ln w="12700">
            <a:solidFill>
              <a:srgbClr val="065A82"/>
            </a:solidFill>
            <a:prstDash val="solid"/>
          </a:ln>
        </p:spPr>
      </p:sp>
      <p:sp>
        <p:nvSpPr>
          <p:cNvPr id="35" name="Text 33"/>
          <p:cNvSpPr txBox="1"/>
          <p:nvPr/>
        </p:nvSpPr>
        <p:spPr>
          <a:xfrm>
            <a:off x="1358767" y="5550407"/>
            <a:ext cx="2834640" cy="329184"/>
          </a:xfrm>
          <a:prstGeom prst="rect">
            <a:avLst/>
          </a:prstGeom>
          <a:noFill/>
          <a:ln/>
        </p:spPr>
        <p:txBody>
          <a:bodyPr wrap="square" lIns="25400" tIns="25400" rIns="25400" bIns="25400" rtlCol="0" anchor="ctr"/>
          <a:lstStyle/>
          <a:p>
            <a:pPr marL="0" indent="0" algn="ctr">
              <a:buNone/>
            </a:pPr>
            <a:r>
              <a:rPr lang="en-US" sz="940" dirty="0">
                <a:solidFill>
                  <a:srgbClr val="13293D"/>
                </a:solidFill>
                <a:latin typeface="Calibri" pitchFamily="34" charset="0"/>
                <a:ea typeface="Calibri" pitchFamily="34" charset="-122"/>
                <a:cs typeface="Calibri" pitchFamily="34" charset="-120"/>
              </a:rPr>
              <a:t>Entry QR validation</a:t>
            </a:r>
            <a:endParaRPr lang="en-US" sz="940" dirty="0"/>
          </a:p>
        </p:txBody>
      </p:sp>
      <p:sp>
        <p:nvSpPr>
          <p:cNvPr id="36" name="Text 34"/>
          <p:cNvSpPr txBox="1"/>
          <p:nvPr/>
        </p:nvSpPr>
        <p:spPr>
          <a:xfrm>
            <a:off x="7406640" y="3639312"/>
            <a:ext cx="2834640" cy="219456"/>
          </a:xfrm>
          <a:prstGeom prst="rect">
            <a:avLst/>
          </a:prstGeom>
          <a:noFill/>
          <a:ln/>
        </p:spPr>
        <p:txBody>
          <a:bodyPr wrap="square" lIns="0" tIns="0" rIns="0" bIns="0" rtlCol="0" anchor="ctr"/>
          <a:lstStyle/>
          <a:p>
            <a:pPr marL="0" indent="0" algn="ctr">
              <a:buNone/>
            </a:pPr>
            <a:r>
              <a:rPr lang="en-US" sz="1000" b="1" dirty="0">
                <a:solidFill>
                  <a:srgbClr val="1C7293"/>
                </a:solidFill>
                <a:latin typeface="Calibri" pitchFamily="34" charset="0"/>
                <a:ea typeface="Calibri" pitchFamily="34" charset="-122"/>
                <a:cs typeface="Calibri" pitchFamily="34" charset="-120"/>
              </a:rPr>
              <a:t>OFF-PEAK PROCESS</a:t>
            </a:r>
            <a:endParaRPr lang="en-US" sz="1000" dirty="0"/>
          </a:p>
        </p:txBody>
      </p:sp>
      <p:sp>
        <p:nvSpPr>
          <p:cNvPr id="37" name="Shape 35"/>
          <p:cNvSpPr/>
          <p:nvPr/>
        </p:nvSpPr>
        <p:spPr>
          <a:xfrm>
            <a:off x="7406640" y="3913632"/>
            <a:ext cx="2834640" cy="329184"/>
          </a:xfrm>
          <a:prstGeom prst="roundRect">
            <a:avLst>
              <a:gd name="adj" fmla="val 16667"/>
            </a:avLst>
          </a:prstGeom>
          <a:solidFill>
            <a:srgbClr val="F3F7F9"/>
          </a:solidFill>
          <a:ln w="12700">
            <a:solidFill>
              <a:srgbClr val="1C7293"/>
            </a:solidFill>
            <a:prstDash val="solid"/>
          </a:ln>
        </p:spPr>
      </p:sp>
      <p:sp>
        <p:nvSpPr>
          <p:cNvPr id="38" name="Text 36"/>
          <p:cNvSpPr txBox="1"/>
          <p:nvPr/>
        </p:nvSpPr>
        <p:spPr>
          <a:xfrm>
            <a:off x="7406640" y="3913632"/>
            <a:ext cx="2834640" cy="329184"/>
          </a:xfrm>
          <a:prstGeom prst="rect">
            <a:avLst/>
          </a:prstGeom>
          <a:noFill/>
          <a:ln/>
        </p:spPr>
        <p:txBody>
          <a:bodyPr wrap="square" lIns="25400" tIns="25400" rIns="25400" bIns="25400" rtlCol="0" anchor="ctr"/>
          <a:lstStyle/>
          <a:p>
            <a:pPr marL="0" indent="0" algn="ctr">
              <a:buNone/>
            </a:pPr>
            <a:r>
              <a:rPr lang="en-US" sz="940" dirty="0">
                <a:solidFill>
                  <a:srgbClr val="13293D"/>
                </a:solidFill>
                <a:latin typeface="Calibri" pitchFamily="34" charset="0"/>
                <a:ea typeface="Calibri" pitchFamily="34" charset="-122"/>
                <a:cs typeface="Calibri" pitchFamily="34" charset="-120"/>
              </a:rPr>
              <a:t>Use available slot directly</a:t>
            </a:r>
            <a:endParaRPr lang="en-US" sz="940" dirty="0"/>
          </a:p>
        </p:txBody>
      </p:sp>
      <p:sp>
        <p:nvSpPr>
          <p:cNvPr id="39" name="Shape 37"/>
          <p:cNvSpPr/>
          <p:nvPr/>
        </p:nvSpPr>
        <p:spPr>
          <a:xfrm>
            <a:off x="8823960" y="4242816"/>
            <a:ext cx="0" cy="82296"/>
          </a:xfrm>
          <a:prstGeom prst="line">
            <a:avLst/>
          </a:prstGeom>
          <a:noFill/>
          <a:ln w="19050">
            <a:solidFill>
              <a:srgbClr val="6E7B85"/>
            </a:solidFill>
            <a:prstDash val="solid"/>
            <a:tailEnd type="triangle"/>
          </a:ln>
        </p:spPr>
      </p:sp>
      <p:sp>
        <p:nvSpPr>
          <p:cNvPr id="40" name="Shape 38"/>
          <p:cNvSpPr/>
          <p:nvPr/>
        </p:nvSpPr>
        <p:spPr>
          <a:xfrm>
            <a:off x="7406640" y="4325112"/>
            <a:ext cx="2834640" cy="329184"/>
          </a:xfrm>
          <a:prstGeom prst="roundRect">
            <a:avLst>
              <a:gd name="adj" fmla="val 16667"/>
            </a:avLst>
          </a:prstGeom>
          <a:solidFill>
            <a:srgbClr val="F3F7F9"/>
          </a:solidFill>
          <a:ln w="12700">
            <a:solidFill>
              <a:srgbClr val="1C7293"/>
            </a:solidFill>
            <a:prstDash val="solid"/>
          </a:ln>
        </p:spPr>
      </p:sp>
      <p:sp>
        <p:nvSpPr>
          <p:cNvPr id="41" name="Text 39"/>
          <p:cNvSpPr txBox="1"/>
          <p:nvPr/>
        </p:nvSpPr>
        <p:spPr>
          <a:xfrm>
            <a:off x="7406640" y="4325112"/>
            <a:ext cx="2834640" cy="329184"/>
          </a:xfrm>
          <a:prstGeom prst="rect">
            <a:avLst/>
          </a:prstGeom>
          <a:noFill/>
          <a:ln/>
        </p:spPr>
        <p:txBody>
          <a:bodyPr wrap="square" lIns="25400" tIns="25400" rIns="25400" bIns="25400" rtlCol="0" anchor="ctr"/>
          <a:lstStyle/>
          <a:p>
            <a:pPr marL="0" indent="0" algn="ctr">
              <a:buNone/>
            </a:pPr>
            <a:r>
              <a:rPr lang="en-US" sz="940" dirty="0">
                <a:solidFill>
                  <a:srgbClr val="13293D"/>
                </a:solidFill>
                <a:latin typeface="Calibri" pitchFamily="34" charset="0"/>
                <a:ea typeface="Calibri" pitchFamily="34" charset="-122"/>
                <a:cs typeface="Calibri" pitchFamily="34" charset="-120"/>
              </a:rPr>
              <a:t>No advance booking required</a:t>
            </a:r>
            <a:endParaRPr lang="en-US" sz="940" dirty="0"/>
          </a:p>
        </p:txBody>
      </p:sp>
      <p:sp>
        <p:nvSpPr>
          <p:cNvPr id="42" name="Shape 40"/>
          <p:cNvSpPr/>
          <p:nvPr/>
        </p:nvSpPr>
        <p:spPr>
          <a:xfrm>
            <a:off x="8823960" y="4654296"/>
            <a:ext cx="0" cy="82296"/>
          </a:xfrm>
          <a:prstGeom prst="line">
            <a:avLst/>
          </a:prstGeom>
          <a:noFill/>
          <a:ln w="19050">
            <a:solidFill>
              <a:srgbClr val="6E7B85"/>
            </a:solidFill>
            <a:prstDash val="solid"/>
            <a:tailEnd type="triangle"/>
          </a:ln>
        </p:spPr>
      </p:sp>
      <p:sp>
        <p:nvSpPr>
          <p:cNvPr id="43" name="Shape 41"/>
          <p:cNvSpPr/>
          <p:nvPr/>
        </p:nvSpPr>
        <p:spPr>
          <a:xfrm>
            <a:off x="7406640" y="4736592"/>
            <a:ext cx="2834640" cy="329184"/>
          </a:xfrm>
          <a:prstGeom prst="roundRect">
            <a:avLst>
              <a:gd name="adj" fmla="val 16667"/>
            </a:avLst>
          </a:prstGeom>
          <a:solidFill>
            <a:srgbClr val="F3F7F9"/>
          </a:solidFill>
          <a:ln w="12700">
            <a:solidFill>
              <a:srgbClr val="1C7293"/>
            </a:solidFill>
            <a:prstDash val="solid"/>
          </a:ln>
        </p:spPr>
      </p:sp>
      <p:sp>
        <p:nvSpPr>
          <p:cNvPr id="44" name="Text 42"/>
          <p:cNvSpPr txBox="1"/>
          <p:nvPr/>
        </p:nvSpPr>
        <p:spPr>
          <a:xfrm>
            <a:off x="7406640" y="4736592"/>
            <a:ext cx="2834640" cy="329184"/>
          </a:xfrm>
          <a:prstGeom prst="rect">
            <a:avLst/>
          </a:prstGeom>
          <a:noFill/>
          <a:ln/>
        </p:spPr>
        <p:txBody>
          <a:bodyPr wrap="square" lIns="25400" tIns="25400" rIns="25400" bIns="25400" rtlCol="0" anchor="ctr"/>
          <a:lstStyle/>
          <a:p>
            <a:pPr marL="0" indent="0" algn="ctr">
              <a:buNone/>
            </a:pPr>
            <a:r>
              <a:rPr lang="en-US" sz="940" dirty="0">
                <a:solidFill>
                  <a:srgbClr val="13293D"/>
                </a:solidFill>
                <a:latin typeface="Calibri" pitchFamily="34" charset="0"/>
                <a:ea typeface="Calibri" pitchFamily="34" charset="-122"/>
                <a:cs typeface="Calibri" pitchFamily="34" charset="-120"/>
              </a:rPr>
              <a:t>Sensor detects vehicle</a:t>
            </a:r>
            <a:endParaRPr lang="en-US" sz="940" dirty="0"/>
          </a:p>
        </p:txBody>
      </p:sp>
      <p:sp>
        <p:nvSpPr>
          <p:cNvPr id="45" name="Shape 43"/>
          <p:cNvSpPr/>
          <p:nvPr/>
        </p:nvSpPr>
        <p:spPr>
          <a:xfrm>
            <a:off x="8823960" y="5065776"/>
            <a:ext cx="0" cy="82296"/>
          </a:xfrm>
          <a:prstGeom prst="line">
            <a:avLst/>
          </a:prstGeom>
          <a:noFill/>
          <a:ln w="19050">
            <a:solidFill>
              <a:srgbClr val="6E7B85"/>
            </a:solidFill>
            <a:prstDash val="solid"/>
            <a:tailEnd type="triangle"/>
          </a:ln>
        </p:spPr>
      </p:sp>
      <p:sp>
        <p:nvSpPr>
          <p:cNvPr id="46" name="Shape 44"/>
          <p:cNvSpPr/>
          <p:nvPr/>
        </p:nvSpPr>
        <p:spPr>
          <a:xfrm>
            <a:off x="7406640" y="5148072"/>
            <a:ext cx="2834640" cy="329184"/>
          </a:xfrm>
          <a:prstGeom prst="roundRect">
            <a:avLst>
              <a:gd name="adj" fmla="val 16667"/>
            </a:avLst>
          </a:prstGeom>
          <a:solidFill>
            <a:srgbClr val="F3F7F9"/>
          </a:solidFill>
          <a:ln w="12700">
            <a:solidFill>
              <a:srgbClr val="1C7293"/>
            </a:solidFill>
            <a:prstDash val="solid"/>
          </a:ln>
        </p:spPr>
      </p:sp>
      <p:sp>
        <p:nvSpPr>
          <p:cNvPr id="47" name="Text 45"/>
          <p:cNvSpPr txBox="1"/>
          <p:nvPr/>
        </p:nvSpPr>
        <p:spPr>
          <a:xfrm>
            <a:off x="7406640" y="5148072"/>
            <a:ext cx="2834640" cy="329184"/>
          </a:xfrm>
          <a:prstGeom prst="rect">
            <a:avLst/>
          </a:prstGeom>
          <a:noFill/>
          <a:ln/>
        </p:spPr>
        <p:txBody>
          <a:bodyPr wrap="square" lIns="25400" tIns="25400" rIns="25400" bIns="25400" rtlCol="0" anchor="ctr"/>
          <a:lstStyle/>
          <a:p>
            <a:pPr marL="0" indent="0" algn="ctr">
              <a:buNone/>
            </a:pPr>
            <a:r>
              <a:rPr lang="en-US" sz="940" dirty="0">
                <a:solidFill>
                  <a:srgbClr val="13293D"/>
                </a:solidFill>
                <a:latin typeface="Calibri" pitchFamily="34" charset="0"/>
                <a:ea typeface="Calibri" pitchFamily="34" charset="-122"/>
                <a:cs typeface="Calibri" pitchFamily="34" charset="-120"/>
              </a:rPr>
              <a:t>Slot marked OCCUPIED</a:t>
            </a:r>
            <a:endParaRPr lang="en-US" sz="940" dirty="0"/>
          </a:p>
        </p:txBody>
      </p:sp>
      <p:sp>
        <p:nvSpPr>
          <p:cNvPr id="48" name="Shape 46"/>
          <p:cNvSpPr/>
          <p:nvPr/>
        </p:nvSpPr>
        <p:spPr>
          <a:xfrm>
            <a:off x="2792931" y="5879591"/>
            <a:ext cx="0" cy="201168"/>
          </a:xfrm>
          <a:prstGeom prst="line">
            <a:avLst/>
          </a:prstGeom>
          <a:noFill/>
          <a:ln w="19050">
            <a:solidFill>
              <a:srgbClr val="6E7B85"/>
            </a:solidFill>
            <a:prstDash val="solid"/>
          </a:ln>
        </p:spPr>
      </p:sp>
      <p:sp>
        <p:nvSpPr>
          <p:cNvPr id="49" name="Shape 47"/>
          <p:cNvSpPr/>
          <p:nvPr/>
        </p:nvSpPr>
        <p:spPr>
          <a:xfrm>
            <a:off x="8823960" y="5477256"/>
            <a:ext cx="0" cy="612648"/>
          </a:xfrm>
          <a:prstGeom prst="line">
            <a:avLst/>
          </a:prstGeom>
          <a:noFill/>
          <a:ln w="19050">
            <a:solidFill>
              <a:srgbClr val="6E7B85"/>
            </a:solidFill>
            <a:prstDash val="solid"/>
          </a:ln>
        </p:spPr>
      </p:sp>
      <p:sp>
        <p:nvSpPr>
          <p:cNvPr id="50" name="Shape 48"/>
          <p:cNvSpPr/>
          <p:nvPr/>
        </p:nvSpPr>
        <p:spPr>
          <a:xfrm>
            <a:off x="2776086" y="6089904"/>
            <a:ext cx="6047873" cy="0"/>
          </a:xfrm>
          <a:prstGeom prst="line">
            <a:avLst/>
          </a:prstGeom>
          <a:noFill/>
          <a:ln w="19050">
            <a:solidFill>
              <a:srgbClr val="6E7B85"/>
            </a:solidFill>
            <a:prstDash val="solid"/>
          </a:ln>
        </p:spPr>
      </p:sp>
      <p:sp>
        <p:nvSpPr>
          <p:cNvPr id="51" name="Shape 49"/>
          <p:cNvSpPr/>
          <p:nvPr/>
        </p:nvSpPr>
        <p:spPr>
          <a:xfrm>
            <a:off x="6080760" y="6089904"/>
            <a:ext cx="0" cy="146304"/>
          </a:xfrm>
          <a:prstGeom prst="line">
            <a:avLst/>
          </a:prstGeom>
          <a:noFill/>
          <a:ln w="19050">
            <a:solidFill>
              <a:srgbClr val="6E7B85"/>
            </a:solidFill>
            <a:prstDash val="solid"/>
            <a:tailEnd type="triangle"/>
          </a:ln>
        </p:spPr>
      </p:sp>
      <p:sp>
        <p:nvSpPr>
          <p:cNvPr id="52" name="Shape 50"/>
          <p:cNvSpPr/>
          <p:nvPr/>
        </p:nvSpPr>
        <p:spPr>
          <a:xfrm>
            <a:off x="4663440" y="6236208"/>
            <a:ext cx="2834640" cy="530352"/>
          </a:xfrm>
          <a:prstGeom prst="roundRect">
            <a:avLst>
              <a:gd name="adj" fmla="val 10345"/>
            </a:avLst>
          </a:prstGeom>
          <a:solidFill>
            <a:srgbClr val="21295C"/>
          </a:solidFill>
          <a:ln w="12700">
            <a:solidFill>
              <a:srgbClr val="DCE6EA"/>
            </a:solidFill>
            <a:prstDash val="solid"/>
          </a:ln>
        </p:spPr>
      </p:sp>
      <p:sp>
        <p:nvSpPr>
          <p:cNvPr id="53" name="Text 51"/>
          <p:cNvSpPr txBox="1"/>
          <p:nvPr/>
        </p:nvSpPr>
        <p:spPr>
          <a:xfrm>
            <a:off x="4663440" y="6236208"/>
            <a:ext cx="2834640" cy="530352"/>
          </a:xfrm>
          <a:prstGeom prst="rect">
            <a:avLst/>
          </a:prstGeom>
          <a:noFill/>
          <a:ln/>
        </p:spPr>
        <p:txBody>
          <a:bodyPr wrap="square" lIns="25400" tIns="25400" rIns="25400" bIns="2540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Duration tracked → exit → fare + penalty (if any) − deposit adjustment → receipt → slot AVAILABLE</a:t>
            </a:r>
            <a:endParaRPr lang="en-US" sz="900" dirty="0"/>
          </a:p>
        </p:txBody>
      </p:sp>
      <p:sp>
        <p:nvSpPr>
          <p:cNvPr id="54" name="Text 52"/>
          <p:cNvSpPr txBox="1"/>
          <p:nvPr/>
        </p:nvSpPr>
        <p:spPr>
          <a:xfrm>
            <a:off x="11277295" y="6446520"/>
            <a:ext cx="731520" cy="274320"/>
          </a:xfrm>
          <a:prstGeom prst="rect">
            <a:avLst/>
          </a:prstGeom>
          <a:noFill/>
          <a:ln/>
        </p:spPr>
        <p:txBody>
          <a:bodyPr wrap="square" lIns="0" tIns="0" rIns="0" bIns="0" rtlCol="0" anchor="ctr"/>
          <a:lstStyle/>
          <a:p>
            <a:pPr marL="0" indent="0" algn="r">
              <a:buNone/>
            </a:pPr>
            <a:r>
              <a:rPr lang="en-US" sz="1000" dirty="0">
                <a:solidFill>
                  <a:srgbClr val="6E7B85"/>
                </a:solidFill>
                <a:latin typeface="Calibri" pitchFamily="34" charset="0"/>
                <a:ea typeface="Calibri" pitchFamily="34" charset="-122"/>
                <a:cs typeface="Calibri" pitchFamily="34" charset="-120"/>
              </a:rPr>
              <a:t>4 / 8</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marL="0" indent="0">
              <a:buNone/>
            </a:pPr>
            <a:r>
              <a:rPr lang="en-US" sz="1300" b="1" kern="0" spc="200" dirty="0">
                <a:solidFill>
                  <a:srgbClr val="1C7293"/>
                </a:solidFill>
                <a:latin typeface="Times New Roman" panose="02020603050405020304" pitchFamily="18" charset="0"/>
                <a:ea typeface="Calibri" pitchFamily="34" charset="-122"/>
                <a:cs typeface="Times New Roman" panose="02020603050405020304" pitchFamily="18" charset="0"/>
              </a:rPr>
              <a:t>PROGRESS REPORT</a:t>
            </a:r>
            <a:endParaRPr lang="en-US" sz="1300" dirty="0">
              <a:latin typeface="Times New Roman" panose="02020603050405020304" pitchFamily="18" charset="0"/>
              <a:cs typeface="Times New Roman" panose="02020603050405020304" pitchFamily="18" charset="0"/>
            </a:endParaRPr>
          </a:p>
        </p:txBody>
      </p:sp>
      <p:sp>
        <p:nvSpPr>
          <p:cNvPr id="3" name="Text 1"/>
          <p:cNvSpPr txBox="1"/>
          <p:nvPr/>
        </p:nvSpPr>
        <p:spPr>
          <a:xfrm>
            <a:off x="548640" y="658368"/>
            <a:ext cx="10789920" cy="640080"/>
          </a:xfrm>
          <a:prstGeom prst="rect">
            <a:avLst/>
          </a:prstGeom>
          <a:noFill/>
          <a:ln/>
        </p:spPr>
        <p:txBody>
          <a:bodyPr wrap="square" lIns="0" tIns="0" rIns="0" bIns="0" rtlCol="0" anchor="ctr"/>
          <a:lstStyle/>
          <a:p>
            <a:pPr marL="0" indent="0">
              <a:buNone/>
            </a:pPr>
            <a:r>
              <a:rPr lang="en-US" sz="3200" b="1" dirty="0">
                <a:solidFill>
                  <a:srgbClr val="021024"/>
                </a:solidFill>
                <a:latin typeface="Times New Roman" panose="02020603050405020304" pitchFamily="18" charset="0"/>
                <a:ea typeface="Cambria" pitchFamily="34" charset="-122"/>
                <a:cs typeface="Times New Roman" panose="02020603050405020304" pitchFamily="18" charset="0"/>
              </a:rPr>
              <a:t>Work Completed So Far</a:t>
            </a:r>
            <a:endParaRPr lang="en-US" sz="3200" dirty="0">
              <a:latin typeface="Times New Roman" panose="02020603050405020304" pitchFamily="18" charset="0"/>
              <a:cs typeface="Times New Roman" panose="02020603050405020304" pitchFamily="18" charset="0"/>
            </a:endParaRPr>
          </a:p>
        </p:txBody>
      </p:sp>
      <p:sp>
        <p:nvSpPr>
          <p:cNvPr id="4" name="Shape 2"/>
          <p:cNvSpPr/>
          <p:nvPr/>
        </p:nvSpPr>
        <p:spPr>
          <a:xfrm>
            <a:off x="9700684" y="539496"/>
            <a:ext cx="1925912" cy="502920"/>
          </a:xfrm>
          <a:prstGeom prst="roundRect">
            <a:avLst>
              <a:gd name="adj" fmla="val 50000"/>
            </a:avLst>
          </a:prstGeom>
          <a:solidFill>
            <a:srgbClr val="2E9E6E"/>
          </a:solidFill>
          <a:ln/>
        </p:spPr>
      </p:sp>
      <p:sp>
        <p:nvSpPr>
          <p:cNvPr id="5" name="Text 3"/>
          <p:cNvSpPr txBox="1"/>
          <p:nvPr/>
        </p:nvSpPr>
        <p:spPr>
          <a:xfrm>
            <a:off x="9729216" y="539496"/>
            <a:ext cx="1897380" cy="502920"/>
          </a:xfrm>
          <a:prstGeom prst="rect">
            <a:avLst/>
          </a:prstGeom>
          <a:noFill/>
          <a:ln/>
        </p:spPr>
        <p:txBody>
          <a:bodyPr wrap="square" lIns="0" tIns="0" rIns="0" bIns="0" rtlCol="0" anchor="ctr"/>
          <a:lstStyle/>
          <a:p>
            <a:pPr marL="0" indent="0" algn="ctr">
              <a:buNone/>
            </a:pPr>
            <a:r>
              <a:rPr lang="en-US" sz="1050" b="1" dirty="0">
                <a:solidFill>
                  <a:srgbClr val="FFFFFF"/>
                </a:solidFill>
                <a:latin typeface="Times New Roman" panose="02020603050405020304" pitchFamily="18" charset="0"/>
                <a:ea typeface="Calibri" pitchFamily="34" charset="-122"/>
                <a:cs typeface="Times New Roman" panose="02020603050405020304" pitchFamily="18" charset="0"/>
              </a:rPr>
              <a:t>COMPLETED</a:t>
            </a:r>
            <a:endParaRPr lang="en-US" sz="1050" dirty="0">
              <a:latin typeface="Times New Roman" panose="02020603050405020304" pitchFamily="18" charset="0"/>
              <a:cs typeface="Times New Roman" panose="02020603050405020304" pitchFamily="18" charset="0"/>
            </a:endParaRPr>
          </a:p>
        </p:txBody>
      </p:sp>
      <p:sp>
        <p:nvSpPr>
          <p:cNvPr id="6" name="Shape 4"/>
          <p:cNvSpPr/>
          <p:nvPr/>
        </p:nvSpPr>
        <p:spPr>
          <a:xfrm>
            <a:off x="548640" y="1463040"/>
            <a:ext cx="2157984" cy="4297680"/>
          </a:xfrm>
          <a:prstGeom prst="roundRect">
            <a:avLst>
              <a:gd name="adj" fmla="val 3390"/>
            </a:avLst>
          </a:prstGeom>
          <a:solidFill>
            <a:srgbClr val="F3F7F9"/>
          </a:solidFill>
          <a:ln w="12700">
            <a:solidFill>
              <a:srgbClr val="DCE6EA"/>
            </a:solidFill>
            <a:prstDash val="solid"/>
          </a:ln>
        </p:spPr>
      </p:sp>
      <p:sp>
        <p:nvSpPr>
          <p:cNvPr id="7" name="Shape 5"/>
          <p:cNvSpPr/>
          <p:nvPr/>
        </p:nvSpPr>
        <p:spPr>
          <a:xfrm>
            <a:off x="548640" y="1463040"/>
            <a:ext cx="2157984" cy="777240"/>
          </a:xfrm>
          <a:prstGeom prst="roundRect">
            <a:avLst>
              <a:gd name="adj" fmla="val 9412"/>
            </a:avLst>
          </a:prstGeom>
          <a:solidFill>
            <a:srgbClr val="065A82"/>
          </a:solidFill>
          <a:ln/>
        </p:spPr>
      </p:sp>
      <p:sp>
        <p:nvSpPr>
          <p:cNvPr id="8" name="Shape 6"/>
          <p:cNvSpPr/>
          <p:nvPr/>
        </p:nvSpPr>
        <p:spPr>
          <a:xfrm>
            <a:off x="548640" y="1856232"/>
            <a:ext cx="2157984" cy="566928"/>
          </a:xfrm>
          <a:prstGeom prst="rect">
            <a:avLst/>
          </a:prstGeom>
          <a:solidFill>
            <a:srgbClr val="065A82"/>
          </a:solidFill>
          <a:ln/>
        </p:spPr>
      </p:sp>
      <p:pic>
        <p:nvPicPr>
          <p:cNvPr id="9" name="Image 0" descr="/home/claude/parkease/icons/idea.png"/>
          <p:cNvPicPr>
            <a:picLocks noChangeAspect="1"/>
          </p:cNvPicPr>
          <p:nvPr/>
        </p:nvPicPr>
        <p:blipFill>
          <a:blip r:embed="rId3"/>
          <a:stretch>
            <a:fillRect/>
          </a:stretch>
        </p:blipFill>
        <p:spPr>
          <a:xfrm>
            <a:off x="1371600" y="1572768"/>
            <a:ext cx="512064" cy="512064"/>
          </a:xfrm>
          <a:prstGeom prst="rect">
            <a:avLst/>
          </a:prstGeom>
        </p:spPr>
      </p:pic>
      <p:sp>
        <p:nvSpPr>
          <p:cNvPr id="10" name="Text 7"/>
          <p:cNvSpPr txBox="1"/>
          <p:nvPr/>
        </p:nvSpPr>
        <p:spPr>
          <a:xfrm>
            <a:off x="621792" y="2084832"/>
            <a:ext cx="2011680" cy="457200"/>
          </a:xfrm>
          <a:prstGeom prst="rect">
            <a:avLst/>
          </a:prstGeom>
          <a:noFill/>
          <a:ln/>
        </p:spPr>
        <p:txBody>
          <a:bodyPr wrap="square" lIns="0" tIns="0" rIns="0" bIns="0" rtlCol="0" anchor="t"/>
          <a:lstStyle/>
          <a:p>
            <a:pPr marL="0" indent="0" algn="ctr">
              <a:buNone/>
            </a:pPr>
            <a:r>
              <a:rPr lang="en-US" sz="1600" b="1" dirty="0">
                <a:solidFill>
                  <a:srgbClr val="FFFFFF"/>
                </a:solidFill>
                <a:latin typeface="Times New Roman" panose="02020603050405020304" pitchFamily="18" charset="0"/>
                <a:ea typeface="Calibri" pitchFamily="34" charset="-122"/>
                <a:cs typeface="Times New Roman" panose="02020603050405020304" pitchFamily="18" charset="0"/>
              </a:rPr>
              <a:t>Project Planning</a:t>
            </a:r>
            <a:endParaRPr lang="en-US" sz="1050" dirty="0">
              <a:latin typeface="Times New Roman" panose="02020603050405020304" pitchFamily="18" charset="0"/>
              <a:cs typeface="Times New Roman" panose="02020603050405020304" pitchFamily="18" charset="0"/>
            </a:endParaRPr>
          </a:p>
        </p:txBody>
      </p:sp>
      <p:sp>
        <p:nvSpPr>
          <p:cNvPr id="11" name="Text 8"/>
          <p:cNvSpPr txBox="1"/>
          <p:nvPr/>
        </p:nvSpPr>
        <p:spPr>
          <a:xfrm>
            <a:off x="713232" y="2697480"/>
            <a:ext cx="2051304" cy="2926080"/>
          </a:xfrm>
          <a:prstGeom prst="rect">
            <a:avLst/>
          </a:prstGeom>
          <a:noFill/>
          <a:ln/>
        </p:spPr>
        <p:txBody>
          <a:bodyPr wrap="square" lIns="0" tIns="0" rIns="0" bIns="0" rtlCol="0" anchor="t"/>
          <a:lstStyle/>
          <a:p>
            <a:pPr marL="152400" indent="-152400">
              <a:lnSpc>
                <a:spcPct val="112000"/>
              </a:lnSpc>
              <a:buSzPct val="100000"/>
              <a:buChar char="✦"/>
            </a:pPr>
            <a:r>
              <a:rPr lang="en-US" sz="1600" dirty="0">
                <a:solidFill>
                  <a:srgbClr val="13293D"/>
                </a:solidFill>
                <a:latin typeface="Times New Roman" panose="02020603050405020304" pitchFamily="18" charset="0"/>
                <a:ea typeface="Calibri" pitchFamily="34" charset="-122"/>
                <a:cs typeface="Times New Roman" panose="02020603050405020304" pitchFamily="18" charset="0"/>
              </a:rPr>
              <a:t>Idea finalized: hybrid peak/off-peak model</a:t>
            </a:r>
          </a:p>
          <a:p>
            <a:pPr>
              <a:lnSpc>
                <a:spcPct val="112000"/>
              </a:lnSpc>
              <a:buSzPct val="100000"/>
            </a:pPr>
            <a:endParaRPr lang="en-US" sz="1600" dirty="0">
              <a:latin typeface="Times New Roman" panose="02020603050405020304" pitchFamily="18" charset="0"/>
              <a:cs typeface="Times New Roman" panose="02020603050405020304" pitchFamily="18" charset="0"/>
            </a:endParaRPr>
          </a:p>
          <a:p>
            <a:pPr marL="152400" indent="-152400">
              <a:lnSpc>
                <a:spcPct val="112000"/>
              </a:lnSpc>
              <a:buSzPct val="100000"/>
              <a:buChar char="✦"/>
            </a:pPr>
            <a:r>
              <a:rPr lang="en-US" sz="1600" dirty="0">
                <a:solidFill>
                  <a:srgbClr val="13293D"/>
                </a:solidFill>
                <a:latin typeface="Times New Roman" panose="02020603050405020304" pitchFamily="18" charset="0"/>
                <a:ea typeface="Calibri" pitchFamily="34" charset="-122"/>
                <a:cs typeface="Times New Roman" panose="02020603050405020304" pitchFamily="18" charset="0"/>
              </a:rPr>
              <a:t>Complete parking lifecycle designed conceptually</a:t>
            </a:r>
            <a:endParaRPr lang="en-US" sz="1600" dirty="0">
              <a:latin typeface="Times New Roman" panose="02020603050405020304" pitchFamily="18" charset="0"/>
              <a:cs typeface="Times New Roman" panose="02020603050405020304" pitchFamily="18" charset="0"/>
            </a:endParaRPr>
          </a:p>
        </p:txBody>
      </p:sp>
      <p:sp>
        <p:nvSpPr>
          <p:cNvPr id="12" name="Shape 9"/>
          <p:cNvSpPr/>
          <p:nvPr/>
        </p:nvSpPr>
        <p:spPr>
          <a:xfrm>
            <a:off x="2843784" y="1463040"/>
            <a:ext cx="2157984" cy="4297680"/>
          </a:xfrm>
          <a:prstGeom prst="roundRect">
            <a:avLst>
              <a:gd name="adj" fmla="val 3390"/>
            </a:avLst>
          </a:prstGeom>
          <a:solidFill>
            <a:srgbClr val="F3F7F9"/>
          </a:solidFill>
          <a:ln w="12700">
            <a:solidFill>
              <a:srgbClr val="DCE6EA"/>
            </a:solidFill>
            <a:prstDash val="solid"/>
          </a:ln>
        </p:spPr>
      </p:sp>
      <p:sp>
        <p:nvSpPr>
          <p:cNvPr id="13" name="Shape 10"/>
          <p:cNvSpPr/>
          <p:nvPr/>
        </p:nvSpPr>
        <p:spPr>
          <a:xfrm>
            <a:off x="2843784" y="1463040"/>
            <a:ext cx="2157984" cy="960120"/>
          </a:xfrm>
          <a:prstGeom prst="roundRect">
            <a:avLst>
              <a:gd name="adj" fmla="val 9412"/>
            </a:avLst>
          </a:prstGeom>
          <a:solidFill>
            <a:srgbClr val="065A82"/>
          </a:solidFill>
          <a:ln/>
        </p:spPr>
      </p:sp>
      <p:sp>
        <p:nvSpPr>
          <p:cNvPr id="14" name="Shape 11"/>
          <p:cNvSpPr/>
          <p:nvPr/>
        </p:nvSpPr>
        <p:spPr>
          <a:xfrm>
            <a:off x="2843784" y="1856232"/>
            <a:ext cx="2157984" cy="384048"/>
          </a:xfrm>
          <a:prstGeom prst="rect">
            <a:avLst/>
          </a:prstGeom>
          <a:solidFill>
            <a:srgbClr val="065A82"/>
          </a:solidFill>
          <a:ln/>
        </p:spPr>
      </p:sp>
      <p:pic>
        <p:nvPicPr>
          <p:cNvPr id="15" name="Image 1" descr="/home/claude/parkease/icons/clipboard.png"/>
          <p:cNvPicPr>
            <a:picLocks noChangeAspect="1"/>
          </p:cNvPicPr>
          <p:nvPr/>
        </p:nvPicPr>
        <p:blipFill>
          <a:blip r:embed="rId4"/>
          <a:stretch>
            <a:fillRect/>
          </a:stretch>
        </p:blipFill>
        <p:spPr>
          <a:xfrm>
            <a:off x="3666744" y="1572768"/>
            <a:ext cx="512064" cy="512064"/>
          </a:xfrm>
          <a:prstGeom prst="rect">
            <a:avLst/>
          </a:prstGeom>
        </p:spPr>
      </p:pic>
      <p:sp>
        <p:nvSpPr>
          <p:cNvPr id="16" name="Text 12"/>
          <p:cNvSpPr txBox="1"/>
          <p:nvPr/>
        </p:nvSpPr>
        <p:spPr>
          <a:xfrm>
            <a:off x="2916936" y="2084832"/>
            <a:ext cx="2011680" cy="457200"/>
          </a:xfrm>
          <a:prstGeom prst="rect">
            <a:avLst/>
          </a:prstGeom>
          <a:noFill/>
          <a:ln/>
        </p:spPr>
        <p:txBody>
          <a:bodyPr wrap="square" lIns="0" tIns="0" rIns="0" bIns="0" rtlCol="0" anchor="t"/>
          <a:lstStyle/>
          <a:p>
            <a:pPr marL="0" indent="0" algn="ctr">
              <a:buNone/>
            </a:pPr>
            <a:r>
              <a:rPr lang="en-US" sz="1600" b="1" dirty="0">
                <a:solidFill>
                  <a:srgbClr val="FFFFFF"/>
                </a:solidFill>
                <a:latin typeface="Times New Roman" panose="02020603050405020304" pitchFamily="18" charset="0"/>
                <a:ea typeface="Calibri" pitchFamily="34" charset="-122"/>
                <a:cs typeface="Times New Roman" panose="02020603050405020304" pitchFamily="18" charset="0"/>
              </a:rPr>
              <a:t>Requirement Analysis</a:t>
            </a:r>
            <a:endParaRPr lang="en-US" sz="1600" dirty="0">
              <a:latin typeface="Times New Roman" panose="02020603050405020304" pitchFamily="18" charset="0"/>
              <a:cs typeface="Times New Roman" panose="02020603050405020304" pitchFamily="18" charset="0"/>
            </a:endParaRPr>
          </a:p>
        </p:txBody>
      </p:sp>
      <p:sp>
        <p:nvSpPr>
          <p:cNvPr id="17" name="Text 13"/>
          <p:cNvSpPr txBox="1"/>
          <p:nvPr/>
        </p:nvSpPr>
        <p:spPr>
          <a:xfrm>
            <a:off x="3008376" y="2697480"/>
            <a:ext cx="1828800" cy="2926080"/>
          </a:xfrm>
          <a:prstGeom prst="rect">
            <a:avLst/>
          </a:prstGeom>
          <a:noFill/>
          <a:ln/>
        </p:spPr>
        <p:txBody>
          <a:bodyPr wrap="square" lIns="0" tIns="0" rIns="0" bIns="0" rtlCol="0" anchor="t"/>
          <a:lstStyle/>
          <a:p>
            <a:pPr marL="152400" indent="-152400">
              <a:lnSpc>
                <a:spcPct val="112000"/>
              </a:lnSpc>
              <a:buSzPct val="100000"/>
              <a:buChar char="✦"/>
            </a:pPr>
            <a:r>
              <a:rPr lang="en-US" sz="1600" dirty="0">
                <a:solidFill>
                  <a:srgbClr val="13293D"/>
                </a:solidFill>
                <a:latin typeface="Times New Roman" panose="02020603050405020304" pitchFamily="18" charset="0"/>
                <a:ea typeface="Calibri" pitchFamily="34" charset="-122"/>
                <a:cs typeface="Times New Roman" panose="02020603050405020304" pitchFamily="18" charset="0"/>
              </a:rPr>
              <a:t>User, availability &amp; reservation requirements defined</a:t>
            </a:r>
          </a:p>
          <a:p>
            <a:pPr marL="152400" indent="-152400">
              <a:lnSpc>
                <a:spcPct val="112000"/>
              </a:lnSpc>
              <a:buSzPct val="100000"/>
              <a:buChar char="✦"/>
            </a:pPr>
            <a:endParaRPr lang="en-US" sz="1600" dirty="0">
              <a:latin typeface="Times New Roman" panose="02020603050405020304" pitchFamily="18" charset="0"/>
              <a:cs typeface="Times New Roman" panose="02020603050405020304" pitchFamily="18" charset="0"/>
            </a:endParaRPr>
          </a:p>
          <a:p>
            <a:pPr marL="152400" indent="-152400">
              <a:lnSpc>
                <a:spcPct val="112000"/>
              </a:lnSpc>
              <a:buSzPct val="100000"/>
              <a:buChar char="✦"/>
            </a:pPr>
            <a:r>
              <a:rPr lang="en-US" sz="1600" dirty="0">
                <a:solidFill>
                  <a:srgbClr val="13293D"/>
                </a:solidFill>
                <a:latin typeface="Times New Roman" panose="02020603050405020304" pitchFamily="18" charset="0"/>
                <a:ea typeface="Calibri" pitchFamily="34" charset="-122"/>
                <a:cs typeface="Times New Roman" panose="02020603050405020304" pitchFamily="18" charset="0"/>
              </a:rPr>
              <a:t>Deposit, QR pass, fare &amp; penalty concepts defined</a:t>
            </a:r>
            <a:endParaRPr lang="en-US" sz="1600" dirty="0">
              <a:latin typeface="Times New Roman" panose="02020603050405020304" pitchFamily="18" charset="0"/>
              <a:cs typeface="Times New Roman" panose="02020603050405020304" pitchFamily="18" charset="0"/>
            </a:endParaRPr>
          </a:p>
        </p:txBody>
      </p:sp>
      <p:sp>
        <p:nvSpPr>
          <p:cNvPr id="18" name="Shape 14"/>
          <p:cNvSpPr/>
          <p:nvPr/>
        </p:nvSpPr>
        <p:spPr>
          <a:xfrm>
            <a:off x="5138928" y="1463040"/>
            <a:ext cx="2157984" cy="4297680"/>
          </a:xfrm>
          <a:prstGeom prst="roundRect">
            <a:avLst>
              <a:gd name="adj" fmla="val 3390"/>
            </a:avLst>
          </a:prstGeom>
          <a:solidFill>
            <a:srgbClr val="F3F7F9"/>
          </a:solidFill>
          <a:ln w="12700">
            <a:solidFill>
              <a:srgbClr val="DCE6EA"/>
            </a:solidFill>
            <a:prstDash val="solid"/>
          </a:ln>
        </p:spPr>
      </p:sp>
      <p:sp>
        <p:nvSpPr>
          <p:cNvPr id="19" name="Shape 15"/>
          <p:cNvSpPr/>
          <p:nvPr/>
        </p:nvSpPr>
        <p:spPr>
          <a:xfrm>
            <a:off x="5138928" y="1463040"/>
            <a:ext cx="2157984" cy="960120"/>
          </a:xfrm>
          <a:prstGeom prst="roundRect">
            <a:avLst>
              <a:gd name="adj" fmla="val 9412"/>
            </a:avLst>
          </a:prstGeom>
          <a:solidFill>
            <a:srgbClr val="065A82"/>
          </a:solidFill>
          <a:ln/>
        </p:spPr>
      </p:sp>
      <p:sp>
        <p:nvSpPr>
          <p:cNvPr id="20" name="Shape 16"/>
          <p:cNvSpPr/>
          <p:nvPr/>
        </p:nvSpPr>
        <p:spPr>
          <a:xfrm>
            <a:off x="5138928" y="1828800"/>
            <a:ext cx="2157984" cy="384048"/>
          </a:xfrm>
          <a:prstGeom prst="rect">
            <a:avLst/>
          </a:prstGeom>
          <a:solidFill>
            <a:srgbClr val="065A82"/>
          </a:solidFill>
          <a:ln/>
        </p:spPr>
      </p:sp>
      <p:pic>
        <p:nvPicPr>
          <p:cNvPr id="21" name="Image 2" descr="/home/claude/parkease/icons/code.png"/>
          <p:cNvPicPr>
            <a:picLocks noChangeAspect="1"/>
          </p:cNvPicPr>
          <p:nvPr/>
        </p:nvPicPr>
        <p:blipFill>
          <a:blip r:embed="rId5"/>
          <a:stretch>
            <a:fillRect/>
          </a:stretch>
        </p:blipFill>
        <p:spPr>
          <a:xfrm>
            <a:off x="5961888" y="1572768"/>
            <a:ext cx="512064" cy="512064"/>
          </a:xfrm>
          <a:prstGeom prst="rect">
            <a:avLst/>
          </a:prstGeom>
        </p:spPr>
      </p:pic>
      <p:sp>
        <p:nvSpPr>
          <p:cNvPr id="22" name="Text 17"/>
          <p:cNvSpPr txBox="1"/>
          <p:nvPr/>
        </p:nvSpPr>
        <p:spPr>
          <a:xfrm>
            <a:off x="5138928" y="2084832"/>
            <a:ext cx="2157984" cy="457200"/>
          </a:xfrm>
          <a:prstGeom prst="rect">
            <a:avLst/>
          </a:prstGeom>
          <a:noFill/>
          <a:ln/>
        </p:spPr>
        <p:txBody>
          <a:bodyPr wrap="square" lIns="0" tIns="0" rIns="0" bIns="0" rtlCol="0" anchor="t"/>
          <a:lstStyle/>
          <a:p>
            <a:pPr marL="0" indent="0" algn="ctr">
              <a:buNone/>
            </a:pPr>
            <a:r>
              <a:rPr lang="en-US" sz="1600" b="1" dirty="0">
                <a:solidFill>
                  <a:srgbClr val="FFFFFF"/>
                </a:solidFill>
                <a:latin typeface="Times New Roman" panose="02020603050405020304" pitchFamily="18" charset="0"/>
                <a:ea typeface="Calibri" pitchFamily="34" charset="-122"/>
                <a:cs typeface="Times New Roman" panose="02020603050405020304" pitchFamily="18" charset="0"/>
              </a:rPr>
              <a:t>Front-End Development</a:t>
            </a:r>
            <a:endParaRPr lang="en-US" sz="1600" dirty="0">
              <a:latin typeface="Times New Roman" panose="02020603050405020304" pitchFamily="18" charset="0"/>
              <a:cs typeface="Times New Roman" panose="02020603050405020304" pitchFamily="18" charset="0"/>
            </a:endParaRPr>
          </a:p>
        </p:txBody>
      </p:sp>
      <p:sp>
        <p:nvSpPr>
          <p:cNvPr id="23" name="Text 18"/>
          <p:cNvSpPr txBox="1"/>
          <p:nvPr/>
        </p:nvSpPr>
        <p:spPr>
          <a:xfrm>
            <a:off x="5303520" y="2697480"/>
            <a:ext cx="1828800" cy="2926080"/>
          </a:xfrm>
          <a:prstGeom prst="rect">
            <a:avLst/>
          </a:prstGeom>
          <a:noFill/>
          <a:ln/>
        </p:spPr>
        <p:txBody>
          <a:bodyPr wrap="square" lIns="0" tIns="0" rIns="0" bIns="0" rtlCol="0" anchor="t"/>
          <a:lstStyle/>
          <a:p>
            <a:pPr marL="152400" indent="-152400">
              <a:lnSpc>
                <a:spcPct val="112000"/>
              </a:lnSpc>
              <a:buSzPct val="100000"/>
              <a:buChar char="✦"/>
            </a:pPr>
            <a:r>
              <a:rPr lang="en-US" sz="1600" dirty="0">
                <a:solidFill>
                  <a:srgbClr val="13293D"/>
                </a:solidFill>
                <a:latin typeface="Times New Roman" panose="02020603050405020304" pitchFamily="18" charset="0"/>
                <a:ea typeface="Calibri" pitchFamily="34" charset="-122"/>
                <a:cs typeface="Times New Roman" panose="02020603050405020304" pitchFamily="18" charset="0"/>
              </a:rPr>
              <a:t>Initial single-page web app built</a:t>
            </a:r>
          </a:p>
          <a:p>
            <a:pPr marL="152400" indent="-152400">
              <a:lnSpc>
                <a:spcPct val="112000"/>
              </a:lnSpc>
              <a:buSzPct val="100000"/>
              <a:buChar char="✦"/>
            </a:pPr>
            <a:endParaRPr lang="en-US" sz="1600" dirty="0">
              <a:latin typeface="Times New Roman" panose="02020603050405020304" pitchFamily="18" charset="0"/>
              <a:cs typeface="Times New Roman" panose="02020603050405020304" pitchFamily="18" charset="0"/>
            </a:endParaRPr>
          </a:p>
          <a:p>
            <a:pPr marL="152400" indent="-152400">
              <a:lnSpc>
                <a:spcPct val="112000"/>
              </a:lnSpc>
              <a:buSzPct val="100000"/>
              <a:buChar char="✦"/>
            </a:pPr>
            <a:r>
              <a:rPr lang="en-US" sz="1600" dirty="0">
                <a:solidFill>
                  <a:srgbClr val="13293D"/>
                </a:solidFill>
                <a:latin typeface="Times New Roman" panose="02020603050405020304" pitchFamily="18" charset="0"/>
                <a:ea typeface="Calibri" pitchFamily="34" charset="-122"/>
                <a:cs typeface="Times New Roman" panose="02020603050405020304" pitchFamily="18" charset="0"/>
              </a:rPr>
              <a:t>Slot availability &amp; selection UI designed</a:t>
            </a:r>
          </a:p>
          <a:p>
            <a:pPr marL="152400" indent="-152400">
              <a:lnSpc>
                <a:spcPct val="112000"/>
              </a:lnSpc>
              <a:buSzPct val="100000"/>
              <a:buChar char="✦"/>
            </a:pPr>
            <a:endParaRPr lang="en-US" sz="1600" dirty="0">
              <a:latin typeface="Times New Roman" panose="02020603050405020304" pitchFamily="18" charset="0"/>
              <a:cs typeface="Times New Roman" panose="02020603050405020304" pitchFamily="18" charset="0"/>
            </a:endParaRPr>
          </a:p>
          <a:p>
            <a:pPr marL="152400" indent="-152400">
              <a:lnSpc>
                <a:spcPct val="112000"/>
              </a:lnSpc>
              <a:buSzPct val="100000"/>
              <a:buChar char="✦"/>
            </a:pPr>
            <a:r>
              <a:rPr lang="en-US" sz="1600" dirty="0">
                <a:solidFill>
                  <a:srgbClr val="13293D"/>
                </a:solidFill>
                <a:latin typeface="Times New Roman" panose="02020603050405020304" pitchFamily="18" charset="0"/>
                <a:ea typeface="Calibri" pitchFamily="34" charset="-122"/>
                <a:cs typeface="Times New Roman" panose="02020603050405020304" pitchFamily="18" charset="0"/>
              </a:rPr>
              <a:t>No mandatory login — simple user flow</a:t>
            </a:r>
            <a:endParaRPr lang="en-US" sz="1600" dirty="0">
              <a:latin typeface="Times New Roman" panose="02020603050405020304" pitchFamily="18" charset="0"/>
              <a:cs typeface="Times New Roman" panose="02020603050405020304" pitchFamily="18" charset="0"/>
            </a:endParaRPr>
          </a:p>
        </p:txBody>
      </p:sp>
      <p:sp>
        <p:nvSpPr>
          <p:cNvPr id="24" name="Shape 19"/>
          <p:cNvSpPr/>
          <p:nvPr/>
        </p:nvSpPr>
        <p:spPr>
          <a:xfrm>
            <a:off x="7434072" y="1463040"/>
            <a:ext cx="2157984" cy="4297680"/>
          </a:xfrm>
          <a:prstGeom prst="roundRect">
            <a:avLst>
              <a:gd name="adj" fmla="val 3390"/>
            </a:avLst>
          </a:prstGeom>
          <a:solidFill>
            <a:srgbClr val="F3F7F9"/>
          </a:solidFill>
          <a:ln w="12700">
            <a:solidFill>
              <a:srgbClr val="DCE6EA"/>
            </a:solidFill>
            <a:prstDash val="solid"/>
          </a:ln>
        </p:spPr>
      </p:sp>
      <p:sp>
        <p:nvSpPr>
          <p:cNvPr id="25" name="Shape 20"/>
          <p:cNvSpPr/>
          <p:nvPr/>
        </p:nvSpPr>
        <p:spPr>
          <a:xfrm>
            <a:off x="7434072" y="1463040"/>
            <a:ext cx="2157984" cy="960120"/>
          </a:xfrm>
          <a:prstGeom prst="roundRect">
            <a:avLst>
              <a:gd name="adj" fmla="val 9412"/>
            </a:avLst>
          </a:prstGeom>
          <a:solidFill>
            <a:srgbClr val="065A82"/>
          </a:solidFill>
          <a:ln/>
        </p:spPr>
      </p:sp>
      <p:sp>
        <p:nvSpPr>
          <p:cNvPr id="26" name="Shape 21"/>
          <p:cNvSpPr/>
          <p:nvPr/>
        </p:nvSpPr>
        <p:spPr>
          <a:xfrm>
            <a:off x="7434072" y="1856232"/>
            <a:ext cx="2157984" cy="384048"/>
          </a:xfrm>
          <a:prstGeom prst="rect">
            <a:avLst/>
          </a:prstGeom>
          <a:solidFill>
            <a:srgbClr val="065A82"/>
          </a:solidFill>
          <a:ln/>
        </p:spPr>
      </p:sp>
      <p:pic>
        <p:nvPicPr>
          <p:cNvPr id="27" name="Image 3" descr="/home/claude/parkease/icons/wrench.png"/>
          <p:cNvPicPr>
            <a:picLocks noChangeAspect="1"/>
          </p:cNvPicPr>
          <p:nvPr/>
        </p:nvPicPr>
        <p:blipFill>
          <a:blip r:embed="rId6"/>
          <a:stretch>
            <a:fillRect/>
          </a:stretch>
        </p:blipFill>
        <p:spPr>
          <a:xfrm>
            <a:off x="8257032" y="1572768"/>
            <a:ext cx="512064" cy="512064"/>
          </a:xfrm>
          <a:prstGeom prst="rect">
            <a:avLst/>
          </a:prstGeom>
        </p:spPr>
      </p:pic>
      <p:sp>
        <p:nvSpPr>
          <p:cNvPr id="28" name="Text 22"/>
          <p:cNvSpPr txBox="1"/>
          <p:nvPr/>
        </p:nvSpPr>
        <p:spPr>
          <a:xfrm>
            <a:off x="7507224" y="2084832"/>
            <a:ext cx="2011680" cy="457200"/>
          </a:xfrm>
          <a:prstGeom prst="rect">
            <a:avLst/>
          </a:prstGeom>
          <a:noFill/>
          <a:ln/>
        </p:spPr>
        <p:txBody>
          <a:bodyPr wrap="square" lIns="0" tIns="0" rIns="0" bIns="0" rtlCol="0" anchor="t"/>
          <a:lstStyle/>
          <a:p>
            <a:pPr marL="0" indent="0" algn="ctr">
              <a:buNone/>
            </a:pPr>
            <a:r>
              <a:rPr lang="en-US" sz="1600" b="1" dirty="0">
                <a:solidFill>
                  <a:srgbClr val="FFFFFF"/>
                </a:solidFill>
                <a:latin typeface="Times New Roman" panose="02020603050405020304" pitchFamily="18" charset="0"/>
                <a:ea typeface="Calibri" pitchFamily="34" charset="-122"/>
                <a:cs typeface="Times New Roman" panose="02020603050405020304" pitchFamily="18" charset="0"/>
              </a:rPr>
              <a:t>Hardware Preparation</a:t>
            </a:r>
            <a:endParaRPr lang="en-US" sz="1600" dirty="0">
              <a:latin typeface="Times New Roman" panose="02020603050405020304" pitchFamily="18" charset="0"/>
              <a:cs typeface="Times New Roman" panose="02020603050405020304" pitchFamily="18" charset="0"/>
            </a:endParaRPr>
          </a:p>
        </p:txBody>
      </p:sp>
      <p:sp>
        <p:nvSpPr>
          <p:cNvPr id="29" name="Text 23"/>
          <p:cNvSpPr txBox="1"/>
          <p:nvPr/>
        </p:nvSpPr>
        <p:spPr>
          <a:xfrm>
            <a:off x="7598664" y="2697480"/>
            <a:ext cx="1828800" cy="2926080"/>
          </a:xfrm>
          <a:prstGeom prst="rect">
            <a:avLst/>
          </a:prstGeom>
          <a:noFill/>
          <a:ln/>
        </p:spPr>
        <p:txBody>
          <a:bodyPr wrap="square" lIns="0" tIns="0" rIns="0" bIns="0" rtlCol="0" anchor="t"/>
          <a:lstStyle/>
          <a:p>
            <a:pPr marL="152400" indent="-152400">
              <a:lnSpc>
                <a:spcPct val="112000"/>
              </a:lnSpc>
              <a:buSzPct val="100000"/>
              <a:buChar char="✦"/>
            </a:pPr>
            <a:r>
              <a:rPr lang="en-US" sz="1600" dirty="0">
                <a:solidFill>
                  <a:srgbClr val="13293D"/>
                </a:solidFill>
                <a:latin typeface="Times New Roman" panose="02020603050405020304" pitchFamily="18" charset="0"/>
                <a:ea typeface="Calibri" pitchFamily="34" charset="-122"/>
                <a:cs typeface="Times New Roman" panose="02020603050405020304" pitchFamily="18" charset="0"/>
              </a:rPr>
              <a:t>ESP32, HC-SR04 sensor, breadboard, USB cable collected</a:t>
            </a:r>
            <a:endParaRPr lang="en-US" sz="1600" dirty="0">
              <a:latin typeface="Times New Roman" panose="02020603050405020304" pitchFamily="18" charset="0"/>
              <a:cs typeface="Times New Roman" panose="02020603050405020304" pitchFamily="18" charset="0"/>
            </a:endParaRPr>
          </a:p>
        </p:txBody>
      </p:sp>
      <p:sp>
        <p:nvSpPr>
          <p:cNvPr id="30" name="Shape 24"/>
          <p:cNvSpPr/>
          <p:nvPr/>
        </p:nvSpPr>
        <p:spPr>
          <a:xfrm>
            <a:off x="9729216" y="1463040"/>
            <a:ext cx="2157984" cy="4297680"/>
          </a:xfrm>
          <a:prstGeom prst="roundRect">
            <a:avLst>
              <a:gd name="adj" fmla="val 3390"/>
            </a:avLst>
          </a:prstGeom>
          <a:solidFill>
            <a:srgbClr val="F3F7F9"/>
          </a:solidFill>
          <a:ln w="12700">
            <a:solidFill>
              <a:srgbClr val="DCE6EA"/>
            </a:solidFill>
            <a:prstDash val="solid"/>
          </a:ln>
        </p:spPr>
      </p:sp>
      <p:sp>
        <p:nvSpPr>
          <p:cNvPr id="31" name="Shape 25"/>
          <p:cNvSpPr/>
          <p:nvPr/>
        </p:nvSpPr>
        <p:spPr>
          <a:xfrm>
            <a:off x="9729216" y="1463040"/>
            <a:ext cx="2157984" cy="960120"/>
          </a:xfrm>
          <a:prstGeom prst="roundRect">
            <a:avLst>
              <a:gd name="adj" fmla="val 9412"/>
            </a:avLst>
          </a:prstGeom>
          <a:solidFill>
            <a:srgbClr val="065A82"/>
          </a:solidFill>
          <a:ln/>
        </p:spPr>
      </p:sp>
      <p:sp>
        <p:nvSpPr>
          <p:cNvPr id="32" name="Shape 26"/>
          <p:cNvSpPr/>
          <p:nvPr/>
        </p:nvSpPr>
        <p:spPr>
          <a:xfrm>
            <a:off x="9729216" y="1856232"/>
            <a:ext cx="2157984" cy="384048"/>
          </a:xfrm>
          <a:prstGeom prst="rect">
            <a:avLst/>
          </a:prstGeom>
          <a:solidFill>
            <a:srgbClr val="065A82"/>
          </a:solidFill>
          <a:ln/>
        </p:spPr>
      </p:sp>
      <p:pic>
        <p:nvPicPr>
          <p:cNvPr id="33" name="Image 4" descr="/home/claude/parkease/icons/microchip.png"/>
          <p:cNvPicPr>
            <a:picLocks noChangeAspect="1"/>
          </p:cNvPicPr>
          <p:nvPr/>
        </p:nvPicPr>
        <p:blipFill>
          <a:blip r:embed="rId7"/>
          <a:stretch>
            <a:fillRect/>
          </a:stretch>
        </p:blipFill>
        <p:spPr>
          <a:xfrm>
            <a:off x="10552176" y="1572768"/>
            <a:ext cx="512064" cy="512064"/>
          </a:xfrm>
          <a:prstGeom prst="rect">
            <a:avLst/>
          </a:prstGeom>
        </p:spPr>
      </p:pic>
      <p:sp>
        <p:nvSpPr>
          <p:cNvPr id="34" name="Text 27"/>
          <p:cNvSpPr txBox="1"/>
          <p:nvPr/>
        </p:nvSpPr>
        <p:spPr>
          <a:xfrm>
            <a:off x="9802368" y="2084832"/>
            <a:ext cx="2011680" cy="457200"/>
          </a:xfrm>
          <a:prstGeom prst="rect">
            <a:avLst/>
          </a:prstGeom>
          <a:noFill/>
          <a:ln/>
        </p:spPr>
        <p:txBody>
          <a:bodyPr wrap="square" lIns="0" tIns="0" rIns="0" bIns="0" rtlCol="0" anchor="t"/>
          <a:lstStyle/>
          <a:p>
            <a:pPr marL="0" indent="0" algn="ctr">
              <a:buNone/>
            </a:pPr>
            <a:r>
              <a:rPr lang="en-US" sz="1600" b="1" dirty="0">
                <a:solidFill>
                  <a:srgbClr val="FFFFFF"/>
                </a:solidFill>
                <a:latin typeface="Times New Roman" panose="02020603050405020304" pitchFamily="18" charset="0"/>
                <a:ea typeface="Calibri" pitchFamily="34" charset="-122"/>
                <a:cs typeface="Times New Roman" panose="02020603050405020304" pitchFamily="18" charset="0"/>
              </a:rPr>
              <a:t>Hardware Study</a:t>
            </a:r>
            <a:endParaRPr lang="en-US" sz="1600" dirty="0">
              <a:latin typeface="Times New Roman" panose="02020603050405020304" pitchFamily="18" charset="0"/>
              <a:cs typeface="Times New Roman" panose="02020603050405020304" pitchFamily="18" charset="0"/>
            </a:endParaRPr>
          </a:p>
        </p:txBody>
      </p:sp>
      <p:sp>
        <p:nvSpPr>
          <p:cNvPr id="35" name="Text 28"/>
          <p:cNvSpPr txBox="1"/>
          <p:nvPr/>
        </p:nvSpPr>
        <p:spPr>
          <a:xfrm>
            <a:off x="9893808" y="2697480"/>
            <a:ext cx="1828800" cy="2926080"/>
          </a:xfrm>
          <a:prstGeom prst="rect">
            <a:avLst/>
          </a:prstGeom>
          <a:noFill/>
          <a:ln/>
        </p:spPr>
        <p:txBody>
          <a:bodyPr wrap="square" lIns="0" tIns="0" rIns="0" bIns="0" rtlCol="0" anchor="t"/>
          <a:lstStyle/>
          <a:p>
            <a:pPr marL="152400" indent="-152400">
              <a:lnSpc>
                <a:spcPct val="112000"/>
              </a:lnSpc>
              <a:buSzPct val="100000"/>
              <a:buChar char="✦"/>
            </a:pPr>
            <a:r>
              <a:rPr lang="en-US" sz="1600" dirty="0">
                <a:solidFill>
                  <a:srgbClr val="13293D"/>
                </a:solidFill>
                <a:latin typeface="Times New Roman" panose="02020603050405020304" pitchFamily="18" charset="0"/>
                <a:ea typeface="Calibri" pitchFamily="34" charset="-122"/>
                <a:cs typeface="Times New Roman" panose="02020603050405020304" pitchFamily="18" charset="0"/>
              </a:rPr>
              <a:t>ESP32 GPIO pins &amp; HC-SR04 pins studied</a:t>
            </a:r>
          </a:p>
          <a:p>
            <a:pPr marL="152400" indent="-152400">
              <a:lnSpc>
                <a:spcPct val="112000"/>
              </a:lnSpc>
              <a:buSzPct val="100000"/>
              <a:buChar char="✦"/>
            </a:pPr>
            <a:endParaRPr lang="en-US" sz="1600" dirty="0">
              <a:latin typeface="Times New Roman" panose="02020603050405020304" pitchFamily="18" charset="0"/>
              <a:cs typeface="Times New Roman" panose="02020603050405020304" pitchFamily="18" charset="0"/>
            </a:endParaRPr>
          </a:p>
          <a:p>
            <a:pPr marL="152400" indent="-152400">
              <a:lnSpc>
                <a:spcPct val="112000"/>
              </a:lnSpc>
              <a:buSzPct val="100000"/>
              <a:buChar char="✦"/>
            </a:pPr>
            <a:r>
              <a:rPr lang="en-US" sz="1600" dirty="0">
                <a:solidFill>
                  <a:srgbClr val="13293D"/>
                </a:solidFill>
                <a:latin typeface="Times New Roman" panose="02020603050405020304" pitchFamily="18" charset="0"/>
                <a:ea typeface="Calibri" pitchFamily="34" charset="-122"/>
                <a:cs typeface="Times New Roman" panose="02020603050405020304" pitchFamily="18" charset="0"/>
              </a:rPr>
              <a:t>Voltage-divider requirement for ECHO pin identified</a:t>
            </a:r>
            <a:endParaRPr lang="en-US" sz="1600" dirty="0">
              <a:latin typeface="Times New Roman" panose="02020603050405020304" pitchFamily="18" charset="0"/>
              <a:cs typeface="Times New Roman" panose="02020603050405020304" pitchFamily="18" charset="0"/>
            </a:endParaRPr>
          </a:p>
        </p:txBody>
      </p:sp>
      <p:sp>
        <p:nvSpPr>
          <p:cNvPr id="36" name="Shape 29"/>
          <p:cNvSpPr/>
          <p:nvPr/>
        </p:nvSpPr>
        <p:spPr>
          <a:xfrm>
            <a:off x="548640" y="5943600"/>
            <a:ext cx="11091672" cy="594360"/>
          </a:xfrm>
          <a:prstGeom prst="roundRect">
            <a:avLst>
              <a:gd name="adj" fmla="val 12308"/>
            </a:avLst>
          </a:prstGeom>
          <a:solidFill>
            <a:srgbClr val="FFF4E5"/>
          </a:solidFill>
          <a:ln w="12700">
            <a:solidFill>
              <a:srgbClr val="E8A33D"/>
            </a:solidFill>
            <a:prstDash val="solid"/>
          </a:ln>
        </p:spPr>
      </p:sp>
      <p:sp>
        <p:nvSpPr>
          <p:cNvPr id="37" name="Text 30"/>
          <p:cNvSpPr txBox="1"/>
          <p:nvPr/>
        </p:nvSpPr>
        <p:spPr>
          <a:xfrm>
            <a:off x="777240" y="5943600"/>
            <a:ext cx="10607040" cy="594360"/>
          </a:xfrm>
          <a:prstGeom prst="rect">
            <a:avLst/>
          </a:prstGeom>
          <a:noFill/>
          <a:ln/>
        </p:spPr>
        <p:txBody>
          <a:bodyPr wrap="square" lIns="0" tIns="0" rIns="0" bIns="0" rtlCol="0" anchor="ctr"/>
          <a:lstStyle/>
          <a:p>
            <a:pPr marL="0" indent="0">
              <a:buNone/>
            </a:pPr>
            <a:r>
              <a:rPr lang="en-US" sz="1100" b="1" dirty="0">
                <a:solidFill>
                  <a:srgbClr val="9A6300"/>
                </a:solidFill>
                <a:latin typeface="Times New Roman" panose="02020603050405020304" pitchFamily="18" charset="0"/>
                <a:ea typeface="Calibri" pitchFamily="34" charset="-122"/>
                <a:cs typeface="Times New Roman" panose="02020603050405020304" pitchFamily="18" charset="0"/>
              </a:rPr>
              <a:t>Note:  </a:t>
            </a:r>
            <a:r>
              <a:rPr lang="en-US" sz="1100" dirty="0">
                <a:solidFill>
                  <a:srgbClr val="5C4400"/>
                </a:solidFill>
                <a:latin typeface="Times New Roman" panose="02020603050405020304" pitchFamily="18" charset="0"/>
                <a:ea typeface="Calibri" pitchFamily="34" charset="-122"/>
                <a:cs typeface="Times New Roman" panose="02020603050405020304" pitchFamily="18" charset="0"/>
              </a:rPr>
              <a:t>IoT sensor data is not yet integrated with the website — this is planned for upcoming phases (see next slides).</a:t>
            </a:r>
            <a:endParaRPr lang="en-US" sz="1100" dirty="0">
              <a:latin typeface="Times New Roman" panose="02020603050405020304" pitchFamily="18" charset="0"/>
              <a:cs typeface="Times New Roman" panose="02020603050405020304" pitchFamily="18" charset="0"/>
            </a:endParaRPr>
          </a:p>
        </p:txBody>
      </p:sp>
      <p:sp>
        <p:nvSpPr>
          <p:cNvPr id="38" name="Text 31"/>
          <p:cNvSpPr txBox="1"/>
          <p:nvPr/>
        </p:nvSpPr>
        <p:spPr>
          <a:xfrm>
            <a:off x="11277295" y="6446520"/>
            <a:ext cx="731520" cy="274320"/>
          </a:xfrm>
          <a:prstGeom prst="rect">
            <a:avLst/>
          </a:prstGeom>
          <a:noFill/>
          <a:ln/>
        </p:spPr>
        <p:txBody>
          <a:bodyPr wrap="square" lIns="0" tIns="0" rIns="0" bIns="0" rtlCol="0" anchor="ctr"/>
          <a:lstStyle/>
          <a:p>
            <a:pPr marL="0" indent="0" algn="r">
              <a:buNone/>
            </a:pPr>
            <a:r>
              <a:rPr lang="en-US" sz="1000" dirty="0">
                <a:solidFill>
                  <a:srgbClr val="6E7B85"/>
                </a:solidFill>
                <a:latin typeface="Times New Roman" panose="02020603050405020304" pitchFamily="18" charset="0"/>
                <a:ea typeface="Calibri" pitchFamily="34" charset="-122"/>
                <a:cs typeface="Times New Roman" panose="02020603050405020304" pitchFamily="18" charset="0"/>
              </a:rPr>
              <a:t>5 / 8</a:t>
            </a:r>
            <a:endParaRPr lang="en-US" sz="1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ARCHITECTURE</a:t>
            </a:r>
            <a:endParaRPr lang="en-US" sz="1300" dirty="0"/>
          </a:p>
        </p:txBody>
      </p:sp>
      <p:sp>
        <p:nvSpPr>
          <p:cNvPr id="3" name="Text 1"/>
          <p:cNvSpPr txBox="1"/>
          <p:nvPr/>
        </p:nvSpPr>
        <p:spPr>
          <a:xfrm>
            <a:off x="548640" y="658368"/>
            <a:ext cx="10789920" cy="640080"/>
          </a:xfrm>
          <a:prstGeom prst="rect">
            <a:avLst/>
          </a:prstGeom>
          <a:noFill/>
          <a:ln/>
        </p:spPr>
        <p:txBody>
          <a:bodyPr wrap="square" lIns="0" tIns="0" rIns="0" bIns="0" rtlCol="0" anchor="ctr"/>
          <a:lstStyle/>
          <a:p>
            <a:pPr marL="0" indent="0">
              <a:buNone/>
            </a:pPr>
            <a:r>
              <a:rPr lang="en-US" sz="2800" b="1" dirty="0">
                <a:solidFill>
                  <a:srgbClr val="021024"/>
                </a:solidFill>
                <a:latin typeface="Cambria" pitchFamily="34" charset="0"/>
                <a:ea typeface="Cambria" pitchFamily="34" charset="-122"/>
                <a:cs typeface="Cambria" pitchFamily="34" charset="-120"/>
              </a:rPr>
              <a:t>System Architecture &amp; Technologies</a:t>
            </a:r>
            <a:endParaRPr lang="en-US" sz="2800" dirty="0"/>
          </a:p>
        </p:txBody>
      </p:sp>
      <p:sp>
        <p:nvSpPr>
          <p:cNvPr id="4" name="Shape 2"/>
          <p:cNvSpPr/>
          <p:nvPr/>
        </p:nvSpPr>
        <p:spPr>
          <a:xfrm>
            <a:off x="548640" y="1417319"/>
            <a:ext cx="4663440" cy="646611"/>
          </a:xfrm>
          <a:prstGeom prst="roundRect">
            <a:avLst>
              <a:gd name="adj" fmla="val 9091"/>
            </a:avLst>
          </a:prstGeom>
          <a:solidFill>
            <a:srgbClr val="065A82"/>
          </a:solidFill>
          <a:ln/>
        </p:spPr>
      </p:sp>
      <p:pic>
        <p:nvPicPr>
          <p:cNvPr id="5" name="Image 0" descr="/home/claude/parkease/icons/sensor.png"/>
          <p:cNvPicPr>
            <a:picLocks noChangeAspect="1"/>
          </p:cNvPicPr>
          <p:nvPr/>
        </p:nvPicPr>
        <p:blipFill>
          <a:blip r:embed="rId3"/>
          <a:stretch>
            <a:fillRect/>
          </a:stretch>
        </p:blipFill>
        <p:spPr>
          <a:xfrm>
            <a:off x="658368" y="1490471"/>
            <a:ext cx="457200" cy="489857"/>
          </a:xfrm>
          <a:prstGeom prst="rect">
            <a:avLst/>
          </a:prstGeom>
        </p:spPr>
      </p:pic>
      <p:sp>
        <p:nvSpPr>
          <p:cNvPr id="6" name="Text 3"/>
          <p:cNvSpPr txBox="1"/>
          <p:nvPr/>
        </p:nvSpPr>
        <p:spPr>
          <a:xfrm>
            <a:off x="1234440" y="1472183"/>
            <a:ext cx="3840480" cy="313509"/>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HC-SR04 Ultrasonic Sensors</a:t>
            </a:r>
            <a:endParaRPr lang="en-US" sz="1200" dirty="0"/>
          </a:p>
        </p:txBody>
      </p:sp>
      <p:sp>
        <p:nvSpPr>
          <p:cNvPr id="7" name="Text 4"/>
          <p:cNvSpPr txBox="1"/>
          <p:nvPr/>
        </p:nvSpPr>
        <p:spPr>
          <a:xfrm>
            <a:off x="1234440" y="1746504"/>
            <a:ext cx="3840480" cy="274320"/>
          </a:xfrm>
          <a:prstGeom prst="rect">
            <a:avLst/>
          </a:prstGeom>
          <a:noFill/>
          <a:ln/>
        </p:spPr>
        <p:txBody>
          <a:bodyPr wrap="square" lIns="0" tIns="0" rIns="0" bIns="0" rtlCol="0" anchor="ctr"/>
          <a:lstStyle/>
          <a:p>
            <a:pPr marL="0" indent="0">
              <a:buNone/>
            </a:pPr>
            <a:r>
              <a:rPr lang="en-US" sz="950" dirty="0">
                <a:solidFill>
                  <a:srgbClr val="E7EFF2"/>
                </a:solidFill>
                <a:latin typeface="Calibri" pitchFamily="34" charset="0"/>
                <a:ea typeface="Calibri" pitchFamily="34" charset="-122"/>
                <a:cs typeface="Calibri" pitchFamily="34" charset="-120"/>
              </a:rPr>
              <a:t>Detect slot occupancy</a:t>
            </a:r>
            <a:endParaRPr lang="en-US" sz="950" dirty="0"/>
          </a:p>
        </p:txBody>
      </p:sp>
      <p:sp>
        <p:nvSpPr>
          <p:cNvPr id="8" name="Shape 5"/>
          <p:cNvSpPr/>
          <p:nvPr/>
        </p:nvSpPr>
        <p:spPr>
          <a:xfrm>
            <a:off x="2880360" y="2020824"/>
            <a:ext cx="0" cy="156754"/>
          </a:xfrm>
          <a:prstGeom prst="line">
            <a:avLst/>
          </a:prstGeom>
          <a:noFill/>
          <a:ln w="19050">
            <a:solidFill>
              <a:srgbClr val="6E7B85"/>
            </a:solidFill>
            <a:prstDash val="solid"/>
            <a:tailEnd type="triangle"/>
          </a:ln>
        </p:spPr>
      </p:sp>
      <p:sp>
        <p:nvSpPr>
          <p:cNvPr id="9" name="Shape 6"/>
          <p:cNvSpPr/>
          <p:nvPr/>
        </p:nvSpPr>
        <p:spPr>
          <a:xfrm>
            <a:off x="548640" y="2167127"/>
            <a:ext cx="4663440" cy="646611"/>
          </a:xfrm>
          <a:prstGeom prst="roundRect">
            <a:avLst>
              <a:gd name="adj" fmla="val 9091"/>
            </a:avLst>
          </a:prstGeom>
          <a:solidFill>
            <a:srgbClr val="065A82"/>
          </a:solidFill>
          <a:ln/>
        </p:spPr>
      </p:sp>
      <p:pic>
        <p:nvPicPr>
          <p:cNvPr id="10" name="Image 1" descr="/home/claude/parkease/icons/microchip.png"/>
          <p:cNvPicPr>
            <a:picLocks noChangeAspect="1"/>
          </p:cNvPicPr>
          <p:nvPr/>
        </p:nvPicPr>
        <p:blipFill>
          <a:blip r:embed="rId4"/>
          <a:stretch>
            <a:fillRect/>
          </a:stretch>
        </p:blipFill>
        <p:spPr>
          <a:xfrm>
            <a:off x="658368" y="2240279"/>
            <a:ext cx="457200" cy="489857"/>
          </a:xfrm>
          <a:prstGeom prst="rect">
            <a:avLst/>
          </a:prstGeom>
        </p:spPr>
      </p:pic>
      <p:sp>
        <p:nvSpPr>
          <p:cNvPr id="11" name="Text 7"/>
          <p:cNvSpPr txBox="1"/>
          <p:nvPr/>
        </p:nvSpPr>
        <p:spPr>
          <a:xfrm>
            <a:off x="1234440" y="2221991"/>
            <a:ext cx="3840480" cy="313509"/>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ESP32 (Wi-Fi)</a:t>
            </a:r>
            <a:endParaRPr lang="en-US" sz="1200" dirty="0"/>
          </a:p>
        </p:txBody>
      </p:sp>
      <p:sp>
        <p:nvSpPr>
          <p:cNvPr id="12" name="Text 8"/>
          <p:cNvSpPr txBox="1"/>
          <p:nvPr/>
        </p:nvSpPr>
        <p:spPr>
          <a:xfrm>
            <a:off x="1234440" y="2496312"/>
            <a:ext cx="3840480" cy="274320"/>
          </a:xfrm>
          <a:prstGeom prst="rect">
            <a:avLst/>
          </a:prstGeom>
          <a:noFill/>
          <a:ln/>
        </p:spPr>
        <p:txBody>
          <a:bodyPr wrap="square" lIns="0" tIns="0" rIns="0" bIns="0" rtlCol="0" anchor="ctr"/>
          <a:lstStyle/>
          <a:p>
            <a:pPr marL="0" indent="0">
              <a:buNone/>
            </a:pPr>
            <a:r>
              <a:rPr lang="en-US" sz="950" dirty="0">
                <a:solidFill>
                  <a:srgbClr val="E7EFF2"/>
                </a:solidFill>
                <a:latin typeface="Calibri" pitchFamily="34" charset="0"/>
                <a:ea typeface="Calibri" pitchFamily="34" charset="-122"/>
                <a:cs typeface="Calibri" pitchFamily="34" charset="-120"/>
              </a:rPr>
              <a:t>Reads sensor, sends data</a:t>
            </a:r>
            <a:endParaRPr lang="en-US" sz="950" dirty="0"/>
          </a:p>
        </p:txBody>
      </p:sp>
      <p:sp>
        <p:nvSpPr>
          <p:cNvPr id="13" name="Shape 9"/>
          <p:cNvSpPr/>
          <p:nvPr/>
        </p:nvSpPr>
        <p:spPr>
          <a:xfrm>
            <a:off x="2880360" y="2770632"/>
            <a:ext cx="0" cy="156754"/>
          </a:xfrm>
          <a:prstGeom prst="line">
            <a:avLst/>
          </a:prstGeom>
          <a:noFill/>
          <a:ln w="19050">
            <a:solidFill>
              <a:srgbClr val="6E7B85"/>
            </a:solidFill>
            <a:prstDash val="solid"/>
            <a:tailEnd type="triangle"/>
          </a:ln>
        </p:spPr>
      </p:sp>
      <p:sp>
        <p:nvSpPr>
          <p:cNvPr id="14" name="Shape 10"/>
          <p:cNvSpPr/>
          <p:nvPr/>
        </p:nvSpPr>
        <p:spPr>
          <a:xfrm>
            <a:off x="548640" y="2916935"/>
            <a:ext cx="4663440" cy="646611"/>
          </a:xfrm>
          <a:prstGeom prst="roundRect">
            <a:avLst>
              <a:gd name="adj" fmla="val 9091"/>
            </a:avLst>
          </a:prstGeom>
          <a:solidFill>
            <a:srgbClr val="1C7293"/>
          </a:solidFill>
          <a:ln/>
        </p:spPr>
      </p:sp>
      <p:pic>
        <p:nvPicPr>
          <p:cNvPr id="15" name="Image 2" descr="/home/claude/parkease/icons/server.png"/>
          <p:cNvPicPr>
            <a:picLocks noChangeAspect="1"/>
          </p:cNvPicPr>
          <p:nvPr/>
        </p:nvPicPr>
        <p:blipFill>
          <a:blip r:embed="rId5"/>
          <a:stretch>
            <a:fillRect/>
          </a:stretch>
        </p:blipFill>
        <p:spPr>
          <a:xfrm>
            <a:off x="658368" y="2990087"/>
            <a:ext cx="457200" cy="489857"/>
          </a:xfrm>
          <a:prstGeom prst="rect">
            <a:avLst/>
          </a:prstGeom>
        </p:spPr>
      </p:pic>
      <p:sp>
        <p:nvSpPr>
          <p:cNvPr id="16" name="Text 11"/>
          <p:cNvSpPr txBox="1"/>
          <p:nvPr/>
        </p:nvSpPr>
        <p:spPr>
          <a:xfrm>
            <a:off x="1234440" y="2971799"/>
            <a:ext cx="3840480" cy="313509"/>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Backend / REST API (Flask)</a:t>
            </a:r>
            <a:endParaRPr lang="en-US" sz="1200" dirty="0"/>
          </a:p>
        </p:txBody>
      </p:sp>
      <p:sp>
        <p:nvSpPr>
          <p:cNvPr id="17" name="Text 12"/>
          <p:cNvSpPr txBox="1"/>
          <p:nvPr/>
        </p:nvSpPr>
        <p:spPr>
          <a:xfrm>
            <a:off x="1234440" y="3246120"/>
            <a:ext cx="3840480" cy="274320"/>
          </a:xfrm>
          <a:prstGeom prst="rect">
            <a:avLst/>
          </a:prstGeom>
          <a:noFill/>
          <a:ln/>
        </p:spPr>
        <p:txBody>
          <a:bodyPr wrap="square" lIns="0" tIns="0" rIns="0" bIns="0" rtlCol="0" anchor="ctr"/>
          <a:lstStyle/>
          <a:p>
            <a:pPr marL="0" indent="0">
              <a:buNone/>
            </a:pPr>
            <a:r>
              <a:rPr lang="en-US" sz="950" dirty="0">
                <a:solidFill>
                  <a:srgbClr val="E7EFF2"/>
                </a:solidFill>
                <a:latin typeface="Calibri" pitchFamily="34" charset="0"/>
                <a:ea typeface="Calibri" pitchFamily="34" charset="-122"/>
                <a:cs typeface="Calibri" pitchFamily="34" charset="-120"/>
              </a:rPr>
              <a:t>Business logic &amp; endpoints</a:t>
            </a:r>
            <a:endParaRPr lang="en-US" sz="950" dirty="0"/>
          </a:p>
        </p:txBody>
      </p:sp>
      <p:sp>
        <p:nvSpPr>
          <p:cNvPr id="18" name="Shape 13"/>
          <p:cNvSpPr/>
          <p:nvPr/>
        </p:nvSpPr>
        <p:spPr>
          <a:xfrm>
            <a:off x="2880360" y="3520440"/>
            <a:ext cx="0" cy="156754"/>
          </a:xfrm>
          <a:prstGeom prst="line">
            <a:avLst/>
          </a:prstGeom>
          <a:noFill/>
          <a:ln w="19050">
            <a:solidFill>
              <a:srgbClr val="6E7B85"/>
            </a:solidFill>
            <a:prstDash val="solid"/>
            <a:tailEnd type="triangle"/>
          </a:ln>
        </p:spPr>
      </p:sp>
      <p:sp>
        <p:nvSpPr>
          <p:cNvPr id="19" name="Shape 14"/>
          <p:cNvSpPr/>
          <p:nvPr/>
        </p:nvSpPr>
        <p:spPr>
          <a:xfrm>
            <a:off x="548640" y="3666743"/>
            <a:ext cx="4663440" cy="646611"/>
          </a:xfrm>
          <a:prstGeom prst="roundRect">
            <a:avLst>
              <a:gd name="adj" fmla="val 9091"/>
            </a:avLst>
          </a:prstGeom>
          <a:solidFill>
            <a:srgbClr val="1C7293"/>
          </a:solidFill>
          <a:ln/>
        </p:spPr>
      </p:sp>
      <p:pic>
        <p:nvPicPr>
          <p:cNvPr id="20" name="Image 3" descr="/home/claude/parkease/icons/database.png"/>
          <p:cNvPicPr>
            <a:picLocks noChangeAspect="1"/>
          </p:cNvPicPr>
          <p:nvPr/>
        </p:nvPicPr>
        <p:blipFill>
          <a:blip r:embed="rId6"/>
          <a:stretch>
            <a:fillRect/>
          </a:stretch>
        </p:blipFill>
        <p:spPr>
          <a:xfrm>
            <a:off x="658368" y="3739895"/>
            <a:ext cx="457200" cy="489857"/>
          </a:xfrm>
          <a:prstGeom prst="rect">
            <a:avLst/>
          </a:prstGeom>
        </p:spPr>
      </p:pic>
      <p:sp>
        <p:nvSpPr>
          <p:cNvPr id="21" name="Text 15"/>
          <p:cNvSpPr txBox="1"/>
          <p:nvPr/>
        </p:nvSpPr>
        <p:spPr>
          <a:xfrm>
            <a:off x="1234440" y="3721607"/>
            <a:ext cx="3840480" cy="313509"/>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MySQL Database</a:t>
            </a:r>
            <a:endParaRPr lang="en-US" sz="1200" dirty="0"/>
          </a:p>
        </p:txBody>
      </p:sp>
      <p:sp>
        <p:nvSpPr>
          <p:cNvPr id="22" name="Text 16"/>
          <p:cNvSpPr txBox="1"/>
          <p:nvPr/>
        </p:nvSpPr>
        <p:spPr>
          <a:xfrm>
            <a:off x="1234440" y="3995928"/>
            <a:ext cx="3840480" cy="274320"/>
          </a:xfrm>
          <a:prstGeom prst="rect">
            <a:avLst/>
          </a:prstGeom>
          <a:noFill/>
          <a:ln/>
        </p:spPr>
        <p:txBody>
          <a:bodyPr wrap="square" lIns="0" tIns="0" rIns="0" bIns="0" rtlCol="0" anchor="ctr"/>
          <a:lstStyle/>
          <a:p>
            <a:pPr marL="0" indent="0">
              <a:buNone/>
            </a:pPr>
            <a:r>
              <a:rPr lang="en-US" sz="950" dirty="0">
                <a:solidFill>
                  <a:srgbClr val="E7EFF2"/>
                </a:solidFill>
                <a:latin typeface="Calibri" pitchFamily="34" charset="0"/>
                <a:ea typeface="Calibri" pitchFamily="34" charset="-122"/>
                <a:cs typeface="Calibri" pitchFamily="34" charset="-120"/>
              </a:rPr>
              <a:t>Slots, bookings, payments</a:t>
            </a:r>
            <a:endParaRPr lang="en-US" sz="950" dirty="0"/>
          </a:p>
        </p:txBody>
      </p:sp>
      <p:sp>
        <p:nvSpPr>
          <p:cNvPr id="23" name="Shape 17"/>
          <p:cNvSpPr/>
          <p:nvPr/>
        </p:nvSpPr>
        <p:spPr>
          <a:xfrm>
            <a:off x="2880360" y="4270248"/>
            <a:ext cx="0" cy="156754"/>
          </a:xfrm>
          <a:prstGeom prst="line">
            <a:avLst/>
          </a:prstGeom>
          <a:noFill/>
          <a:ln w="19050">
            <a:solidFill>
              <a:srgbClr val="6E7B85"/>
            </a:solidFill>
            <a:prstDash val="solid"/>
            <a:tailEnd type="triangle"/>
          </a:ln>
        </p:spPr>
      </p:sp>
      <p:sp>
        <p:nvSpPr>
          <p:cNvPr id="24" name="Shape 18"/>
          <p:cNvSpPr/>
          <p:nvPr/>
        </p:nvSpPr>
        <p:spPr>
          <a:xfrm>
            <a:off x="548640" y="4416551"/>
            <a:ext cx="4663440" cy="646611"/>
          </a:xfrm>
          <a:prstGeom prst="roundRect">
            <a:avLst>
              <a:gd name="adj" fmla="val 9091"/>
            </a:avLst>
          </a:prstGeom>
          <a:solidFill>
            <a:srgbClr val="21295C"/>
          </a:solidFill>
          <a:ln/>
        </p:spPr>
      </p:sp>
      <p:pic>
        <p:nvPicPr>
          <p:cNvPr id="25" name="Image 4" descr="/home/claude/parkease/icons/globe.png"/>
          <p:cNvPicPr>
            <a:picLocks noChangeAspect="1"/>
          </p:cNvPicPr>
          <p:nvPr/>
        </p:nvPicPr>
        <p:blipFill>
          <a:blip r:embed="rId7"/>
          <a:stretch>
            <a:fillRect/>
          </a:stretch>
        </p:blipFill>
        <p:spPr>
          <a:xfrm>
            <a:off x="658368" y="4489703"/>
            <a:ext cx="457200" cy="489857"/>
          </a:xfrm>
          <a:prstGeom prst="rect">
            <a:avLst/>
          </a:prstGeom>
        </p:spPr>
      </p:pic>
      <p:sp>
        <p:nvSpPr>
          <p:cNvPr id="26" name="Text 19"/>
          <p:cNvSpPr txBox="1"/>
          <p:nvPr/>
        </p:nvSpPr>
        <p:spPr>
          <a:xfrm>
            <a:off x="1234440" y="4471415"/>
            <a:ext cx="3840480" cy="313509"/>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Park Ease Web Application</a:t>
            </a:r>
            <a:endParaRPr lang="en-US" sz="1200" dirty="0"/>
          </a:p>
        </p:txBody>
      </p:sp>
      <p:sp>
        <p:nvSpPr>
          <p:cNvPr id="27" name="Text 20"/>
          <p:cNvSpPr txBox="1"/>
          <p:nvPr/>
        </p:nvSpPr>
        <p:spPr>
          <a:xfrm>
            <a:off x="1234440" y="4745736"/>
            <a:ext cx="3840480" cy="274320"/>
          </a:xfrm>
          <a:prstGeom prst="rect">
            <a:avLst/>
          </a:prstGeom>
          <a:noFill/>
          <a:ln/>
        </p:spPr>
        <p:txBody>
          <a:bodyPr wrap="square" lIns="0" tIns="0" rIns="0" bIns="0" rtlCol="0" anchor="ctr"/>
          <a:lstStyle/>
          <a:p>
            <a:pPr marL="0" indent="0">
              <a:buNone/>
            </a:pPr>
            <a:r>
              <a:rPr lang="en-US" sz="950" dirty="0">
                <a:solidFill>
                  <a:srgbClr val="E7EFF2"/>
                </a:solidFill>
                <a:latin typeface="Calibri" pitchFamily="34" charset="0"/>
                <a:ea typeface="Calibri" pitchFamily="34" charset="-122"/>
                <a:cs typeface="Calibri" pitchFamily="34" charset="-120"/>
              </a:rPr>
              <a:t>User-facing interface</a:t>
            </a:r>
            <a:endParaRPr lang="en-US" sz="950" dirty="0"/>
          </a:p>
        </p:txBody>
      </p:sp>
      <p:sp>
        <p:nvSpPr>
          <p:cNvPr id="33" name="Text 25"/>
          <p:cNvSpPr txBox="1"/>
          <p:nvPr/>
        </p:nvSpPr>
        <p:spPr>
          <a:xfrm>
            <a:off x="6516302" y="1335023"/>
            <a:ext cx="4760991" cy="399976"/>
          </a:xfrm>
          <a:prstGeom prst="rect">
            <a:avLst/>
          </a:prstGeom>
          <a:noFill/>
          <a:ln/>
        </p:spPr>
        <p:txBody>
          <a:bodyPr wrap="square" lIns="0" tIns="0" rIns="0" bIns="0" rtlCol="0" anchor="ctr"/>
          <a:lstStyle/>
          <a:p>
            <a:pPr marL="0" indent="0">
              <a:buNone/>
            </a:pPr>
            <a:r>
              <a:rPr lang="en-US" sz="1400" b="1" dirty="0">
                <a:solidFill>
                  <a:srgbClr val="21295C"/>
                </a:solidFill>
                <a:latin typeface="Calibri" pitchFamily="34" charset="0"/>
                <a:ea typeface="Calibri" pitchFamily="34" charset="-122"/>
                <a:cs typeface="Calibri" pitchFamily="34" charset="-120"/>
              </a:rPr>
              <a:t>TECHNOLOGY STACK</a:t>
            </a:r>
            <a:endParaRPr lang="en-US" sz="1400" dirty="0"/>
          </a:p>
        </p:txBody>
      </p:sp>
      <p:graphicFrame>
        <p:nvGraphicFramePr>
          <p:cNvPr id="34" name="Table 0"/>
          <p:cNvGraphicFramePr>
            <a:graphicFrameLocks noGrp="1"/>
          </p:cNvGraphicFramePr>
          <p:nvPr>
            <p:extLst>
              <p:ext uri="{D42A27DB-BD31-4B8C-83A1-F6EECF244321}">
                <p14:modId xmlns:p14="http://schemas.microsoft.com/office/powerpoint/2010/main" val="2701356418"/>
              </p:ext>
            </p:extLst>
          </p:nvPr>
        </p:nvGraphicFramePr>
        <p:xfrm>
          <a:off x="6516302" y="1655063"/>
          <a:ext cx="4760991" cy="2066544"/>
        </p:xfrm>
        <a:graphic>
          <a:graphicData uri="http://schemas.openxmlformats.org/drawingml/2006/table">
            <a:tbl>
              <a:tblPr/>
              <a:tblGrid>
                <a:gridCol w="1203327">
                  <a:extLst>
                    <a:ext uri="{9D8B030D-6E8A-4147-A177-3AD203B41FA5}">
                      <a16:colId xmlns:a16="http://schemas.microsoft.com/office/drawing/2014/main" val="20000"/>
                    </a:ext>
                  </a:extLst>
                </a:gridCol>
                <a:gridCol w="3557664">
                  <a:extLst>
                    <a:ext uri="{9D8B030D-6E8A-4147-A177-3AD203B41FA5}">
                      <a16:colId xmlns:a16="http://schemas.microsoft.com/office/drawing/2014/main" val="20001"/>
                    </a:ext>
                  </a:extLst>
                </a:gridCol>
              </a:tblGrid>
              <a:tr h="366645">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Frontend</a:t>
                      </a:r>
                      <a:endParaRPr lang="en-US" sz="1050" dirty="0">
                        <a:latin typeface="Calibri" charset="0"/>
                        <a:ea typeface="Calibri" charset="0"/>
                        <a:cs typeface="Calibri" charset="0"/>
                      </a:endParaRPr>
                    </a:p>
                  </a:txBody>
                  <a:tcPr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065A82"/>
                    </a:solidFill>
                  </a:tcPr>
                </a:tc>
                <a:tc>
                  <a:txBody>
                    <a:bodyPr/>
                    <a:lstStyle/>
                    <a:p>
                      <a:pPr marL="0" indent="0">
                        <a:buNone/>
                      </a:pPr>
                      <a:r>
                        <a:rPr lang="en-US" sz="1050" dirty="0">
                          <a:solidFill>
                            <a:srgbClr val="13293D"/>
                          </a:solidFill>
                          <a:latin typeface="Calibri" pitchFamily="34" charset="0"/>
                          <a:ea typeface="Calibri" pitchFamily="34" charset="-122"/>
                          <a:cs typeface="Calibri" pitchFamily="34" charset="-120"/>
                        </a:rPr>
                        <a:t>HTML, CSS, JavaScript (SPA)</a:t>
                      </a:r>
                      <a:endParaRPr lang="en-US" sz="1050" dirty="0">
                        <a:latin typeface="Calibri" charset="0"/>
                        <a:ea typeface="Calibri" charset="0"/>
                        <a:cs typeface="Calibri" charset="0"/>
                      </a:endParaRPr>
                    </a:p>
                  </a:txBody>
                  <a:tcPr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3F7F9"/>
                    </a:solidFill>
                  </a:tcPr>
                </a:tc>
                <a:extLst>
                  <a:ext uri="{0D108BD9-81ED-4DB2-BD59-A6C34878D82A}">
                    <a16:rowId xmlns:a16="http://schemas.microsoft.com/office/drawing/2014/main" val="10000"/>
                  </a:ext>
                </a:extLst>
              </a:tr>
              <a:tr h="366645">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Backend</a:t>
                      </a:r>
                      <a:endParaRPr lang="en-US" sz="1050" dirty="0">
                        <a:latin typeface="Calibri" charset="0"/>
                        <a:ea typeface="Calibri" charset="0"/>
                        <a:cs typeface="Calibri" charset="0"/>
                      </a:endParaRPr>
                    </a:p>
                  </a:txBody>
                  <a:tcPr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065A82"/>
                    </a:solidFill>
                  </a:tcPr>
                </a:tc>
                <a:tc>
                  <a:txBody>
                    <a:bodyPr/>
                    <a:lstStyle/>
                    <a:p>
                      <a:pPr marL="0" indent="0">
                        <a:buNone/>
                      </a:pPr>
                      <a:r>
                        <a:rPr lang="en-US" sz="1050" dirty="0">
                          <a:solidFill>
                            <a:srgbClr val="13293D"/>
                          </a:solidFill>
                          <a:latin typeface="Calibri" pitchFamily="34" charset="0"/>
                          <a:ea typeface="Calibri" pitchFamily="34" charset="-122"/>
                          <a:cs typeface="Calibri" pitchFamily="34" charset="-120"/>
                        </a:rPr>
                        <a:t>Python Flask, REST APIs</a:t>
                      </a:r>
                      <a:endParaRPr lang="en-US" sz="1050" dirty="0">
                        <a:latin typeface="Calibri" charset="0"/>
                        <a:ea typeface="Calibri" charset="0"/>
                        <a:cs typeface="Calibri" charset="0"/>
                      </a:endParaRPr>
                    </a:p>
                  </a:txBody>
                  <a:tcPr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3F7F9"/>
                    </a:solidFill>
                  </a:tcPr>
                </a:tc>
                <a:extLst>
                  <a:ext uri="{0D108BD9-81ED-4DB2-BD59-A6C34878D82A}">
                    <a16:rowId xmlns:a16="http://schemas.microsoft.com/office/drawing/2014/main" val="10001"/>
                  </a:ext>
                </a:extLst>
              </a:tr>
              <a:tr h="366645">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Database</a:t>
                      </a:r>
                      <a:endParaRPr lang="en-US" sz="1050" dirty="0">
                        <a:latin typeface="Calibri" charset="0"/>
                        <a:ea typeface="Calibri" charset="0"/>
                        <a:cs typeface="Calibri" charset="0"/>
                      </a:endParaRPr>
                    </a:p>
                  </a:txBody>
                  <a:tcPr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065A82"/>
                    </a:solidFill>
                  </a:tcPr>
                </a:tc>
                <a:tc>
                  <a:txBody>
                    <a:bodyPr/>
                    <a:lstStyle/>
                    <a:p>
                      <a:pPr marL="0" indent="0">
                        <a:buNone/>
                      </a:pPr>
                      <a:r>
                        <a:rPr lang="en-US" sz="1050" dirty="0">
                          <a:solidFill>
                            <a:srgbClr val="13293D"/>
                          </a:solidFill>
                          <a:latin typeface="Calibri" pitchFamily="34" charset="0"/>
                          <a:ea typeface="Calibri" pitchFamily="34" charset="-122"/>
                          <a:cs typeface="Calibri" pitchFamily="34" charset="-120"/>
                        </a:rPr>
                        <a:t>MySQL</a:t>
                      </a:r>
                      <a:endParaRPr lang="en-US" sz="1050" dirty="0">
                        <a:latin typeface="Calibri" charset="0"/>
                        <a:ea typeface="Calibri" charset="0"/>
                        <a:cs typeface="Calibri" charset="0"/>
                      </a:endParaRPr>
                    </a:p>
                  </a:txBody>
                  <a:tcPr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3F7F9"/>
                    </a:solidFill>
                  </a:tcPr>
                </a:tc>
                <a:extLst>
                  <a:ext uri="{0D108BD9-81ED-4DB2-BD59-A6C34878D82A}">
                    <a16:rowId xmlns:a16="http://schemas.microsoft.com/office/drawing/2014/main" val="10002"/>
                  </a:ext>
                </a:extLst>
              </a:tr>
              <a:tr h="366645">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IoT</a:t>
                      </a:r>
                      <a:endParaRPr lang="en-US" sz="1050" dirty="0">
                        <a:latin typeface="Calibri" charset="0"/>
                        <a:ea typeface="Calibri" charset="0"/>
                        <a:cs typeface="Calibri" charset="0"/>
                      </a:endParaRPr>
                    </a:p>
                  </a:txBody>
                  <a:tcPr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065A82"/>
                    </a:solidFill>
                  </a:tcPr>
                </a:tc>
                <a:tc>
                  <a:txBody>
                    <a:bodyPr/>
                    <a:lstStyle/>
                    <a:p>
                      <a:pPr marL="0" indent="0">
                        <a:buNone/>
                      </a:pPr>
                      <a:r>
                        <a:rPr lang="en-US" sz="1050" dirty="0">
                          <a:solidFill>
                            <a:srgbClr val="13293D"/>
                          </a:solidFill>
                          <a:latin typeface="Calibri" pitchFamily="34" charset="0"/>
                          <a:ea typeface="Calibri" pitchFamily="34" charset="-122"/>
                          <a:cs typeface="Calibri" pitchFamily="34" charset="-120"/>
                        </a:rPr>
                        <a:t>ESP32, HC-SR04, Wi-Fi</a:t>
                      </a:r>
                      <a:endParaRPr lang="en-US" sz="1050" dirty="0">
                        <a:latin typeface="Calibri" charset="0"/>
                        <a:ea typeface="Calibri" charset="0"/>
                        <a:cs typeface="Calibri" charset="0"/>
                      </a:endParaRPr>
                    </a:p>
                  </a:txBody>
                  <a:tcPr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3F7F9"/>
                    </a:solidFill>
                  </a:tcPr>
                </a:tc>
                <a:extLst>
                  <a:ext uri="{0D108BD9-81ED-4DB2-BD59-A6C34878D82A}">
                    <a16:rowId xmlns:a16="http://schemas.microsoft.com/office/drawing/2014/main" val="10003"/>
                  </a:ext>
                </a:extLst>
              </a:tr>
              <a:tr h="599964">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Other</a:t>
                      </a:r>
                      <a:endParaRPr lang="en-US" sz="1050" dirty="0">
                        <a:latin typeface="Calibri" charset="0"/>
                        <a:ea typeface="Calibri" charset="0"/>
                        <a:cs typeface="Calibri" charset="0"/>
                      </a:endParaRPr>
                    </a:p>
                  </a:txBody>
                  <a:tcPr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065A82"/>
                    </a:solidFill>
                  </a:tcPr>
                </a:tc>
                <a:tc>
                  <a:txBody>
                    <a:bodyPr/>
                    <a:lstStyle/>
                    <a:p>
                      <a:pPr marL="0" indent="0">
                        <a:buNone/>
                      </a:pPr>
                      <a:r>
                        <a:rPr lang="en-US" sz="1050" dirty="0">
                          <a:solidFill>
                            <a:srgbClr val="13293D"/>
                          </a:solidFill>
                          <a:latin typeface="Calibri" pitchFamily="34" charset="0"/>
                          <a:ea typeface="Calibri" pitchFamily="34" charset="-122"/>
                          <a:cs typeface="Calibri" pitchFamily="34" charset="-120"/>
                        </a:rPr>
                        <a:t>QR generation, payment API (planned), parking map UI</a:t>
                      </a:r>
                      <a:endParaRPr lang="en-US" sz="1050" dirty="0">
                        <a:latin typeface="Calibri" charset="0"/>
                        <a:ea typeface="Calibri" charset="0"/>
                        <a:cs typeface="Calibri" charset="0"/>
                      </a:endParaRPr>
                    </a:p>
                  </a:txBody>
                  <a:tcPr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3F7F9"/>
                    </a:solidFill>
                  </a:tcPr>
                </a:tc>
                <a:extLst>
                  <a:ext uri="{0D108BD9-81ED-4DB2-BD59-A6C34878D82A}">
                    <a16:rowId xmlns:a16="http://schemas.microsoft.com/office/drawing/2014/main" val="10004"/>
                  </a:ext>
                </a:extLst>
              </a:tr>
            </a:tbl>
          </a:graphicData>
        </a:graphic>
      </p:graphicFrame>
      <p:sp>
        <p:nvSpPr>
          <p:cNvPr id="35" name="Text 26"/>
          <p:cNvSpPr txBox="1"/>
          <p:nvPr/>
        </p:nvSpPr>
        <p:spPr>
          <a:xfrm>
            <a:off x="6516302" y="4392489"/>
            <a:ext cx="4160520" cy="274320"/>
          </a:xfrm>
          <a:prstGeom prst="rect">
            <a:avLst/>
          </a:prstGeom>
          <a:noFill/>
          <a:ln/>
        </p:spPr>
        <p:txBody>
          <a:bodyPr wrap="square" lIns="0" tIns="0" rIns="0" bIns="0" rtlCol="0" anchor="ctr"/>
          <a:lstStyle/>
          <a:p>
            <a:pPr marL="0" indent="0">
              <a:buNone/>
            </a:pPr>
            <a:r>
              <a:rPr lang="en-US" sz="1600" b="1" dirty="0">
                <a:solidFill>
                  <a:srgbClr val="21295C"/>
                </a:solidFill>
                <a:latin typeface="Calibri" pitchFamily="34" charset="0"/>
                <a:ea typeface="Calibri" pitchFamily="34" charset="-122"/>
                <a:cs typeface="Calibri" pitchFamily="34" charset="-120"/>
              </a:rPr>
              <a:t>HARDWARE STATUS</a:t>
            </a:r>
            <a:endParaRPr lang="en-US" sz="1600" dirty="0"/>
          </a:p>
        </p:txBody>
      </p:sp>
      <p:sp>
        <p:nvSpPr>
          <p:cNvPr id="36" name="Text 27"/>
          <p:cNvSpPr txBox="1"/>
          <p:nvPr/>
        </p:nvSpPr>
        <p:spPr>
          <a:xfrm>
            <a:off x="6516302" y="4782312"/>
            <a:ext cx="2606040" cy="384048"/>
          </a:xfrm>
          <a:prstGeom prst="rect">
            <a:avLst/>
          </a:prstGeom>
          <a:noFill/>
          <a:ln/>
        </p:spPr>
        <p:txBody>
          <a:bodyPr wrap="square" lIns="0" tIns="0" rIns="0" bIns="0" rtlCol="0" anchor="ctr"/>
          <a:lstStyle/>
          <a:p>
            <a:pPr marL="0" indent="0">
              <a:buNone/>
            </a:pPr>
            <a:r>
              <a:rPr lang="en-US" sz="1050" dirty="0">
                <a:solidFill>
                  <a:srgbClr val="13293D"/>
                </a:solidFill>
                <a:latin typeface="Calibri" pitchFamily="34" charset="0"/>
                <a:ea typeface="Calibri" pitchFamily="34" charset="-122"/>
                <a:cs typeface="Calibri" pitchFamily="34" charset="-120"/>
              </a:rPr>
              <a:t>Components purchased / collected</a:t>
            </a:r>
            <a:endParaRPr lang="en-US" sz="1050" dirty="0"/>
          </a:p>
        </p:txBody>
      </p:sp>
      <p:sp>
        <p:nvSpPr>
          <p:cNvPr id="37" name="Shape 28"/>
          <p:cNvSpPr/>
          <p:nvPr/>
        </p:nvSpPr>
        <p:spPr>
          <a:xfrm>
            <a:off x="9259502" y="4818888"/>
            <a:ext cx="1234440" cy="292608"/>
          </a:xfrm>
          <a:prstGeom prst="roundRect">
            <a:avLst>
              <a:gd name="adj" fmla="val 50000"/>
            </a:avLst>
          </a:prstGeom>
          <a:solidFill>
            <a:srgbClr val="2E9E6E"/>
          </a:solidFill>
          <a:ln/>
        </p:spPr>
      </p:sp>
      <p:sp>
        <p:nvSpPr>
          <p:cNvPr id="38" name="Text 29"/>
          <p:cNvSpPr txBox="1"/>
          <p:nvPr/>
        </p:nvSpPr>
        <p:spPr>
          <a:xfrm>
            <a:off x="9259502" y="4818888"/>
            <a:ext cx="1234440"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COMPLETED</a:t>
            </a:r>
            <a:endParaRPr lang="en-US" sz="1050" dirty="0"/>
          </a:p>
        </p:txBody>
      </p:sp>
      <p:sp>
        <p:nvSpPr>
          <p:cNvPr id="39" name="Text 30"/>
          <p:cNvSpPr txBox="1"/>
          <p:nvPr/>
        </p:nvSpPr>
        <p:spPr>
          <a:xfrm>
            <a:off x="6516302" y="5239512"/>
            <a:ext cx="2606040" cy="384048"/>
          </a:xfrm>
          <a:prstGeom prst="rect">
            <a:avLst/>
          </a:prstGeom>
          <a:noFill/>
          <a:ln/>
        </p:spPr>
        <p:txBody>
          <a:bodyPr wrap="square" lIns="0" tIns="0" rIns="0" bIns="0" rtlCol="0" anchor="ctr"/>
          <a:lstStyle/>
          <a:p>
            <a:pPr marL="0" indent="0">
              <a:buNone/>
            </a:pPr>
            <a:r>
              <a:rPr lang="en-US" sz="1050" dirty="0">
                <a:solidFill>
                  <a:srgbClr val="13293D"/>
                </a:solidFill>
                <a:latin typeface="Calibri" pitchFamily="34" charset="0"/>
                <a:ea typeface="Calibri" pitchFamily="34" charset="-122"/>
                <a:cs typeface="Calibri" pitchFamily="34" charset="-120"/>
              </a:rPr>
              <a:t>Initial circuit design prepared</a:t>
            </a:r>
            <a:endParaRPr lang="en-US" sz="1050" dirty="0"/>
          </a:p>
        </p:txBody>
      </p:sp>
      <p:sp>
        <p:nvSpPr>
          <p:cNvPr id="40" name="Shape 31"/>
          <p:cNvSpPr/>
          <p:nvPr/>
        </p:nvSpPr>
        <p:spPr>
          <a:xfrm>
            <a:off x="9259502" y="5276088"/>
            <a:ext cx="1234440" cy="292608"/>
          </a:xfrm>
          <a:prstGeom prst="roundRect">
            <a:avLst>
              <a:gd name="adj" fmla="val 50000"/>
            </a:avLst>
          </a:prstGeom>
          <a:solidFill>
            <a:srgbClr val="2E9E6E"/>
          </a:solidFill>
          <a:ln/>
        </p:spPr>
      </p:sp>
      <p:sp>
        <p:nvSpPr>
          <p:cNvPr id="41" name="Text 32"/>
          <p:cNvSpPr txBox="1"/>
          <p:nvPr/>
        </p:nvSpPr>
        <p:spPr>
          <a:xfrm>
            <a:off x="9259502" y="5276088"/>
            <a:ext cx="1234440"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COMPLETED</a:t>
            </a:r>
            <a:endParaRPr lang="en-US" sz="1050" dirty="0"/>
          </a:p>
        </p:txBody>
      </p:sp>
      <p:sp>
        <p:nvSpPr>
          <p:cNvPr id="42" name="Text 33"/>
          <p:cNvSpPr txBox="1"/>
          <p:nvPr/>
        </p:nvSpPr>
        <p:spPr>
          <a:xfrm>
            <a:off x="6516302" y="5696712"/>
            <a:ext cx="2606040" cy="384048"/>
          </a:xfrm>
          <a:prstGeom prst="rect">
            <a:avLst/>
          </a:prstGeom>
          <a:noFill/>
          <a:ln/>
        </p:spPr>
        <p:txBody>
          <a:bodyPr wrap="square" lIns="0" tIns="0" rIns="0" bIns="0" rtlCol="0" anchor="ctr"/>
          <a:lstStyle/>
          <a:p>
            <a:pPr marL="0" indent="0">
              <a:buNone/>
            </a:pPr>
            <a:r>
              <a:rPr lang="en-US" sz="1050" dirty="0">
                <a:solidFill>
                  <a:srgbClr val="13293D"/>
                </a:solidFill>
                <a:latin typeface="Calibri" pitchFamily="34" charset="0"/>
                <a:ea typeface="Calibri" pitchFamily="34" charset="-122"/>
                <a:cs typeface="Calibri" pitchFamily="34" charset="-120"/>
              </a:rPr>
              <a:t>Single-sensor prototype testing</a:t>
            </a:r>
            <a:endParaRPr lang="en-US" sz="1050" dirty="0"/>
          </a:p>
        </p:txBody>
      </p:sp>
      <p:sp>
        <p:nvSpPr>
          <p:cNvPr id="43" name="Shape 34"/>
          <p:cNvSpPr/>
          <p:nvPr/>
        </p:nvSpPr>
        <p:spPr>
          <a:xfrm>
            <a:off x="9259502" y="5733288"/>
            <a:ext cx="1417320" cy="292608"/>
          </a:xfrm>
          <a:prstGeom prst="roundRect">
            <a:avLst>
              <a:gd name="adj" fmla="val 50000"/>
            </a:avLst>
          </a:prstGeom>
          <a:solidFill>
            <a:srgbClr val="E8A33D"/>
          </a:solidFill>
          <a:ln/>
        </p:spPr>
      </p:sp>
      <p:sp>
        <p:nvSpPr>
          <p:cNvPr id="44" name="Text 35"/>
          <p:cNvSpPr txBox="1"/>
          <p:nvPr/>
        </p:nvSpPr>
        <p:spPr>
          <a:xfrm>
            <a:off x="9259502" y="5733288"/>
            <a:ext cx="1417320"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IN PROGRESS</a:t>
            </a:r>
            <a:endParaRPr lang="en-US" sz="1050" dirty="0"/>
          </a:p>
        </p:txBody>
      </p:sp>
      <p:sp>
        <p:nvSpPr>
          <p:cNvPr id="45" name="Text 36"/>
          <p:cNvSpPr txBox="1"/>
          <p:nvPr/>
        </p:nvSpPr>
        <p:spPr>
          <a:xfrm>
            <a:off x="11277295" y="6446520"/>
            <a:ext cx="731520" cy="274320"/>
          </a:xfrm>
          <a:prstGeom prst="rect">
            <a:avLst/>
          </a:prstGeom>
          <a:noFill/>
          <a:ln/>
        </p:spPr>
        <p:txBody>
          <a:bodyPr wrap="square" lIns="0" tIns="0" rIns="0" bIns="0" rtlCol="0" anchor="ctr"/>
          <a:lstStyle/>
          <a:p>
            <a:pPr marL="0" indent="0" algn="r">
              <a:buNone/>
            </a:pPr>
            <a:r>
              <a:rPr lang="en-US" sz="1000" dirty="0">
                <a:solidFill>
                  <a:srgbClr val="6E7B85"/>
                </a:solidFill>
                <a:latin typeface="Calibri" pitchFamily="34" charset="0"/>
                <a:ea typeface="Calibri" pitchFamily="34" charset="-122"/>
                <a:cs typeface="Calibri" pitchFamily="34" charset="-120"/>
              </a:rPr>
              <a:t>6 / 8</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4478FD5B-760C-4B94-BB18-3A8EFF342678}"/>
              </a:ext>
            </a:extLst>
          </p:cNvPr>
          <p:cNvSpPr txBox="1"/>
          <p:nvPr/>
        </p:nvSpPr>
        <p:spPr>
          <a:xfrm>
            <a:off x="1563624" y="178308"/>
            <a:ext cx="8686800" cy="502920"/>
          </a:xfrm>
          <a:prstGeom prst="rect">
            <a:avLst/>
          </a:prstGeom>
          <a:noFill/>
          <a:ln/>
        </p:spPr>
        <p:txBody>
          <a:bodyPr wrap="square" lIns="0" tIns="0" rIns="0" bIns="0" rtlCol="0" anchor="ctr"/>
          <a:lstStyle/>
          <a:p>
            <a:pPr marL="0" indent="0" algn="ctr">
              <a:buNone/>
            </a:pPr>
            <a:r>
              <a:rPr lang="en-US" sz="3000" b="1" dirty="0">
                <a:solidFill>
                  <a:srgbClr val="1E2761"/>
                </a:solidFill>
                <a:latin typeface="Cambria" pitchFamily="34" charset="0"/>
                <a:ea typeface="Cambria" pitchFamily="34" charset="-122"/>
                <a:cs typeface="Cambria" pitchFamily="34" charset="-120"/>
              </a:rPr>
              <a:t>Project Implementation Timeline</a:t>
            </a:r>
            <a:endParaRPr lang="en-US" sz="3000" dirty="0"/>
          </a:p>
        </p:txBody>
      </p:sp>
      <p:sp>
        <p:nvSpPr>
          <p:cNvPr id="5" name="Text 1">
            <a:extLst>
              <a:ext uri="{FF2B5EF4-FFF2-40B4-BE49-F238E27FC236}">
                <a16:creationId xmlns:a16="http://schemas.microsoft.com/office/drawing/2014/main" id="{86328748-BB5F-13A2-D35F-77DE3598CDD3}"/>
              </a:ext>
            </a:extLst>
          </p:cNvPr>
          <p:cNvSpPr txBox="1"/>
          <p:nvPr/>
        </p:nvSpPr>
        <p:spPr>
          <a:xfrm>
            <a:off x="365760" y="749808"/>
            <a:ext cx="10515600" cy="292608"/>
          </a:xfrm>
          <a:prstGeom prst="rect">
            <a:avLst/>
          </a:prstGeom>
          <a:noFill/>
          <a:ln/>
        </p:spPr>
        <p:txBody>
          <a:bodyPr wrap="square" lIns="0" tIns="0" rIns="0" bIns="0" rtlCol="0" anchor="ctr"/>
          <a:lstStyle/>
          <a:p>
            <a:pPr marL="0" indent="0" algn="l">
              <a:buNone/>
            </a:pPr>
            <a:r>
              <a:rPr lang="en-US" sz="1250" i="1" dirty="0">
                <a:solidFill>
                  <a:srgbClr val="5B6478"/>
                </a:solidFill>
                <a:latin typeface="Calibri" pitchFamily="34" charset="0"/>
                <a:ea typeface="Calibri" pitchFamily="34" charset="-122"/>
                <a:cs typeface="Calibri" pitchFamily="34" charset="-120"/>
              </a:rPr>
              <a:t>Park Ease – Smart Parking Management and Intelligent Reservation System</a:t>
            </a:r>
            <a:endParaRPr lang="en-US" sz="1250" dirty="0"/>
          </a:p>
        </p:txBody>
      </p:sp>
      <p:sp>
        <p:nvSpPr>
          <p:cNvPr id="7" name="Shape 2">
            <a:extLst>
              <a:ext uri="{FF2B5EF4-FFF2-40B4-BE49-F238E27FC236}">
                <a16:creationId xmlns:a16="http://schemas.microsoft.com/office/drawing/2014/main" id="{CDF13F53-5CFB-7B7B-E287-A7C4124D0BBE}"/>
              </a:ext>
            </a:extLst>
          </p:cNvPr>
          <p:cNvSpPr/>
          <p:nvPr/>
        </p:nvSpPr>
        <p:spPr>
          <a:xfrm>
            <a:off x="365760" y="1170432"/>
            <a:ext cx="4206240" cy="365760"/>
          </a:xfrm>
          <a:prstGeom prst="roundRect">
            <a:avLst>
              <a:gd name="adj" fmla="val 20000"/>
            </a:avLst>
          </a:prstGeom>
          <a:solidFill>
            <a:srgbClr val="1E2761"/>
          </a:solidFill>
          <a:ln w="12700">
            <a:solidFill>
              <a:srgbClr val="1E2761"/>
            </a:solidFill>
            <a:prstDash val="solid"/>
          </a:ln>
        </p:spPr>
      </p:sp>
      <p:sp>
        <p:nvSpPr>
          <p:cNvPr id="9" name="Text 3">
            <a:extLst>
              <a:ext uri="{FF2B5EF4-FFF2-40B4-BE49-F238E27FC236}">
                <a16:creationId xmlns:a16="http://schemas.microsoft.com/office/drawing/2014/main" id="{86C3549B-7678-8DB3-D05A-0EC48ACCA232}"/>
              </a:ext>
            </a:extLst>
          </p:cNvPr>
          <p:cNvSpPr txBox="1"/>
          <p:nvPr/>
        </p:nvSpPr>
        <p:spPr>
          <a:xfrm>
            <a:off x="365760" y="1170432"/>
            <a:ext cx="4206240" cy="365760"/>
          </a:xfrm>
          <a:prstGeom prst="rect">
            <a:avLst/>
          </a:prstGeom>
          <a:noFill/>
          <a:ln/>
        </p:spPr>
        <p:txBody>
          <a:bodyPr wrap="square" lIns="0" tIns="0" rIns="0" bIns="0" rtlCol="0" anchor="ctr"/>
          <a:lstStyle/>
          <a:p>
            <a:pPr marL="0" indent="0" algn="ctr">
              <a:buNone/>
            </a:pPr>
            <a:r>
              <a:rPr lang="en-US" sz="1300" b="1" kern="0" spc="100" dirty="0">
                <a:solidFill>
                  <a:srgbClr val="FFFFFF"/>
                </a:solidFill>
                <a:latin typeface="Calibri" pitchFamily="34" charset="0"/>
                <a:ea typeface="Calibri" pitchFamily="34" charset="-122"/>
                <a:cs typeface="Calibri" pitchFamily="34" charset="-120"/>
              </a:rPr>
              <a:t>ZEROTH REVIEW  —  PLANNED</a:t>
            </a:r>
            <a:endParaRPr lang="en-US" sz="1300" dirty="0"/>
          </a:p>
        </p:txBody>
      </p:sp>
      <p:sp>
        <p:nvSpPr>
          <p:cNvPr id="11" name="Shape 4">
            <a:extLst>
              <a:ext uri="{FF2B5EF4-FFF2-40B4-BE49-F238E27FC236}">
                <a16:creationId xmlns:a16="http://schemas.microsoft.com/office/drawing/2014/main" id="{8C4BE232-35A0-EC9C-86FE-74B712405241}"/>
              </a:ext>
            </a:extLst>
          </p:cNvPr>
          <p:cNvSpPr/>
          <p:nvPr/>
        </p:nvSpPr>
        <p:spPr>
          <a:xfrm>
            <a:off x="7589520" y="1170432"/>
            <a:ext cx="4206240" cy="365760"/>
          </a:xfrm>
          <a:prstGeom prst="roundRect">
            <a:avLst>
              <a:gd name="adj" fmla="val 20000"/>
            </a:avLst>
          </a:prstGeom>
          <a:solidFill>
            <a:srgbClr val="3B4A8C"/>
          </a:solidFill>
          <a:ln w="12700">
            <a:solidFill>
              <a:srgbClr val="3B4A8C"/>
            </a:solidFill>
            <a:prstDash val="solid"/>
          </a:ln>
        </p:spPr>
      </p:sp>
      <p:sp>
        <p:nvSpPr>
          <p:cNvPr id="13" name="Text 5">
            <a:extLst>
              <a:ext uri="{FF2B5EF4-FFF2-40B4-BE49-F238E27FC236}">
                <a16:creationId xmlns:a16="http://schemas.microsoft.com/office/drawing/2014/main" id="{90062E56-D547-B17C-3972-0EB3CDED60EC}"/>
              </a:ext>
            </a:extLst>
          </p:cNvPr>
          <p:cNvSpPr txBox="1"/>
          <p:nvPr/>
        </p:nvSpPr>
        <p:spPr>
          <a:xfrm>
            <a:off x="7589520" y="1170432"/>
            <a:ext cx="4206240" cy="365760"/>
          </a:xfrm>
          <a:prstGeom prst="rect">
            <a:avLst/>
          </a:prstGeom>
          <a:noFill/>
          <a:ln/>
        </p:spPr>
        <p:txBody>
          <a:bodyPr wrap="square" lIns="0" tIns="0" rIns="0" bIns="0" rtlCol="0" anchor="ctr"/>
          <a:lstStyle/>
          <a:p>
            <a:pPr marL="0" indent="0" algn="ctr">
              <a:buNone/>
            </a:pPr>
            <a:r>
              <a:rPr lang="en-US" sz="1300" b="1" kern="0" spc="100" dirty="0">
                <a:solidFill>
                  <a:srgbClr val="FFFFFF"/>
                </a:solidFill>
                <a:latin typeface="Calibri" pitchFamily="34" charset="0"/>
                <a:ea typeface="Calibri" pitchFamily="34" charset="-122"/>
                <a:cs typeface="Calibri" pitchFamily="34" charset="-120"/>
              </a:rPr>
              <a:t>FIRST REVIEW  —  CURRENT STATUS</a:t>
            </a:r>
            <a:endParaRPr lang="en-US" sz="1300" dirty="0"/>
          </a:p>
        </p:txBody>
      </p:sp>
      <p:sp>
        <p:nvSpPr>
          <p:cNvPr id="15" name="Shape 6">
            <a:extLst>
              <a:ext uri="{FF2B5EF4-FFF2-40B4-BE49-F238E27FC236}">
                <a16:creationId xmlns:a16="http://schemas.microsoft.com/office/drawing/2014/main" id="{7153F2CC-FE20-7AF1-FF50-53A993B64A59}"/>
              </a:ext>
            </a:extLst>
          </p:cNvPr>
          <p:cNvSpPr/>
          <p:nvPr/>
        </p:nvSpPr>
        <p:spPr>
          <a:xfrm>
            <a:off x="6080760" y="2020824"/>
            <a:ext cx="0" cy="3749040"/>
          </a:xfrm>
          <a:prstGeom prst="line">
            <a:avLst/>
          </a:prstGeom>
          <a:noFill/>
          <a:ln w="25400">
            <a:solidFill>
              <a:srgbClr val="C7CEDD"/>
            </a:solidFill>
            <a:prstDash val="solid"/>
          </a:ln>
        </p:spPr>
      </p:sp>
      <p:sp>
        <p:nvSpPr>
          <p:cNvPr id="17" name="Shape 7">
            <a:extLst>
              <a:ext uri="{FF2B5EF4-FFF2-40B4-BE49-F238E27FC236}">
                <a16:creationId xmlns:a16="http://schemas.microsoft.com/office/drawing/2014/main" id="{BAA7734A-F56F-2508-5166-26D759129D4C}"/>
              </a:ext>
            </a:extLst>
          </p:cNvPr>
          <p:cNvSpPr/>
          <p:nvPr/>
        </p:nvSpPr>
        <p:spPr>
          <a:xfrm>
            <a:off x="365760" y="1691640"/>
            <a:ext cx="4206240" cy="658368"/>
          </a:xfrm>
          <a:prstGeom prst="roundRect">
            <a:avLst>
              <a:gd name="adj" fmla="val 12500"/>
            </a:avLst>
          </a:prstGeom>
          <a:solidFill>
            <a:srgbClr val="EEF3FC"/>
          </a:solidFill>
          <a:ln w="12700">
            <a:solidFill>
              <a:srgbClr val="CFDDF3"/>
            </a:solidFill>
            <a:prstDash val="solid"/>
          </a:ln>
          <a:effectLst>
            <a:outerShdw blurRad="50800" dist="12700" dir="5400000" algn="bl" rotWithShape="0">
              <a:srgbClr val="9AA6C4">
                <a:alpha val="25000"/>
              </a:srgbClr>
            </a:outerShdw>
          </a:effectLst>
        </p:spPr>
      </p:sp>
      <p:sp>
        <p:nvSpPr>
          <p:cNvPr id="19" name="Text 8">
            <a:extLst>
              <a:ext uri="{FF2B5EF4-FFF2-40B4-BE49-F238E27FC236}">
                <a16:creationId xmlns:a16="http://schemas.microsoft.com/office/drawing/2014/main" id="{3A75044F-2552-6B24-5A43-7E04887B6052}"/>
              </a:ext>
            </a:extLst>
          </p:cNvPr>
          <p:cNvSpPr txBox="1"/>
          <p:nvPr/>
        </p:nvSpPr>
        <p:spPr>
          <a:xfrm>
            <a:off x="566928" y="1755648"/>
            <a:ext cx="3803904" cy="329184"/>
          </a:xfrm>
          <a:prstGeom prst="rect">
            <a:avLst/>
          </a:prstGeom>
          <a:noFill/>
          <a:ln/>
        </p:spPr>
        <p:txBody>
          <a:bodyPr wrap="square" lIns="0" tIns="0" rIns="0" bIns="0" rtlCol="0" anchor="t"/>
          <a:lstStyle/>
          <a:p>
            <a:pPr marL="0" indent="0" algn="l">
              <a:lnSpc>
                <a:spcPct val="102000"/>
              </a:lnSpc>
              <a:buNone/>
            </a:pPr>
            <a:r>
              <a:rPr lang="en-US" sz="1150" b="1" dirty="0">
                <a:solidFill>
                  <a:srgbClr val="1E2761"/>
                </a:solidFill>
                <a:latin typeface="Calibri" pitchFamily="34" charset="0"/>
                <a:ea typeface="Calibri" pitchFamily="34" charset="-122"/>
                <a:cs typeface="Calibri" pitchFamily="34" charset="-120"/>
              </a:rPr>
              <a:t>Requirement Analysis &amp; System Architecture</a:t>
            </a:r>
            <a:endParaRPr lang="en-US" sz="1150" dirty="0"/>
          </a:p>
        </p:txBody>
      </p:sp>
      <p:sp>
        <p:nvSpPr>
          <p:cNvPr id="21" name="Text 9">
            <a:extLst>
              <a:ext uri="{FF2B5EF4-FFF2-40B4-BE49-F238E27FC236}">
                <a16:creationId xmlns:a16="http://schemas.microsoft.com/office/drawing/2014/main" id="{96019F4F-D59E-E137-7DC6-94613AAE5FA3}"/>
              </a:ext>
            </a:extLst>
          </p:cNvPr>
          <p:cNvSpPr txBox="1"/>
          <p:nvPr/>
        </p:nvSpPr>
        <p:spPr>
          <a:xfrm>
            <a:off x="566928" y="2093976"/>
            <a:ext cx="3803904" cy="219456"/>
          </a:xfrm>
          <a:prstGeom prst="rect">
            <a:avLst/>
          </a:prstGeom>
          <a:noFill/>
          <a:ln/>
        </p:spPr>
        <p:txBody>
          <a:bodyPr wrap="square" lIns="0" tIns="0" rIns="0" bIns="0" rtlCol="0" anchor="ctr"/>
          <a:lstStyle/>
          <a:p>
            <a:pPr marL="0" indent="0" algn="l">
              <a:buNone/>
            </a:pPr>
            <a:r>
              <a:rPr lang="en-US" sz="950" i="1" dirty="0">
                <a:solidFill>
                  <a:srgbClr val="5B6478"/>
                </a:solidFill>
                <a:latin typeface="Calibri" pitchFamily="34" charset="0"/>
                <a:ea typeface="Calibri" pitchFamily="34" charset="-122"/>
                <a:cs typeface="Calibri" pitchFamily="34" charset="-120"/>
              </a:rPr>
              <a:t>Planned: 25 JUL 2026</a:t>
            </a:r>
            <a:endParaRPr lang="en-US" sz="950" dirty="0"/>
          </a:p>
        </p:txBody>
      </p:sp>
      <p:sp>
        <p:nvSpPr>
          <p:cNvPr id="23" name="Shape 10">
            <a:extLst>
              <a:ext uri="{FF2B5EF4-FFF2-40B4-BE49-F238E27FC236}">
                <a16:creationId xmlns:a16="http://schemas.microsoft.com/office/drawing/2014/main" id="{9DB65A82-78F1-98C2-3D2B-BA3993A853BF}"/>
              </a:ext>
            </a:extLst>
          </p:cNvPr>
          <p:cNvSpPr/>
          <p:nvPr/>
        </p:nvSpPr>
        <p:spPr>
          <a:xfrm>
            <a:off x="4572000" y="2020824"/>
            <a:ext cx="1335024" cy="0"/>
          </a:xfrm>
          <a:prstGeom prst="line">
            <a:avLst/>
          </a:prstGeom>
          <a:noFill/>
          <a:ln w="19050">
            <a:solidFill>
              <a:srgbClr val="C7CEDD"/>
            </a:solidFill>
            <a:prstDash val="solid"/>
          </a:ln>
        </p:spPr>
      </p:sp>
      <p:sp>
        <p:nvSpPr>
          <p:cNvPr id="25" name="Shape 11">
            <a:extLst>
              <a:ext uri="{FF2B5EF4-FFF2-40B4-BE49-F238E27FC236}">
                <a16:creationId xmlns:a16="http://schemas.microsoft.com/office/drawing/2014/main" id="{DE8E83F8-CE02-385F-D007-9DF2ED8B3E78}"/>
              </a:ext>
            </a:extLst>
          </p:cNvPr>
          <p:cNvSpPr/>
          <p:nvPr/>
        </p:nvSpPr>
        <p:spPr>
          <a:xfrm>
            <a:off x="6254496" y="2020824"/>
            <a:ext cx="1335024" cy="0"/>
          </a:xfrm>
          <a:prstGeom prst="line">
            <a:avLst/>
          </a:prstGeom>
          <a:noFill/>
          <a:ln w="19050">
            <a:solidFill>
              <a:srgbClr val="C7CEDD"/>
            </a:solidFill>
            <a:prstDash val="solid"/>
          </a:ln>
        </p:spPr>
      </p:sp>
      <p:sp>
        <p:nvSpPr>
          <p:cNvPr id="27" name="Shape 12">
            <a:extLst>
              <a:ext uri="{FF2B5EF4-FFF2-40B4-BE49-F238E27FC236}">
                <a16:creationId xmlns:a16="http://schemas.microsoft.com/office/drawing/2014/main" id="{C7B6EDF1-977B-372B-0B94-419096A365D1}"/>
              </a:ext>
            </a:extLst>
          </p:cNvPr>
          <p:cNvSpPr/>
          <p:nvPr/>
        </p:nvSpPr>
        <p:spPr>
          <a:xfrm>
            <a:off x="5907024" y="1847088"/>
            <a:ext cx="347472" cy="347472"/>
          </a:xfrm>
          <a:prstGeom prst="ellipse">
            <a:avLst/>
          </a:prstGeom>
          <a:solidFill>
            <a:srgbClr val="2E7D32"/>
          </a:solidFill>
          <a:ln w="25400">
            <a:solidFill>
              <a:srgbClr val="FFFFFF"/>
            </a:solidFill>
            <a:prstDash val="solid"/>
          </a:ln>
          <a:effectLst>
            <a:outerShdw blurRad="38100" dist="12700" dir="5400000" algn="bl" rotWithShape="0">
              <a:srgbClr val="6B7280">
                <a:alpha val="30000"/>
              </a:srgbClr>
            </a:outerShdw>
          </a:effectLst>
        </p:spPr>
      </p:sp>
      <p:sp>
        <p:nvSpPr>
          <p:cNvPr id="29" name="Text 13">
            <a:extLst>
              <a:ext uri="{FF2B5EF4-FFF2-40B4-BE49-F238E27FC236}">
                <a16:creationId xmlns:a16="http://schemas.microsoft.com/office/drawing/2014/main" id="{4BEBBCD9-CD0B-5D60-7F86-8285D80A0D33}"/>
              </a:ext>
            </a:extLst>
          </p:cNvPr>
          <p:cNvSpPr txBox="1"/>
          <p:nvPr/>
        </p:nvSpPr>
        <p:spPr>
          <a:xfrm>
            <a:off x="5907024" y="1847088"/>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31" name="Shape 14">
            <a:extLst>
              <a:ext uri="{FF2B5EF4-FFF2-40B4-BE49-F238E27FC236}">
                <a16:creationId xmlns:a16="http://schemas.microsoft.com/office/drawing/2014/main" id="{58D85055-E464-BB99-53B2-DFA43DEAA44A}"/>
              </a:ext>
            </a:extLst>
          </p:cNvPr>
          <p:cNvSpPr/>
          <p:nvPr/>
        </p:nvSpPr>
        <p:spPr>
          <a:xfrm>
            <a:off x="7589520" y="1691640"/>
            <a:ext cx="4206240" cy="658368"/>
          </a:xfrm>
          <a:prstGeom prst="roundRect">
            <a:avLst>
              <a:gd name="adj" fmla="val 12500"/>
            </a:avLst>
          </a:prstGeom>
          <a:solidFill>
            <a:srgbClr val="E7F4E8"/>
          </a:solidFill>
          <a:ln w="12700">
            <a:solidFill>
              <a:srgbClr val="2E7D32"/>
            </a:solidFill>
            <a:prstDash val="solid"/>
          </a:ln>
          <a:effectLst>
            <a:outerShdw blurRad="50800" dist="12700" dir="5400000" algn="bl" rotWithShape="0">
              <a:srgbClr val="9AA6C4">
                <a:alpha val="25000"/>
              </a:srgbClr>
            </a:outerShdw>
          </a:effectLst>
        </p:spPr>
      </p:sp>
      <p:sp>
        <p:nvSpPr>
          <p:cNvPr id="33" name="Shape 15">
            <a:extLst>
              <a:ext uri="{FF2B5EF4-FFF2-40B4-BE49-F238E27FC236}">
                <a16:creationId xmlns:a16="http://schemas.microsoft.com/office/drawing/2014/main" id="{C3C82E88-DD7E-6241-CB41-9ECF435276F9}"/>
              </a:ext>
            </a:extLst>
          </p:cNvPr>
          <p:cNvSpPr/>
          <p:nvPr/>
        </p:nvSpPr>
        <p:spPr>
          <a:xfrm>
            <a:off x="7790688" y="1773936"/>
            <a:ext cx="1371600" cy="256032"/>
          </a:xfrm>
          <a:prstGeom prst="roundRect">
            <a:avLst>
              <a:gd name="adj" fmla="val 50000"/>
            </a:avLst>
          </a:prstGeom>
          <a:solidFill>
            <a:srgbClr val="2E7D32"/>
          </a:solidFill>
          <a:ln w="12700">
            <a:solidFill>
              <a:srgbClr val="2E7D32"/>
            </a:solidFill>
            <a:prstDash val="solid"/>
          </a:ln>
        </p:spPr>
      </p:sp>
      <p:sp>
        <p:nvSpPr>
          <p:cNvPr id="35" name="Text 16">
            <a:extLst>
              <a:ext uri="{FF2B5EF4-FFF2-40B4-BE49-F238E27FC236}">
                <a16:creationId xmlns:a16="http://schemas.microsoft.com/office/drawing/2014/main" id="{1971D23B-2E3A-41F7-14B2-CF9F319ACAAA}"/>
              </a:ext>
            </a:extLst>
          </p:cNvPr>
          <p:cNvSpPr txBox="1"/>
          <p:nvPr/>
        </p:nvSpPr>
        <p:spPr>
          <a:xfrm>
            <a:off x="7790688" y="1773936"/>
            <a:ext cx="1371600" cy="256032"/>
          </a:xfrm>
          <a:prstGeom prst="rect">
            <a:avLst/>
          </a:prstGeom>
          <a:noFill/>
          <a:ln/>
        </p:spPr>
        <p:txBody>
          <a:bodyPr wrap="square" lIns="0" tIns="0" rIns="0" bIns="0" rtlCol="0" anchor="ctr"/>
          <a:lstStyle/>
          <a:p>
            <a:pPr marL="0" indent="0" algn="ctr">
              <a:buNone/>
            </a:pPr>
            <a:r>
              <a:rPr lang="en-US" sz="1000" b="1" kern="0" spc="50" dirty="0">
                <a:solidFill>
                  <a:srgbClr val="FFFFFF"/>
                </a:solidFill>
                <a:latin typeface="Calibri" pitchFamily="34" charset="0"/>
                <a:ea typeface="Calibri" pitchFamily="34" charset="-122"/>
                <a:cs typeface="Calibri" pitchFamily="34" charset="-120"/>
              </a:rPr>
              <a:t>COMPLETED</a:t>
            </a:r>
            <a:endParaRPr lang="en-US" sz="1000" dirty="0"/>
          </a:p>
        </p:txBody>
      </p:sp>
      <p:sp>
        <p:nvSpPr>
          <p:cNvPr id="37" name="Text 17">
            <a:extLst>
              <a:ext uri="{FF2B5EF4-FFF2-40B4-BE49-F238E27FC236}">
                <a16:creationId xmlns:a16="http://schemas.microsoft.com/office/drawing/2014/main" id="{C2FCF8D3-BBFC-C104-8F5E-E59B223E2E39}"/>
              </a:ext>
            </a:extLst>
          </p:cNvPr>
          <p:cNvSpPr txBox="1"/>
          <p:nvPr/>
        </p:nvSpPr>
        <p:spPr>
          <a:xfrm>
            <a:off x="7790688" y="2075688"/>
            <a:ext cx="3803904" cy="237744"/>
          </a:xfrm>
          <a:prstGeom prst="rect">
            <a:avLst/>
          </a:prstGeom>
          <a:noFill/>
          <a:ln/>
        </p:spPr>
        <p:txBody>
          <a:bodyPr wrap="square" lIns="0" tIns="0" rIns="0" bIns="0" rtlCol="0" anchor="ctr"/>
          <a:lstStyle/>
          <a:p>
            <a:pPr marL="0" indent="0" algn="l">
              <a:buNone/>
            </a:pPr>
            <a:r>
              <a:rPr lang="en-US" sz="1000" dirty="0">
                <a:solidFill>
                  <a:srgbClr val="1E2761"/>
                </a:solidFill>
                <a:latin typeface="Calibri" pitchFamily="34" charset="0"/>
                <a:ea typeface="Calibri" pitchFamily="34" charset="-122"/>
                <a:cs typeface="Calibri" pitchFamily="34" charset="-120"/>
              </a:rPr>
              <a:t>Completed 25 JUL 2026</a:t>
            </a:r>
            <a:endParaRPr lang="en-US" sz="1000" dirty="0"/>
          </a:p>
        </p:txBody>
      </p:sp>
      <p:sp>
        <p:nvSpPr>
          <p:cNvPr id="39" name="Shape 18">
            <a:extLst>
              <a:ext uri="{FF2B5EF4-FFF2-40B4-BE49-F238E27FC236}">
                <a16:creationId xmlns:a16="http://schemas.microsoft.com/office/drawing/2014/main" id="{894F0CE6-2AC3-9D05-12C9-E3C74B49BA1D}"/>
              </a:ext>
            </a:extLst>
          </p:cNvPr>
          <p:cNvSpPr/>
          <p:nvPr/>
        </p:nvSpPr>
        <p:spPr>
          <a:xfrm>
            <a:off x="365760" y="2441448"/>
            <a:ext cx="4206240" cy="658368"/>
          </a:xfrm>
          <a:prstGeom prst="roundRect">
            <a:avLst>
              <a:gd name="adj" fmla="val 12500"/>
            </a:avLst>
          </a:prstGeom>
          <a:solidFill>
            <a:srgbClr val="EEF3FC"/>
          </a:solidFill>
          <a:ln w="12700">
            <a:solidFill>
              <a:srgbClr val="CFDDF3"/>
            </a:solidFill>
            <a:prstDash val="solid"/>
          </a:ln>
          <a:effectLst>
            <a:outerShdw blurRad="50800" dist="12700" dir="5400000" algn="bl" rotWithShape="0">
              <a:srgbClr val="9AA6C4">
                <a:alpha val="25000"/>
              </a:srgbClr>
            </a:outerShdw>
          </a:effectLst>
        </p:spPr>
      </p:sp>
      <p:sp>
        <p:nvSpPr>
          <p:cNvPr id="41" name="Text 19">
            <a:extLst>
              <a:ext uri="{FF2B5EF4-FFF2-40B4-BE49-F238E27FC236}">
                <a16:creationId xmlns:a16="http://schemas.microsoft.com/office/drawing/2014/main" id="{3DE577BA-BEC1-8B8B-F141-7CC27991D089}"/>
              </a:ext>
            </a:extLst>
          </p:cNvPr>
          <p:cNvSpPr txBox="1"/>
          <p:nvPr/>
        </p:nvSpPr>
        <p:spPr>
          <a:xfrm>
            <a:off x="566928" y="2505456"/>
            <a:ext cx="3803904" cy="329184"/>
          </a:xfrm>
          <a:prstGeom prst="rect">
            <a:avLst/>
          </a:prstGeom>
          <a:noFill/>
          <a:ln/>
        </p:spPr>
        <p:txBody>
          <a:bodyPr wrap="square" lIns="0" tIns="0" rIns="0" bIns="0" rtlCol="0" anchor="t"/>
          <a:lstStyle/>
          <a:p>
            <a:pPr marL="0" indent="0" algn="l">
              <a:lnSpc>
                <a:spcPct val="102000"/>
              </a:lnSpc>
              <a:buNone/>
            </a:pPr>
            <a:r>
              <a:rPr lang="en-US" sz="1150" b="1" dirty="0">
                <a:solidFill>
                  <a:srgbClr val="1E2761"/>
                </a:solidFill>
                <a:latin typeface="Calibri" pitchFamily="34" charset="0"/>
                <a:ea typeface="Calibri" pitchFamily="34" charset="-122"/>
                <a:cs typeface="Calibri" pitchFamily="34" charset="-120"/>
              </a:rPr>
              <a:t>Database &amp; Backend Development</a:t>
            </a:r>
            <a:endParaRPr lang="en-US" sz="1150" dirty="0"/>
          </a:p>
        </p:txBody>
      </p:sp>
      <p:sp>
        <p:nvSpPr>
          <p:cNvPr id="43" name="Text 20">
            <a:extLst>
              <a:ext uri="{FF2B5EF4-FFF2-40B4-BE49-F238E27FC236}">
                <a16:creationId xmlns:a16="http://schemas.microsoft.com/office/drawing/2014/main" id="{FA83B890-92E0-725A-8253-D605A2135443}"/>
              </a:ext>
            </a:extLst>
          </p:cNvPr>
          <p:cNvSpPr txBox="1"/>
          <p:nvPr/>
        </p:nvSpPr>
        <p:spPr>
          <a:xfrm>
            <a:off x="566928" y="2843784"/>
            <a:ext cx="3803904" cy="219456"/>
          </a:xfrm>
          <a:prstGeom prst="rect">
            <a:avLst/>
          </a:prstGeom>
          <a:noFill/>
          <a:ln/>
        </p:spPr>
        <p:txBody>
          <a:bodyPr wrap="square" lIns="0" tIns="0" rIns="0" bIns="0" rtlCol="0" anchor="ctr"/>
          <a:lstStyle/>
          <a:p>
            <a:pPr marL="0" indent="0" algn="l">
              <a:buNone/>
            </a:pPr>
            <a:r>
              <a:rPr lang="en-US" sz="950" i="1" dirty="0">
                <a:solidFill>
                  <a:srgbClr val="5B6478"/>
                </a:solidFill>
                <a:latin typeface="Calibri" pitchFamily="34" charset="0"/>
                <a:ea typeface="Calibri" pitchFamily="34" charset="-122"/>
                <a:cs typeface="Calibri" pitchFamily="34" charset="-120"/>
              </a:rPr>
              <a:t>Planned: 01 AUG 2026</a:t>
            </a:r>
            <a:endParaRPr lang="en-US" sz="950" dirty="0"/>
          </a:p>
        </p:txBody>
      </p:sp>
      <p:sp>
        <p:nvSpPr>
          <p:cNvPr id="45" name="Shape 21">
            <a:extLst>
              <a:ext uri="{FF2B5EF4-FFF2-40B4-BE49-F238E27FC236}">
                <a16:creationId xmlns:a16="http://schemas.microsoft.com/office/drawing/2014/main" id="{85F78A6A-CE03-735C-183C-602F35BA3499}"/>
              </a:ext>
            </a:extLst>
          </p:cNvPr>
          <p:cNvSpPr/>
          <p:nvPr/>
        </p:nvSpPr>
        <p:spPr>
          <a:xfrm>
            <a:off x="4572000" y="2770632"/>
            <a:ext cx="1335024" cy="0"/>
          </a:xfrm>
          <a:prstGeom prst="line">
            <a:avLst/>
          </a:prstGeom>
          <a:noFill/>
          <a:ln w="19050">
            <a:solidFill>
              <a:srgbClr val="C7CEDD"/>
            </a:solidFill>
            <a:prstDash val="solid"/>
          </a:ln>
        </p:spPr>
      </p:sp>
      <p:sp>
        <p:nvSpPr>
          <p:cNvPr id="47" name="Shape 22">
            <a:extLst>
              <a:ext uri="{FF2B5EF4-FFF2-40B4-BE49-F238E27FC236}">
                <a16:creationId xmlns:a16="http://schemas.microsoft.com/office/drawing/2014/main" id="{89E04EBE-F574-710A-079E-9BD26FED7D75}"/>
              </a:ext>
            </a:extLst>
          </p:cNvPr>
          <p:cNvSpPr/>
          <p:nvPr/>
        </p:nvSpPr>
        <p:spPr>
          <a:xfrm>
            <a:off x="6254496" y="2770632"/>
            <a:ext cx="1335024" cy="0"/>
          </a:xfrm>
          <a:prstGeom prst="line">
            <a:avLst/>
          </a:prstGeom>
          <a:noFill/>
          <a:ln w="19050">
            <a:solidFill>
              <a:srgbClr val="C7CEDD"/>
            </a:solidFill>
            <a:prstDash val="solid"/>
          </a:ln>
        </p:spPr>
      </p:sp>
      <p:sp>
        <p:nvSpPr>
          <p:cNvPr id="49" name="Shape 23">
            <a:extLst>
              <a:ext uri="{FF2B5EF4-FFF2-40B4-BE49-F238E27FC236}">
                <a16:creationId xmlns:a16="http://schemas.microsoft.com/office/drawing/2014/main" id="{B0BAFC4D-CCA7-CF60-46C4-5915140C615D}"/>
              </a:ext>
            </a:extLst>
          </p:cNvPr>
          <p:cNvSpPr/>
          <p:nvPr/>
        </p:nvSpPr>
        <p:spPr>
          <a:xfrm>
            <a:off x="5907024" y="2596896"/>
            <a:ext cx="347472" cy="347472"/>
          </a:xfrm>
          <a:prstGeom prst="ellipse">
            <a:avLst/>
          </a:prstGeom>
          <a:solidFill>
            <a:srgbClr val="2E7D32"/>
          </a:solidFill>
          <a:ln w="25400">
            <a:solidFill>
              <a:srgbClr val="FFFFFF"/>
            </a:solidFill>
            <a:prstDash val="solid"/>
          </a:ln>
          <a:effectLst>
            <a:outerShdw blurRad="38100" dist="12700" dir="5400000" algn="bl" rotWithShape="0">
              <a:srgbClr val="6B7280">
                <a:alpha val="30000"/>
              </a:srgbClr>
            </a:outerShdw>
          </a:effectLst>
        </p:spPr>
      </p:sp>
      <p:sp>
        <p:nvSpPr>
          <p:cNvPr id="51" name="Text 24">
            <a:extLst>
              <a:ext uri="{FF2B5EF4-FFF2-40B4-BE49-F238E27FC236}">
                <a16:creationId xmlns:a16="http://schemas.microsoft.com/office/drawing/2014/main" id="{2CFDA022-782A-3858-EEAF-985A896F5D70}"/>
              </a:ext>
            </a:extLst>
          </p:cNvPr>
          <p:cNvSpPr txBox="1"/>
          <p:nvPr/>
        </p:nvSpPr>
        <p:spPr>
          <a:xfrm>
            <a:off x="5907024" y="2596896"/>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53" name="Shape 25">
            <a:extLst>
              <a:ext uri="{FF2B5EF4-FFF2-40B4-BE49-F238E27FC236}">
                <a16:creationId xmlns:a16="http://schemas.microsoft.com/office/drawing/2014/main" id="{372D9F96-EEA2-5051-8E76-4162F2C5A1A5}"/>
              </a:ext>
            </a:extLst>
          </p:cNvPr>
          <p:cNvSpPr/>
          <p:nvPr/>
        </p:nvSpPr>
        <p:spPr>
          <a:xfrm>
            <a:off x="7589520" y="2441448"/>
            <a:ext cx="4206240" cy="658368"/>
          </a:xfrm>
          <a:prstGeom prst="roundRect">
            <a:avLst>
              <a:gd name="adj" fmla="val 12500"/>
            </a:avLst>
          </a:prstGeom>
          <a:solidFill>
            <a:srgbClr val="E7F4E8"/>
          </a:solidFill>
          <a:ln w="12700">
            <a:solidFill>
              <a:srgbClr val="2E7D32"/>
            </a:solidFill>
            <a:prstDash val="solid"/>
          </a:ln>
          <a:effectLst>
            <a:outerShdw blurRad="50800" dist="12700" dir="5400000" algn="bl" rotWithShape="0">
              <a:srgbClr val="9AA6C4">
                <a:alpha val="25000"/>
              </a:srgbClr>
            </a:outerShdw>
          </a:effectLst>
        </p:spPr>
      </p:sp>
      <p:sp>
        <p:nvSpPr>
          <p:cNvPr id="55" name="Shape 26">
            <a:extLst>
              <a:ext uri="{FF2B5EF4-FFF2-40B4-BE49-F238E27FC236}">
                <a16:creationId xmlns:a16="http://schemas.microsoft.com/office/drawing/2014/main" id="{77D64CEC-67D5-15EE-1F48-BEDD0264BE69}"/>
              </a:ext>
            </a:extLst>
          </p:cNvPr>
          <p:cNvSpPr/>
          <p:nvPr/>
        </p:nvSpPr>
        <p:spPr>
          <a:xfrm>
            <a:off x="7790688" y="2523744"/>
            <a:ext cx="1371600" cy="256032"/>
          </a:xfrm>
          <a:prstGeom prst="roundRect">
            <a:avLst>
              <a:gd name="adj" fmla="val 50000"/>
            </a:avLst>
          </a:prstGeom>
          <a:solidFill>
            <a:srgbClr val="2E7D32"/>
          </a:solidFill>
          <a:ln w="12700">
            <a:solidFill>
              <a:srgbClr val="2E7D32"/>
            </a:solidFill>
            <a:prstDash val="solid"/>
          </a:ln>
        </p:spPr>
      </p:sp>
      <p:sp>
        <p:nvSpPr>
          <p:cNvPr id="57" name="Text 27">
            <a:extLst>
              <a:ext uri="{FF2B5EF4-FFF2-40B4-BE49-F238E27FC236}">
                <a16:creationId xmlns:a16="http://schemas.microsoft.com/office/drawing/2014/main" id="{B74C75B3-BE8F-D498-EC8C-DE42812444E1}"/>
              </a:ext>
            </a:extLst>
          </p:cNvPr>
          <p:cNvSpPr txBox="1"/>
          <p:nvPr/>
        </p:nvSpPr>
        <p:spPr>
          <a:xfrm>
            <a:off x="7790688" y="2523744"/>
            <a:ext cx="1371600" cy="256032"/>
          </a:xfrm>
          <a:prstGeom prst="rect">
            <a:avLst/>
          </a:prstGeom>
          <a:noFill/>
          <a:ln/>
        </p:spPr>
        <p:txBody>
          <a:bodyPr wrap="square" lIns="0" tIns="0" rIns="0" bIns="0" rtlCol="0" anchor="ctr"/>
          <a:lstStyle/>
          <a:p>
            <a:pPr marL="0" indent="0" algn="ctr">
              <a:buNone/>
            </a:pPr>
            <a:r>
              <a:rPr lang="en-US" sz="1000" b="1" kern="0" spc="50" dirty="0">
                <a:solidFill>
                  <a:srgbClr val="FFFFFF"/>
                </a:solidFill>
                <a:latin typeface="Calibri" pitchFamily="34" charset="0"/>
                <a:ea typeface="Calibri" pitchFamily="34" charset="-122"/>
                <a:cs typeface="Calibri" pitchFamily="34" charset="-120"/>
              </a:rPr>
              <a:t>COMPLETED</a:t>
            </a:r>
            <a:endParaRPr lang="en-US" sz="1000" dirty="0"/>
          </a:p>
        </p:txBody>
      </p:sp>
      <p:sp>
        <p:nvSpPr>
          <p:cNvPr id="59" name="Text 28">
            <a:extLst>
              <a:ext uri="{FF2B5EF4-FFF2-40B4-BE49-F238E27FC236}">
                <a16:creationId xmlns:a16="http://schemas.microsoft.com/office/drawing/2014/main" id="{9811C6C9-BDF4-BB4C-A818-F155B0F687DF}"/>
              </a:ext>
            </a:extLst>
          </p:cNvPr>
          <p:cNvSpPr txBox="1"/>
          <p:nvPr/>
        </p:nvSpPr>
        <p:spPr>
          <a:xfrm>
            <a:off x="7790688" y="2825496"/>
            <a:ext cx="3803904" cy="237744"/>
          </a:xfrm>
          <a:prstGeom prst="rect">
            <a:avLst/>
          </a:prstGeom>
          <a:noFill/>
          <a:ln/>
        </p:spPr>
        <p:txBody>
          <a:bodyPr wrap="square" lIns="0" tIns="0" rIns="0" bIns="0" rtlCol="0" anchor="ctr"/>
          <a:lstStyle/>
          <a:p>
            <a:pPr marL="0" indent="0" algn="l">
              <a:buNone/>
            </a:pPr>
            <a:r>
              <a:rPr lang="en-US" sz="1000" dirty="0">
                <a:solidFill>
                  <a:srgbClr val="1E2761"/>
                </a:solidFill>
                <a:latin typeface="Calibri" pitchFamily="34" charset="0"/>
                <a:ea typeface="Calibri" pitchFamily="34" charset="-122"/>
                <a:cs typeface="Calibri" pitchFamily="34" charset="-120"/>
              </a:rPr>
              <a:t>Completed 01 AUG 2026</a:t>
            </a:r>
            <a:endParaRPr lang="en-US" sz="1000" dirty="0"/>
          </a:p>
        </p:txBody>
      </p:sp>
      <p:sp>
        <p:nvSpPr>
          <p:cNvPr id="61" name="Shape 29">
            <a:extLst>
              <a:ext uri="{FF2B5EF4-FFF2-40B4-BE49-F238E27FC236}">
                <a16:creationId xmlns:a16="http://schemas.microsoft.com/office/drawing/2014/main" id="{D0B47BEA-E727-EA69-E8C8-9D5024901DD2}"/>
              </a:ext>
            </a:extLst>
          </p:cNvPr>
          <p:cNvSpPr/>
          <p:nvPr/>
        </p:nvSpPr>
        <p:spPr>
          <a:xfrm>
            <a:off x="365760" y="3191256"/>
            <a:ext cx="4206240" cy="658368"/>
          </a:xfrm>
          <a:prstGeom prst="roundRect">
            <a:avLst>
              <a:gd name="adj" fmla="val 12500"/>
            </a:avLst>
          </a:prstGeom>
          <a:solidFill>
            <a:srgbClr val="EEF3FC"/>
          </a:solidFill>
          <a:ln w="12700">
            <a:solidFill>
              <a:srgbClr val="CFDDF3"/>
            </a:solidFill>
            <a:prstDash val="solid"/>
          </a:ln>
          <a:effectLst>
            <a:outerShdw blurRad="50800" dist="12700" dir="5400000" algn="bl" rotWithShape="0">
              <a:srgbClr val="9AA6C4">
                <a:alpha val="25000"/>
              </a:srgbClr>
            </a:outerShdw>
          </a:effectLst>
        </p:spPr>
      </p:sp>
      <p:sp>
        <p:nvSpPr>
          <p:cNvPr id="63" name="Text 30">
            <a:extLst>
              <a:ext uri="{FF2B5EF4-FFF2-40B4-BE49-F238E27FC236}">
                <a16:creationId xmlns:a16="http://schemas.microsoft.com/office/drawing/2014/main" id="{BA116D60-94E1-8613-97ED-FC8EBC06C896}"/>
              </a:ext>
            </a:extLst>
          </p:cNvPr>
          <p:cNvSpPr txBox="1"/>
          <p:nvPr/>
        </p:nvSpPr>
        <p:spPr>
          <a:xfrm>
            <a:off x="566928" y="3255264"/>
            <a:ext cx="3803904" cy="329184"/>
          </a:xfrm>
          <a:prstGeom prst="rect">
            <a:avLst/>
          </a:prstGeom>
          <a:noFill/>
          <a:ln/>
        </p:spPr>
        <p:txBody>
          <a:bodyPr wrap="square" lIns="0" tIns="0" rIns="0" bIns="0" rtlCol="0" anchor="t"/>
          <a:lstStyle/>
          <a:p>
            <a:pPr marL="0" indent="0" algn="l">
              <a:lnSpc>
                <a:spcPct val="102000"/>
              </a:lnSpc>
              <a:buNone/>
            </a:pPr>
            <a:r>
              <a:rPr lang="en-US" sz="1150" b="1" dirty="0">
                <a:solidFill>
                  <a:srgbClr val="1E2761"/>
                </a:solidFill>
                <a:latin typeface="Calibri" pitchFamily="34" charset="0"/>
                <a:ea typeface="Calibri" pitchFamily="34" charset="-122"/>
                <a:cs typeface="Calibri" pitchFamily="34" charset="-120"/>
              </a:rPr>
              <a:t>Frontend &amp; UI Development</a:t>
            </a:r>
            <a:endParaRPr lang="en-US" sz="1150" dirty="0"/>
          </a:p>
        </p:txBody>
      </p:sp>
      <p:sp>
        <p:nvSpPr>
          <p:cNvPr id="65" name="Text 31">
            <a:extLst>
              <a:ext uri="{FF2B5EF4-FFF2-40B4-BE49-F238E27FC236}">
                <a16:creationId xmlns:a16="http://schemas.microsoft.com/office/drawing/2014/main" id="{C088D363-51FB-4E76-A05D-078E262E3E84}"/>
              </a:ext>
            </a:extLst>
          </p:cNvPr>
          <p:cNvSpPr txBox="1"/>
          <p:nvPr/>
        </p:nvSpPr>
        <p:spPr>
          <a:xfrm>
            <a:off x="566928" y="3593592"/>
            <a:ext cx="3803904" cy="219456"/>
          </a:xfrm>
          <a:prstGeom prst="rect">
            <a:avLst/>
          </a:prstGeom>
          <a:noFill/>
          <a:ln/>
        </p:spPr>
        <p:txBody>
          <a:bodyPr wrap="square" lIns="0" tIns="0" rIns="0" bIns="0" rtlCol="0" anchor="ctr"/>
          <a:lstStyle/>
          <a:p>
            <a:pPr marL="0" indent="0" algn="l">
              <a:buNone/>
            </a:pPr>
            <a:r>
              <a:rPr lang="en-US" sz="950" i="1" dirty="0">
                <a:solidFill>
                  <a:srgbClr val="5B6478"/>
                </a:solidFill>
                <a:latin typeface="Calibri" pitchFamily="34" charset="0"/>
                <a:ea typeface="Calibri" pitchFamily="34" charset="-122"/>
                <a:cs typeface="Calibri" pitchFamily="34" charset="-120"/>
              </a:rPr>
              <a:t>Planned: 13 AUG 2026</a:t>
            </a:r>
            <a:endParaRPr lang="en-US" sz="950" dirty="0"/>
          </a:p>
        </p:txBody>
      </p:sp>
      <p:sp>
        <p:nvSpPr>
          <p:cNvPr id="67" name="Shape 32">
            <a:extLst>
              <a:ext uri="{FF2B5EF4-FFF2-40B4-BE49-F238E27FC236}">
                <a16:creationId xmlns:a16="http://schemas.microsoft.com/office/drawing/2014/main" id="{B5CE5CA7-FBAF-338F-3F1F-11929A596D1C}"/>
              </a:ext>
            </a:extLst>
          </p:cNvPr>
          <p:cNvSpPr/>
          <p:nvPr/>
        </p:nvSpPr>
        <p:spPr>
          <a:xfrm>
            <a:off x="4572000" y="3520440"/>
            <a:ext cx="1335024" cy="0"/>
          </a:xfrm>
          <a:prstGeom prst="line">
            <a:avLst/>
          </a:prstGeom>
          <a:noFill/>
          <a:ln w="19050">
            <a:solidFill>
              <a:srgbClr val="C7CEDD"/>
            </a:solidFill>
            <a:prstDash val="solid"/>
          </a:ln>
        </p:spPr>
      </p:sp>
      <p:sp>
        <p:nvSpPr>
          <p:cNvPr id="69" name="Shape 33">
            <a:extLst>
              <a:ext uri="{FF2B5EF4-FFF2-40B4-BE49-F238E27FC236}">
                <a16:creationId xmlns:a16="http://schemas.microsoft.com/office/drawing/2014/main" id="{246C9BED-A210-57F1-5272-761254D59343}"/>
              </a:ext>
            </a:extLst>
          </p:cNvPr>
          <p:cNvSpPr/>
          <p:nvPr/>
        </p:nvSpPr>
        <p:spPr>
          <a:xfrm>
            <a:off x="6254496" y="3520440"/>
            <a:ext cx="1335024" cy="0"/>
          </a:xfrm>
          <a:prstGeom prst="line">
            <a:avLst/>
          </a:prstGeom>
          <a:noFill/>
          <a:ln w="19050">
            <a:solidFill>
              <a:srgbClr val="C7CEDD"/>
            </a:solidFill>
            <a:prstDash val="solid"/>
          </a:ln>
        </p:spPr>
      </p:sp>
      <p:sp>
        <p:nvSpPr>
          <p:cNvPr id="71" name="Shape 34">
            <a:extLst>
              <a:ext uri="{FF2B5EF4-FFF2-40B4-BE49-F238E27FC236}">
                <a16:creationId xmlns:a16="http://schemas.microsoft.com/office/drawing/2014/main" id="{3E944B09-62B6-D18F-6502-132F90495B63}"/>
              </a:ext>
            </a:extLst>
          </p:cNvPr>
          <p:cNvSpPr/>
          <p:nvPr/>
        </p:nvSpPr>
        <p:spPr>
          <a:xfrm>
            <a:off x="5907024" y="3346704"/>
            <a:ext cx="347472" cy="347472"/>
          </a:xfrm>
          <a:prstGeom prst="ellipse">
            <a:avLst/>
          </a:prstGeom>
          <a:solidFill>
            <a:srgbClr val="2E7D32"/>
          </a:solidFill>
          <a:ln w="25400">
            <a:solidFill>
              <a:srgbClr val="FFFFFF"/>
            </a:solidFill>
            <a:prstDash val="solid"/>
          </a:ln>
          <a:effectLst>
            <a:outerShdw blurRad="38100" dist="12700" dir="5400000" algn="bl" rotWithShape="0">
              <a:srgbClr val="6B7280">
                <a:alpha val="30000"/>
              </a:srgbClr>
            </a:outerShdw>
          </a:effectLst>
        </p:spPr>
      </p:sp>
      <p:sp>
        <p:nvSpPr>
          <p:cNvPr id="73" name="Text 35">
            <a:extLst>
              <a:ext uri="{FF2B5EF4-FFF2-40B4-BE49-F238E27FC236}">
                <a16:creationId xmlns:a16="http://schemas.microsoft.com/office/drawing/2014/main" id="{890FAA7B-03C1-CB27-2CA0-22BDF439D788}"/>
              </a:ext>
            </a:extLst>
          </p:cNvPr>
          <p:cNvSpPr txBox="1"/>
          <p:nvPr/>
        </p:nvSpPr>
        <p:spPr>
          <a:xfrm>
            <a:off x="5907024" y="3346704"/>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75" name="Shape 36">
            <a:extLst>
              <a:ext uri="{FF2B5EF4-FFF2-40B4-BE49-F238E27FC236}">
                <a16:creationId xmlns:a16="http://schemas.microsoft.com/office/drawing/2014/main" id="{4700EB5A-16FF-B57A-2FAC-5CC062D671BD}"/>
              </a:ext>
            </a:extLst>
          </p:cNvPr>
          <p:cNvSpPr/>
          <p:nvPr/>
        </p:nvSpPr>
        <p:spPr>
          <a:xfrm>
            <a:off x="7589520" y="3191256"/>
            <a:ext cx="4206240" cy="658368"/>
          </a:xfrm>
          <a:prstGeom prst="roundRect">
            <a:avLst>
              <a:gd name="adj" fmla="val 12500"/>
            </a:avLst>
          </a:prstGeom>
          <a:solidFill>
            <a:srgbClr val="E7F4E8"/>
          </a:solidFill>
          <a:ln w="12700">
            <a:solidFill>
              <a:srgbClr val="2E7D32"/>
            </a:solidFill>
            <a:prstDash val="solid"/>
          </a:ln>
          <a:effectLst>
            <a:outerShdw blurRad="50800" dist="12700" dir="5400000" algn="bl" rotWithShape="0">
              <a:srgbClr val="9AA6C4">
                <a:alpha val="25000"/>
              </a:srgbClr>
            </a:outerShdw>
          </a:effectLst>
        </p:spPr>
      </p:sp>
      <p:sp>
        <p:nvSpPr>
          <p:cNvPr id="77" name="Shape 37">
            <a:extLst>
              <a:ext uri="{FF2B5EF4-FFF2-40B4-BE49-F238E27FC236}">
                <a16:creationId xmlns:a16="http://schemas.microsoft.com/office/drawing/2014/main" id="{E64A1388-D268-B8CF-9CCD-ECCD60CA0EF4}"/>
              </a:ext>
            </a:extLst>
          </p:cNvPr>
          <p:cNvSpPr/>
          <p:nvPr/>
        </p:nvSpPr>
        <p:spPr>
          <a:xfrm>
            <a:off x="7790688" y="3273552"/>
            <a:ext cx="1371600" cy="256032"/>
          </a:xfrm>
          <a:prstGeom prst="roundRect">
            <a:avLst>
              <a:gd name="adj" fmla="val 50000"/>
            </a:avLst>
          </a:prstGeom>
          <a:solidFill>
            <a:srgbClr val="2E7D32"/>
          </a:solidFill>
          <a:ln w="12700">
            <a:solidFill>
              <a:srgbClr val="2E7D32"/>
            </a:solidFill>
            <a:prstDash val="solid"/>
          </a:ln>
        </p:spPr>
      </p:sp>
      <p:sp>
        <p:nvSpPr>
          <p:cNvPr id="79" name="Text 38">
            <a:extLst>
              <a:ext uri="{FF2B5EF4-FFF2-40B4-BE49-F238E27FC236}">
                <a16:creationId xmlns:a16="http://schemas.microsoft.com/office/drawing/2014/main" id="{4FC52981-2FE6-265C-C140-E4CA06AE9888}"/>
              </a:ext>
            </a:extLst>
          </p:cNvPr>
          <p:cNvSpPr txBox="1"/>
          <p:nvPr/>
        </p:nvSpPr>
        <p:spPr>
          <a:xfrm>
            <a:off x="7790688" y="3273552"/>
            <a:ext cx="1371600" cy="256032"/>
          </a:xfrm>
          <a:prstGeom prst="rect">
            <a:avLst/>
          </a:prstGeom>
          <a:noFill/>
          <a:ln/>
        </p:spPr>
        <p:txBody>
          <a:bodyPr wrap="square" lIns="0" tIns="0" rIns="0" bIns="0" rtlCol="0" anchor="ctr"/>
          <a:lstStyle/>
          <a:p>
            <a:pPr marL="0" indent="0" algn="ctr">
              <a:buNone/>
            </a:pPr>
            <a:r>
              <a:rPr lang="en-US" sz="1000" b="1" kern="0" spc="50" dirty="0">
                <a:solidFill>
                  <a:srgbClr val="FFFFFF"/>
                </a:solidFill>
                <a:latin typeface="Calibri" pitchFamily="34" charset="0"/>
                <a:ea typeface="Calibri" pitchFamily="34" charset="-122"/>
                <a:cs typeface="Calibri" pitchFamily="34" charset="-120"/>
              </a:rPr>
              <a:t>COMPLETED</a:t>
            </a:r>
            <a:endParaRPr lang="en-US" sz="1000" dirty="0"/>
          </a:p>
        </p:txBody>
      </p:sp>
      <p:sp>
        <p:nvSpPr>
          <p:cNvPr id="81" name="Text 39">
            <a:extLst>
              <a:ext uri="{FF2B5EF4-FFF2-40B4-BE49-F238E27FC236}">
                <a16:creationId xmlns:a16="http://schemas.microsoft.com/office/drawing/2014/main" id="{1B78775F-9364-69C4-7894-545A6ABE2AB3}"/>
              </a:ext>
            </a:extLst>
          </p:cNvPr>
          <p:cNvSpPr txBox="1"/>
          <p:nvPr/>
        </p:nvSpPr>
        <p:spPr>
          <a:xfrm>
            <a:off x="7790688" y="3575304"/>
            <a:ext cx="3803904" cy="237744"/>
          </a:xfrm>
          <a:prstGeom prst="rect">
            <a:avLst/>
          </a:prstGeom>
          <a:noFill/>
          <a:ln/>
        </p:spPr>
        <p:txBody>
          <a:bodyPr wrap="square" lIns="0" tIns="0" rIns="0" bIns="0" rtlCol="0" anchor="ctr"/>
          <a:lstStyle/>
          <a:p>
            <a:pPr marL="0" indent="0" algn="l">
              <a:buNone/>
            </a:pPr>
            <a:r>
              <a:rPr lang="en-US" sz="1000" dirty="0">
                <a:solidFill>
                  <a:srgbClr val="1E2761"/>
                </a:solidFill>
                <a:latin typeface="Calibri" pitchFamily="34" charset="0"/>
                <a:ea typeface="Calibri" pitchFamily="34" charset="-122"/>
                <a:cs typeface="Calibri" pitchFamily="34" charset="-120"/>
              </a:rPr>
              <a:t>Completed 13 AUG 2026</a:t>
            </a:r>
            <a:endParaRPr lang="en-US" sz="1000" dirty="0"/>
          </a:p>
        </p:txBody>
      </p:sp>
      <p:sp>
        <p:nvSpPr>
          <p:cNvPr id="83" name="Shape 40">
            <a:extLst>
              <a:ext uri="{FF2B5EF4-FFF2-40B4-BE49-F238E27FC236}">
                <a16:creationId xmlns:a16="http://schemas.microsoft.com/office/drawing/2014/main" id="{7B66DBC5-5FC0-F21D-1058-86D507392BDB}"/>
              </a:ext>
            </a:extLst>
          </p:cNvPr>
          <p:cNvSpPr/>
          <p:nvPr/>
        </p:nvSpPr>
        <p:spPr>
          <a:xfrm>
            <a:off x="365760" y="3941064"/>
            <a:ext cx="4206240" cy="658368"/>
          </a:xfrm>
          <a:prstGeom prst="roundRect">
            <a:avLst>
              <a:gd name="adj" fmla="val 12500"/>
            </a:avLst>
          </a:prstGeom>
          <a:solidFill>
            <a:srgbClr val="EEF3FC"/>
          </a:solidFill>
          <a:ln w="12700">
            <a:solidFill>
              <a:srgbClr val="CFDDF3"/>
            </a:solidFill>
            <a:prstDash val="solid"/>
          </a:ln>
          <a:effectLst>
            <a:outerShdw blurRad="50800" dist="12700" dir="5400000" algn="bl" rotWithShape="0">
              <a:srgbClr val="9AA6C4">
                <a:alpha val="25000"/>
              </a:srgbClr>
            </a:outerShdw>
          </a:effectLst>
        </p:spPr>
      </p:sp>
      <p:sp>
        <p:nvSpPr>
          <p:cNvPr id="85" name="Text 41">
            <a:extLst>
              <a:ext uri="{FF2B5EF4-FFF2-40B4-BE49-F238E27FC236}">
                <a16:creationId xmlns:a16="http://schemas.microsoft.com/office/drawing/2014/main" id="{FE54D372-946D-80D4-3EE8-E6C90E6B750F}"/>
              </a:ext>
            </a:extLst>
          </p:cNvPr>
          <p:cNvSpPr txBox="1"/>
          <p:nvPr/>
        </p:nvSpPr>
        <p:spPr>
          <a:xfrm>
            <a:off x="566928" y="4005072"/>
            <a:ext cx="3803904" cy="329184"/>
          </a:xfrm>
          <a:prstGeom prst="rect">
            <a:avLst/>
          </a:prstGeom>
          <a:noFill/>
          <a:ln/>
        </p:spPr>
        <p:txBody>
          <a:bodyPr wrap="square" lIns="0" tIns="0" rIns="0" bIns="0" rtlCol="0" anchor="t"/>
          <a:lstStyle/>
          <a:p>
            <a:pPr marL="0" indent="0" algn="l">
              <a:lnSpc>
                <a:spcPct val="102000"/>
              </a:lnSpc>
              <a:buNone/>
            </a:pPr>
            <a:r>
              <a:rPr lang="en-US" sz="1150" b="1" dirty="0">
                <a:solidFill>
                  <a:srgbClr val="1E2761"/>
                </a:solidFill>
                <a:latin typeface="Calibri" pitchFamily="34" charset="0"/>
                <a:ea typeface="Calibri" pitchFamily="34" charset="-122"/>
                <a:cs typeface="Calibri" pitchFamily="34" charset="-120"/>
              </a:rPr>
              <a:t>IoT Hardware Setup &amp; Sensor Calibration</a:t>
            </a:r>
            <a:endParaRPr lang="en-US" sz="1150" dirty="0"/>
          </a:p>
        </p:txBody>
      </p:sp>
      <p:sp>
        <p:nvSpPr>
          <p:cNvPr id="87" name="Text 42">
            <a:extLst>
              <a:ext uri="{FF2B5EF4-FFF2-40B4-BE49-F238E27FC236}">
                <a16:creationId xmlns:a16="http://schemas.microsoft.com/office/drawing/2014/main" id="{0205E1A5-51C8-995A-E9EC-E0562C54DF01}"/>
              </a:ext>
            </a:extLst>
          </p:cNvPr>
          <p:cNvSpPr txBox="1"/>
          <p:nvPr/>
        </p:nvSpPr>
        <p:spPr>
          <a:xfrm>
            <a:off x="566928" y="4343400"/>
            <a:ext cx="3803904" cy="219456"/>
          </a:xfrm>
          <a:prstGeom prst="rect">
            <a:avLst/>
          </a:prstGeom>
          <a:noFill/>
          <a:ln/>
        </p:spPr>
        <p:txBody>
          <a:bodyPr wrap="square" lIns="0" tIns="0" rIns="0" bIns="0" rtlCol="0" anchor="ctr"/>
          <a:lstStyle/>
          <a:p>
            <a:pPr marL="0" indent="0" algn="l">
              <a:buNone/>
            </a:pPr>
            <a:r>
              <a:rPr lang="en-US" sz="950" i="1" dirty="0">
                <a:solidFill>
                  <a:srgbClr val="5B6478"/>
                </a:solidFill>
                <a:latin typeface="Calibri" pitchFamily="34" charset="0"/>
                <a:ea typeface="Calibri" pitchFamily="34" charset="-122"/>
                <a:cs typeface="Calibri" pitchFamily="34" charset="-120"/>
              </a:rPr>
              <a:t>Planned: 22 AUG 2026</a:t>
            </a:r>
            <a:endParaRPr lang="en-US" sz="950" dirty="0"/>
          </a:p>
        </p:txBody>
      </p:sp>
      <p:sp>
        <p:nvSpPr>
          <p:cNvPr id="89" name="Shape 43">
            <a:extLst>
              <a:ext uri="{FF2B5EF4-FFF2-40B4-BE49-F238E27FC236}">
                <a16:creationId xmlns:a16="http://schemas.microsoft.com/office/drawing/2014/main" id="{33C5ACF2-5D25-5DE0-88C6-B0704D4A6B15}"/>
              </a:ext>
            </a:extLst>
          </p:cNvPr>
          <p:cNvSpPr/>
          <p:nvPr/>
        </p:nvSpPr>
        <p:spPr>
          <a:xfrm>
            <a:off x="4572000" y="4270248"/>
            <a:ext cx="1335024" cy="0"/>
          </a:xfrm>
          <a:prstGeom prst="line">
            <a:avLst/>
          </a:prstGeom>
          <a:noFill/>
          <a:ln w="19050">
            <a:solidFill>
              <a:srgbClr val="C7CEDD"/>
            </a:solidFill>
            <a:prstDash val="solid"/>
          </a:ln>
        </p:spPr>
      </p:sp>
      <p:sp>
        <p:nvSpPr>
          <p:cNvPr id="91" name="Shape 44">
            <a:extLst>
              <a:ext uri="{FF2B5EF4-FFF2-40B4-BE49-F238E27FC236}">
                <a16:creationId xmlns:a16="http://schemas.microsoft.com/office/drawing/2014/main" id="{D39C3598-69A8-2781-E8FF-27BAFE4DE901}"/>
              </a:ext>
            </a:extLst>
          </p:cNvPr>
          <p:cNvSpPr/>
          <p:nvPr/>
        </p:nvSpPr>
        <p:spPr>
          <a:xfrm>
            <a:off x="6254496" y="4270248"/>
            <a:ext cx="1335024" cy="0"/>
          </a:xfrm>
          <a:prstGeom prst="line">
            <a:avLst/>
          </a:prstGeom>
          <a:noFill/>
          <a:ln w="19050">
            <a:solidFill>
              <a:srgbClr val="C7CEDD"/>
            </a:solidFill>
            <a:prstDash val="solid"/>
          </a:ln>
        </p:spPr>
      </p:sp>
      <p:sp>
        <p:nvSpPr>
          <p:cNvPr id="93" name="Shape 45">
            <a:extLst>
              <a:ext uri="{FF2B5EF4-FFF2-40B4-BE49-F238E27FC236}">
                <a16:creationId xmlns:a16="http://schemas.microsoft.com/office/drawing/2014/main" id="{09365159-2A3C-4BF1-9378-270CA2D39344}"/>
              </a:ext>
            </a:extLst>
          </p:cNvPr>
          <p:cNvSpPr/>
          <p:nvPr/>
        </p:nvSpPr>
        <p:spPr>
          <a:xfrm>
            <a:off x="5907024" y="4096512"/>
            <a:ext cx="347472" cy="347472"/>
          </a:xfrm>
          <a:prstGeom prst="ellipse">
            <a:avLst/>
          </a:prstGeom>
          <a:solidFill>
            <a:srgbClr val="D9791F"/>
          </a:solidFill>
          <a:ln w="25400">
            <a:solidFill>
              <a:srgbClr val="FFFFFF"/>
            </a:solidFill>
            <a:prstDash val="solid"/>
          </a:ln>
          <a:effectLst>
            <a:outerShdw blurRad="38100" dist="12700" dir="5400000" algn="bl" rotWithShape="0">
              <a:srgbClr val="6B7280">
                <a:alpha val="30000"/>
              </a:srgbClr>
            </a:outerShdw>
          </a:effectLst>
        </p:spPr>
      </p:sp>
      <p:sp>
        <p:nvSpPr>
          <p:cNvPr id="95" name="Text 46">
            <a:extLst>
              <a:ext uri="{FF2B5EF4-FFF2-40B4-BE49-F238E27FC236}">
                <a16:creationId xmlns:a16="http://schemas.microsoft.com/office/drawing/2014/main" id="{F009325C-EBDC-F63D-1008-45CD3E077348}"/>
              </a:ext>
            </a:extLst>
          </p:cNvPr>
          <p:cNvSpPr txBox="1"/>
          <p:nvPr/>
        </p:nvSpPr>
        <p:spPr>
          <a:xfrm>
            <a:off x="5907024" y="4096512"/>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97" name="Shape 47">
            <a:extLst>
              <a:ext uri="{FF2B5EF4-FFF2-40B4-BE49-F238E27FC236}">
                <a16:creationId xmlns:a16="http://schemas.microsoft.com/office/drawing/2014/main" id="{9CCCE6AC-D507-44EB-F312-FA9E24C79EA3}"/>
              </a:ext>
            </a:extLst>
          </p:cNvPr>
          <p:cNvSpPr/>
          <p:nvPr/>
        </p:nvSpPr>
        <p:spPr>
          <a:xfrm>
            <a:off x="7589520" y="3941064"/>
            <a:ext cx="4206240" cy="658368"/>
          </a:xfrm>
          <a:prstGeom prst="roundRect">
            <a:avLst>
              <a:gd name="adj" fmla="val 12500"/>
            </a:avLst>
          </a:prstGeom>
          <a:solidFill>
            <a:srgbClr val="FCEDDD"/>
          </a:solidFill>
          <a:ln w="12700">
            <a:solidFill>
              <a:srgbClr val="D9791F"/>
            </a:solidFill>
            <a:prstDash val="solid"/>
          </a:ln>
          <a:effectLst>
            <a:outerShdw blurRad="50800" dist="12700" dir="5400000" algn="bl" rotWithShape="0">
              <a:srgbClr val="9AA6C4">
                <a:alpha val="25000"/>
              </a:srgbClr>
            </a:outerShdw>
          </a:effectLst>
        </p:spPr>
      </p:sp>
      <p:sp>
        <p:nvSpPr>
          <p:cNvPr id="99" name="Shape 48">
            <a:extLst>
              <a:ext uri="{FF2B5EF4-FFF2-40B4-BE49-F238E27FC236}">
                <a16:creationId xmlns:a16="http://schemas.microsoft.com/office/drawing/2014/main" id="{B218814C-F897-FD38-3542-1F301B165EBD}"/>
              </a:ext>
            </a:extLst>
          </p:cNvPr>
          <p:cNvSpPr/>
          <p:nvPr/>
        </p:nvSpPr>
        <p:spPr>
          <a:xfrm>
            <a:off x="7790688" y="4023360"/>
            <a:ext cx="1371600" cy="256032"/>
          </a:xfrm>
          <a:prstGeom prst="roundRect">
            <a:avLst>
              <a:gd name="adj" fmla="val 50000"/>
            </a:avLst>
          </a:prstGeom>
          <a:solidFill>
            <a:srgbClr val="D9791F"/>
          </a:solidFill>
          <a:ln w="12700">
            <a:solidFill>
              <a:srgbClr val="D9791F"/>
            </a:solidFill>
            <a:prstDash val="solid"/>
          </a:ln>
        </p:spPr>
      </p:sp>
      <p:sp>
        <p:nvSpPr>
          <p:cNvPr id="101" name="Text 49">
            <a:extLst>
              <a:ext uri="{FF2B5EF4-FFF2-40B4-BE49-F238E27FC236}">
                <a16:creationId xmlns:a16="http://schemas.microsoft.com/office/drawing/2014/main" id="{ED71B21B-0ADC-0104-25EA-228FB455B1F2}"/>
              </a:ext>
            </a:extLst>
          </p:cNvPr>
          <p:cNvSpPr txBox="1"/>
          <p:nvPr/>
        </p:nvSpPr>
        <p:spPr>
          <a:xfrm>
            <a:off x="7790688" y="4023360"/>
            <a:ext cx="1371600" cy="256032"/>
          </a:xfrm>
          <a:prstGeom prst="rect">
            <a:avLst/>
          </a:prstGeom>
          <a:noFill/>
          <a:ln/>
        </p:spPr>
        <p:txBody>
          <a:bodyPr wrap="square" lIns="0" tIns="0" rIns="0" bIns="0" rtlCol="0" anchor="ctr"/>
          <a:lstStyle/>
          <a:p>
            <a:pPr marL="0" indent="0" algn="ctr">
              <a:buNone/>
            </a:pPr>
            <a:r>
              <a:rPr lang="en-US" sz="1000" b="1" kern="0" spc="50" dirty="0">
                <a:solidFill>
                  <a:srgbClr val="FFFFFF"/>
                </a:solidFill>
                <a:latin typeface="Calibri" pitchFamily="34" charset="0"/>
                <a:ea typeface="Calibri" pitchFamily="34" charset="-122"/>
                <a:cs typeface="Calibri" pitchFamily="34" charset="-120"/>
              </a:rPr>
              <a:t>IN PROGRESS</a:t>
            </a:r>
            <a:endParaRPr lang="en-US" sz="1000" dirty="0"/>
          </a:p>
        </p:txBody>
      </p:sp>
      <p:sp>
        <p:nvSpPr>
          <p:cNvPr id="103" name="Text 50">
            <a:extLst>
              <a:ext uri="{FF2B5EF4-FFF2-40B4-BE49-F238E27FC236}">
                <a16:creationId xmlns:a16="http://schemas.microsoft.com/office/drawing/2014/main" id="{344E3AFC-2A5C-B95A-A0BB-5AAEEFD490F5}"/>
              </a:ext>
            </a:extLst>
          </p:cNvPr>
          <p:cNvSpPr txBox="1"/>
          <p:nvPr/>
        </p:nvSpPr>
        <p:spPr>
          <a:xfrm>
            <a:off x="7790688" y="4325112"/>
            <a:ext cx="3803904" cy="237744"/>
          </a:xfrm>
          <a:prstGeom prst="rect">
            <a:avLst/>
          </a:prstGeom>
          <a:noFill/>
          <a:ln/>
        </p:spPr>
        <p:txBody>
          <a:bodyPr wrap="square" lIns="0" tIns="0" rIns="0" bIns="0" rtlCol="0" anchor="ctr"/>
          <a:lstStyle/>
          <a:p>
            <a:pPr marL="0" indent="0" algn="l">
              <a:buNone/>
            </a:pPr>
            <a:r>
              <a:rPr lang="en-US" sz="1000" dirty="0">
                <a:solidFill>
                  <a:srgbClr val="1E2761"/>
                </a:solidFill>
                <a:latin typeface="Calibri" pitchFamily="34" charset="0"/>
                <a:ea typeface="Calibri" pitchFamily="34" charset="-122"/>
                <a:cs typeface="Calibri" pitchFamily="34" charset="-120"/>
              </a:rPr>
              <a:t>Since 22 AUG 2026</a:t>
            </a:r>
            <a:endParaRPr lang="en-US" sz="1000" dirty="0"/>
          </a:p>
        </p:txBody>
      </p:sp>
      <p:sp>
        <p:nvSpPr>
          <p:cNvPr id="105" name="Shape 51">
            <a:extLst>
              <a:ext uri="{FF2B5EF4-FFF2-40B4-BE49-F238E27FC236}">
                <a16:creationId xmlns:a16="http://schemas.microsoft.com/office/drawing/2014/main" id="{9F28EAF8-9187-EF68-6968-25F3C1E132C9}"/>
              </a:ext>
            </a:extLst>
          </p:cNvPr>
          <p:cNvSpPr/>
          <p:nvPr/>
        </p:nvSpPr>
        <p:spPr>
          <a:xfrm>
            <a:off x="365760" y="4690872"/>
            <a:ext cx="4206240" cy="658368"/>
          </a:xfrm>
          <a:prstGeom prst="roundRect">
            <a:avLst>
              <a:gd name="adj" fmla="val 12500"/>
            </a:avLst>
          </a:prstGeom>
          <a:solidFill>
            <a:srgbClr val="EEF3FC"/>
          </a:solidFill>
          <a:ln w="12700">
            <a:solidFill>
              <a:srgbClr val="CFDDF3"/>
            </a:solidFill>
            <a:prstDash val="solid"/>
          </a:ln>
          <a:effectLst>
            <a:outerShdw blurRad="50800" dist="12700" dir="5400000" algn="bl" rotWithShape="0">
              <a:srgbClr val="9AA6C4">
                <a:alpha val="25000"/>
              </a:srgbClr>
            </a:outerShdw>
          </a:effectLst>
        </p:spPr>
      </p:sp>
      <p:sp>
        <p:nvSpPr>
          <p:cNvPr id="107" name="Text 52">
            <a:extLst>
              <a:ext uri="{FF2B5EF4-FFF2-40B4-BE49-F238E27FC236}">
                <a16:creationId xmlns:a16="http://schemas.microsoft.com/office/drawing/2014/main" id="{02696292-295F-56AD-FB1B-C7C45C17E792}"/>
              </a:ext>
            </a:extLst>
          </p:cNvPr>
          <p:cNvSpPr txBox="1"/>
          <p:nvPr/>
        </p:nvSpPr>
        <p:spPr>
          <a:xfrm>
            <a:off x="566928" y="4754880"/>
            <a:ext cx="3803904" cy="329184"/>
          </a:xfrm>
          <a:prstGeom prst="rect">
            <a:avLst/>
          </a:prstGeom>
          <a:noFill/>
          <a:ln/>
        </p:spPr>
        <p:txBody>
          <a:bodyPr wrap="square" lIns="0" tIns="0" rIns="0" bIns="0" rtlCol="0" anchor="t"/>
          <a:lstStyle/>
          <a:p>
            <a:pPr marL="0" indent="0" algn="l">
              <a:lnSpc>
                <a:spcPct val="102000"/>
              </a:lnSpc>
              <a:buNone/>
            </a:pPr>
            <a:r>
              <a:rPr lang="en-US" sz="1150" b="1" dirty="0">
                <a:solidFill>
                  <a:srgbClr val="1E2761"/>
                </a:solidFill>
                <a:latin typeface="Calibri" pitchFamily="34" charset="0"/>
                <a:ea typeface="Calibri" pitchFamily="34" charset="-122"/>
                <a:cs typeface="Calibri" pitchFamily="34" charset="-120"/>
              </a:rPr>
              <a:t>IoT–Backend, QR &amp; Payment Integration</a:t>
            </a:r>
            <a:endParaRPr lang="en-US" sz="1150" dirty="0"/>
          </a:p>
        </p:txBody>
      </p:sp>
      <p:sp>
        <p:nvSpPr>
          <p:cNvPr id="109" name="Text 53">
            <a:extLst>
              <a:ext uri="{FF2B5EF4-FFF2-40B4-BE49-F238E27FC236}">
                <a16:creationId xmlns:a16="http://schemas.microsoft.com/office/drawing/2014/main" id="{74141DB1-58BA-432A-B298-4A70849BB561}"/>
              </a:ext>
            </a:extLst>
          </p:cNvPr>
          <p:cNvSpPr txBox="1"/>
          <p:nvPr/>
        </p:nvSpPr>
        <p:spPr>
          <a:xfrm>
            <a:off x="566928" y="5093208"/>
            <a:ext cx="3803904" cy="219456"/>
          </a:xfrm>
          <a:prstGeom prst="rect">
            <a:avLst/>
          </a:prstGeom>
          <a:noFill/>
          <a:ln/>
        </p:spPr>
        <p:txBody>
          <a:bodyPr wrap="square" lIns="0" tIns="0" rIns="0" bIns="0" rtlCol="0" anchor="ctr"/>
          <a:lstStyle/>
          <a:p>
            <a:pPr marL="0" indent="0" algn="l">
              <a:buNone/>
            </a:pPr>
            <a:r>
              <a:rPr lang="en-US" sz="950" i="1" dirty="0">
                <a:solidFill>
                  <a:srgbClr val="5B6478"/>
                </a:solidFill>
                <a:latin typeface="Calibri" pitchFamily="34" charset="0"/>
                <a:ea typeface="Calibri" pitchFamily="34" charset="-122"/>
                <a:cs typeface="Calibri" pitchFamily="34" charset="-120"/>
              </a:rPr>
              <a:t>Planned: 05 SEP 2026</a:t>
            </a:r>
            <a:endParaRPr lang="en-US" sz="950" dirty="0"/>
          </a:p>
        </p:txBody>
      </p:sp>
      <p:sp>
        <p:nvSpPr>
          <p:cNvPr id="111" name="Shape 54">
            <a:extLst>
              <a:ext uri="{FF2B5EF4-FFF2-40B4-BE49-F238E27FC236}">
                <a16:creationId xmlns:a16="http://schemas.microsoft.com/office/drawing/2014/main" id="{0415FA75-C241-A8FE-9EFF-23D1A1117DDA}"/>
              </a:ext>
            </a:extLst>
          </p:cNvPr>
          <p:cNvSpPr/>
          <p:nvPr/>
        </p:nvSpPr>
        <p:spPr>
          <a:xfrm>
            <a:off x="4572000" y="5020056"/>
            <a:ext cx="1335024" cy="0"/>
          </a:xfrm>
          <a:prstGeom prst="line">
            <a:avLst/>
          </a:prstGeom>
          <a:noFill/>
          <a:ln w="19050">
            <a:solidFill>
              <a:srgbClr val="C7CEDD"/>
            </a:solidFill>
            <a:prstDash val="solid"/>
          </a:ln>
        </p:spPr>
      </p:sp>
      <p:sp>
        <p:nvSpPr>
          <p:cNvPr id="113" name="Shape 55">
            <a:extLst>
              <a:ext uri="{FF2B5EF4-FFF2-40B4-BE49-F238E27FC236}">
                <a16:creationId xmlns:a16="http://schemas.microsoft.com/office/drawing/2014/main" id="{F76AC60C-43BB-1FA9-290C-664E113DD07F}"/>
              </a:ext>
            </a:extLst>
          </p:cNvPr>
          <p:cNvSpPr/>
          <p:nvPr/>
        </p:nvSpPr>
        <p:spPr>
          <a:xfrm>
            <a:off x="6254496" y="5020056"/>
            <a:ext cx="1335024" cy="0"/>
          </a:xfrm>
          <a:prstGeom prst="line">
            <a:avLst/>
          </a:prstGeom>
          <a:noFill/>
          <a:ln w="19050">
            <a:solidFill>
              <a:srgbClr val="C7CEDD"/>
            </a:solidFill>
            <a:prstDash val="solid"/>
          </a:ln>
        </p:spPr>
      </p:sp>
      <p:sp>
        <p:nvSpPr>
          <p:cNvPr id="115" name="Shape 56">
            <a:extLst>
              <a:ext uri="{FF2B5EF4-FFF2-40B4-BE49-F238E27FC236}">
                <a16:creationId xmlns:a16="http://schemas.microsoft.com/office/drawing/2014/main" id="{CEB4ADFF-1328-7988-A37E-952F5C4FA04A}"/>
              </a:ext>
            </a:extLst>
          </p:cNvPr>
          <p:cNvSpPr/>
          <p:nvPr/>
        </p:nvSpPr>
        <p:spPr>
          <a:xfrm>
            <a:off x="5907024" y="4846320"/>
            <a:ext cx="347472" cy="347472"/>
          </a:xfrm>
          <a:prstGeom prst="ellipse">
            <a:avLst/>
          </a:prstGeom>
          <a:solidFill>
            <a:srgbClr val="8A8F9C"/>
          </a:solidFill>
          <a:ln w="25400">
            <a:solidFill>
              <a:srgbClr val="FFFFFF"/>
            </a:solidFill>
            <a:prstDash val="solid"/>
          </a:ln>
          <a:effectLst>
            <a:outerShdw blurRad="38100" dist="12700" dir="5400000" algn="bl" rotWithShape="0">
              <a:srgbClr val="6B7280">
                <a:alpha val="30000"/>
              </a:srgbClr>
            </a:outerShdw>
          </a:effectLst>
        </p:spPr>
      </p:sp>
      <p:sp>
        <p:nvSpPr>
          <p:cNvPr id="117" name="Text 57">
            <a:extLst>
              <a:ext uri="{FF2B5EF4-FFF2-40B4-BE49-F238E27FC236}">
                <a16:creationId xmlns:a16="http://schemas.microsoft.com/office/drawing/2014/main" id="{48B95D25-1A69-CF46-2942-DBA57F58C331}"/>
              </a:ext>
            </a:extLst>
          </p:cNvPr>
          <p:cNvSpPr txBox="1"/>
          <p:nvPr/>
        </p:nvSpPr>
        <p:spPr>
          <a:xfrm>
            <a:off x="5907024" y="4846320"/>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119" name="Shape 58">
            <a:extLst>
              <a:ext uri="{FF2B5EF4-FFF2-40B4-BE49-F238E27FC236}">
                <a16:creationId xmlns:a16="http://schemas.microsoft.com/office/drawing/2014/main" id="{61F8274E-FB9F-0F1A-9981-21D5E4392379}"/>
              </a:ext>
            </a:extLst>
          </p:cNvPr>
          <p:cNvSpPr/>
          <p:nvPr/>
        </p:nvSpPr>
        <p:spPr>
          <a:xfrm>
            <a:off x="7589520" y="4690872"/>
            <a:ext cx="4206240" cy="658368"/>
          </a:xfrm>
          <a:prstGeom prst="roundRect">
            <a:avLst>
              <a:gd name="adj" fmla="val 12500"/>
            </a:avLst>
          </a:prstGeom>
          <a:solidFill>
            <a:srgbClr val="EFEFF2"/>
          </a:solidFill>
          <a:ln w="12700">
            <a:solidFill>
              <a:srgbClr val="8A8F9C"/>
            </a:solidFill>
            <a:prstDash val="solid"/>
          </a:ln>
          <a:effectLst>
            <a:outerShdw blurRad="50800" dist="12700" dir="5400000" algn="bl" rotWithShape="0">
              <a:srgbClr val="9AA6C4">
                <a:alpha val="25000"/>
              </a:srgbClr>
            </a:outerShdw>
          </a:effectLst>
        </p:spPr>
      </p:sp>
      <p:sp>
        <p:nvSpPr>
          <p:cNvPr id="121" name="Shape 59">
            <a:extLst>
              <a:ext uri="{FF2B5EF4-FFF2-40B4-BE49-F238E27FC236}">
                <a16:creationId xmlns:a16="http://schemas.microsoft.com/office/drawing/2014/main" id="{D899745A-3DD4-3E42-1CB2-48822D57F8FB}"/>
              </a:ext>
            </a:extLst>
          </p:cNvPr>
          <p:cNvSpPr/>
          <p:nvPr/>
        </p:nvSpPr>
        <p:spPr>
          <a:xfrm>
            <a:off x="7790688" y="4773168"/>
            <a:ext cx="1371600" cy="256032"/>
          </a:xfrm>
          <a:prstGeom prst="roundRect">
            <a:avLst>
              <a:gd name="adj" fmla="val 50000"/>
            </a:avLst>
          </a:prstGeom>
          <a:solidFill>
            <a:srgbClr val="8A8F9C"/>
          </a:solidFill>
          <a:ln w="12700">
            <a:solidFill>
              <a:srgbClr val="8A8F9C"/>
            </a:solidFill>
            <a:prstDash val="solid"/>
          </a:ln>
        </p:spPr>
      </p:sp>
      <p:sp>
        <p:nvSpPr>
          <p:cNvPr id="123" name="Text 60">
            <a:extLst>
              <a:ext uri="{FF2B5EF4-FFF2-40B4-BE49-F238E27FC236}">
                <a16:creationId xmlns:a16="http://schemas.microsoft.com/office/drawing/2014/main" id="{4F56A941-0DE1-D4D0-C7D0-72DA3554B046}"/>
              </a:ext>
            </a:extLst>
          </p:cNvPr>
          <p:cNvSpPr txBox="1"/>
          <p:nvPr/>
        </p:nvSpPr>
        <p:spPr>
          <a:xfrm>
            <a:off x="7790688" y="4773168"/>
            <a:ext cx="1371600" cy="256032"/>
          </a:xfrm>
          <a:prstGeom prst="rect">
            <a:avLst/>
          </a:prstGeom>
          <a:noFill/>
          <a:ln/>
        </p:spPr>
        <p:txBody>
          <a:bodyPr wrap="square" lIns="0" tIns="0" rIns="0" bIns="0" rtlCol="0" anchor="ctr"/>
          <a:lstStyle/>
          <a:p>
            <a:pPr marL="0" indent="0" algn="ctr">
              <a:buNone/>
            </a:pPr>
            <a:r>
              <a:rPr lang="en-US" sz="1000" b="1" kern="0" spc="50" dirty="0">
                <a:solidFill>
                  <a:srgbClr val="FFFFFF"/>
                </a:solidFill>
                <a:latin typeface="Calibri" pitchFamily="34" charset="0"/>
                <a:ea typeface="Calibri" pitchFamily="34" charset="-122"/>
                <a:cs typeface="Calibri" pitchFamily="34" charset="-120"/>
              </a:rPr>
              <a:t>PENDING</a:t>
            </a:r>
            <a:endParaRPr lang="en-US" sz="1000" dirty="0"/>
          </a:p>
        </p:txBody>
      </p:sp>
      <p:sp>
        <p:nvSpPr>
          <p:cNvPr id="125" name="Text 61">
            <a:extLst>
              <a:ext uri="{FF2B5EF4-FFF2-40B4-BE49-F238E27FC236}">
                <a16:creationId xmlns:a16="http://schemas.microsoft.com/office/drawing/2014/main" id="{7B66485A-A093-8998-BBCF-4CDC28B46AFF}"/>
              </a:ext>
            </a:extLst>
          </p:cNvPr>
          <p:cNvSpPr txBox="1"/>
          <p:nvPr/>
        </p:nvSpPr>
        <p:spPr>
          <a:xfrm>
            <a:off x="7790688" y="5074920"/>
            <a:ext cx="3803904" cy="237744"/>
          </a:xfrm>
          <a:prstGeom prst="rect">
            <a:avLst/>
          </a:prstGeom>
          <a:noFill/>
          <a:ln/>
        </p:spPr>
        <p:txBody>
          <a:bodyPr wrap="square" lIns="0" tIns="0" rIns="0" bIns="0" rtlCol="0" anchor="ctr"/>
          <a:lstStyle/>
          <a:p>
            <a:pPr marL="0" indent="0" algn="l">
              <a:buNone/>
            </a:pPr>
            <a:r>
              <a:rPr lang="en-US" sz="1000" dirty="0">
                <a:solidFill>
                  <a:srgbClr val="1E2761"/>
                </a:solidFill>
                <a:latin typeface="Calibri" pitchFamily="34" charset="0"/>
                <a:ea typeface="Calibri" pitchFamily="34" charset="-122"/>
                <a:cs typeface="Calibri" pitchFamily="34" charset="-120"/>
              </a:rPr>
              <a:t>Target 05 SEP 2026</a:t>
            </a:r>
            <a:endParaRPr lang="en-US" sz="1000" dirty="0"/>
          </a:p>
        </p:txBody>
      </p:sp>
      <p:sp>
        <p:nvSpPr>
          <p:cNvPr id="127" name="Shape 62">
            <a:extLst>
              <a:ext uri="{FF2B5EF4-FFF2-40B4-BE49-F238E27FC236}">
                <a16:creationId xmlns:a16="http://schemas.microsoft.com/office/drawing/2014/main" id="{CFFF3ED1-A93D-981F-BF6B-293D9E49B978}"/>
              </a:ext>
            </a:extLst>
          </p:cNvPr>
          <p:cNvSpPr/>
          <p:nvPr/>
        </p:nvSpPr>
        <p:spPr>
          <a:xfrm>
            <a:off x="365760" y="5440680"/>
            <a:ext cx="4206240" cy="658368"/>
          </a:xfrm>
          <a:prstGeom prst="roundRect">
            <a:avLst>
              <a:gd name="adj" fmla="val 12500"/>
            </a:avLst>
          </a:prstGeom>
          <a:solidFill>
            <a:srgbClr val="EEF3FC"/>
          </a:solidFill>
          <a:ln w="12700">
            <a:solidFill>
              <a:srgbClr val="CFDDF3"/>
            </a:solidFill>
            <a:prstDash val="solid"/>
          </a:ln>
          <a:effectLst>
            <a:outerShdw blurRad="50800" dist="12700" dir="5400000" algn="bl" rotWithShape="0">
              <a:srgbClr val="9AA6C4">
                <a:alpha val="25000"/>
              </a:srgbClr>
            </a:outerShdw>
          </a:effectLst>
        </p:spPr>
      </p:sp>
      <p:sp>
        <p:nvSpPr>
          <p:cNvPr id="129" name="Text 63">
            <a:extLst>
              <a:ext uri="{FF2B5EF4-FFF2-40B4-BE49-F238E27FC236}">
                <a16:creationId xmlns:a16="http://schemas.microsoft.com/office/drawing/2014/main" id="{989AD682-80EB-0F06-6AA7-02C004EC38C8}"/>
              </a:ext>
            </a:extLst>
          </p:cNvPr>
          <p:cNvSpPr txBox="1"/>
          <p:nvPr/>
        </p:nvSpPr>
        <p:spPr>
          <a:xfrm>
            <a:off x="566928" y="5504688"/>
            <a:ext cx="3803904" cy="329184"/>
          </a:xfrm>
          <a:prstGeom prst="rect">
            <a:avLst/>
          </a:prstGeom>
          <a:noFill/>
          <a:ln/>
        </p:spPr>
        <p:txBody>
          <a:bodyPr wrap="square" lIns="0" tIns="0" rIns="0" bIns="0" rtlCol="0" anchor="t"/>
          <a:lstStyle/>
          <a:p>
            <a:pPr marL="0" indent="0" algn="l">
              <a:lnSpc>
                <a:spcPct val="102000"/>
              </a:lnSpc>
              <a:buNone/>
            </a:pPr>
            <a:r>
              <a:rPr lang="en-US" sz="1150" b="1" dirty="0">
                <a:solidFill>
                  <a:srgbClr val="1E2761"/>
                </a:solidFill>
                <a:latin typeface="Calibri" pitchFamily="34" charset="0"/>
                <a:ea typeface="Calibri" pitchFamily="34" charset="-122"/>
                <a:cs typeface="Calibri" pitchFamily="34" charset="-120"/>
              </a:rPr>
              <a:t>Testing &amp; Deployment</a:t>
            </a:r>
            <a:endParaRPr lang="en-US" sz="1150" dirty="0"/>
          </a:p>
        </p:txBody>
      </p:sp>
      <p:sp>
        <p:nvSpPr>
          <p:cNvPr id="131" name="Text 64">
            <a:extLst>
              <a:ext uri="{FF2B5EF4-FFF2-40B4-BE49-F238E27FC236}">
                <a16:creationId xmlns:a16="http://schemas.microsoft.com/office/drawing/2014/main" id="{F9900A46-84F1-4A6B-CBC4-30C4E4CF470C}"/>
              </a:ext>
            </a:extLst>
          </p:cNvPr>
          <p:cNvSpPr txBox="1"/>
          <p:nvPr/>
        </p:nvSpPr>
        <p:spPr>
          <a:xfrm>
            <a:off x="566928" y="5843016"/>
            <a:ext cx="3803904" cy="219456"/>
          </a:xfrm>
          <a:prstGeom prst="rect">
            <a:avLst/>
          </a:prstGeom>
          <a:noFill/>
          <a:ln/>
        </p:spPr>
        <p:txBody>
          <a:bodyPr wrap="square" lIns="0" tIns="0" rIns="0" bIns="0" rtlCol="0" anchor="ctr"/>
          <a:lstStyle/>
          <a:p>
            <a:pPr marL="0" indent="0" algn="l">
              <a:buNone/>
            </a:pPr>
            <a:r>
              <a:rPr lang="en-US" sz="950" i="1" dirty="0">
                <a:solidFill>
                  <a:srgbClr val="5B6478"/>
                </a:solidFill>
                <a:latin typeface="Calibri" pitchFamily="34" charset="0"/>
                <a:ea typeface="Calibri" pitchFamily="34" charset="-122"/>
                <a:cs typeface="Calibri" pitchFamily="34" charset="-120"/>
              </a:rPr>
              <a:t>Planned: 12 SEP 2026</a:t>
            </a:r>
            <a:endParaRPr lang="en-US" sz="950" dirty="0"/>
          </a:p>
        </p:txBody>
      </p:sp>
      <p:sp>
        <p:nvSpPr>
          <p:cNvPr id="133" name="Shape 65">
            <a:extLst>
              <a:ext uri="{FF2B5EF4-FFF2-40B4-BE49-F238E27FC236}">
                <a16:creationId xmlns:a16="http://schemas.microsoft.com/office/drawing/2014/main" id="{5973C212-C04D-B939-1178-B25C2AD26C42}"/>
              </a:ext>
            </a:extLst>
          </p:cNvPr>
          <p:cNvSpPr/>
          <p:nvPr/>
        </p:nvSpPr>
        <p:spPr>
          <a:xfrm>
            <a:off x="4572000" y="5769864"/>
            <a:ext cx="1335024" cy="0"/>
          </a:xfrm>
          <a:prstGeom prst="line">
            <a:avLst/>
          </a:prstGeom>
          <a:noFill/>
          <a:ln w="19050">
            <a:solidFill>
              <a:srgbClr val="C7CEDD"/>
            </a:solidFill>
            <a:prstDash val="solid"/>
          </a:ln>
        </p:spPr>
      </p:sp>
      <p:sp>
        <p:nvSpPr>
          <p:cNvPr id="135" name="Shape 66">
            <a:extLst>
              <a:ext uri="{FF2B5EF4-FFF2-40B4-BE49-F238E27FC236}">
                <a16:creationId xmlns:a16="http://schemas.microsoft.com/office/drawing/2014/main" id="{AD93434A-C59B-12BF-DE3C-2F2151EBF032}"/>
              </a:ext>
            </a:extLst>
          </p:cNvPr>
          <p:cNvSpPr/>
          <p:nvPr/>
        </p:nvSpPr>
        <p:spPr>
          <a:xfrm>
            <a:off x="6254496" y="5769864"/>
            <a:ext cx="1335024" cy="0"/>
          </a:xfrm>
          <a:prstGeom prst="line">
            <a:avLst/>
          </a:prstGeom>
          <a:noFill/>
          <a:ln w="19050">
            <a:solidFill>
              <a:srgbClr val="C7CEDD"/>
            </a:solidFill>
            <a:prstDash val="solid"/>
          </a:ln>
        </p:spPr>
      </p:sp>
      <p:sp>
        <p:nvSpPr>
          <p:cNvPr id="137" name="Shape 67">
            <a:extLst>
              <a:ext uri="{FF2B5EF4-FFF2-40B4-BE49-F238E27FC236}">
                <a16:creationId xmlns:a16="http://schemas.microsoft.com/office/drawing/2014/main" id="{5E1E6685-1740-F957-797A-71C70012060E}"/>
              </a:ext>
            </a:extLst>
          </p:cNvPr>
          <p:cNvSpPr/>
          <p:nvPr/>
        </p:nvSpPr>
        <p:spPr>
          <a:xfrm>
            <a:off x="5907024" y="5596128"/>
            <a:ext cx="347472" cy="347472"/>
          </a:xfrm>
          <a:prstGeom prst="ellipse">
            <a:avLst/>
          </a:prstGeom>
          <a:solidFill>
            <a:srgbClr val="8A8F9C"/>
          </a:solidFill>
          <a:ln w="25400">
            <a:solidFill>
              <a:srgbClr val="FFFFFF"/>
            </a:solidFill>
            <a:prstDash val="solid"/>
          </a:ln>
          <a:effectLst>
            <a:outerShdw blurRad="38100" dist="12700" dir="5400000" algn="bl" rotWithShape="0">
              <a:srgbClr val="6B7280">
                <a:alpha val="30000"/>
              </a:srgbClr>
            </a:outerShdw>
          </a:effectLst>
        </p:spPr>
      </p:sp>
      <p:sp>
        <p:nvSpPr>
          <p:cNvPr id="139" name="Text 68">
            <a:extLst>
              <a:ext uri="{FF2B5EF4-FFF2-40B4-BE49-F238E27FC236}">
                <a16:creationId xmlns:a16="http://schemas.microsoft.com/office/drawing/2014/main" id="{568BB26B-FEF1-D211-7A52-824986BB9F56}"/>
              </a:ext>
            </a:extLst>
          </p:cNvPr>
          <p:cNvSpPr txBox="1"/>
          <p:nvPr/>
        </p:nvSpPr>
        <p:spPr>
          <a:xfrm>
            <a:off x="5907024" y="5596128"/>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141" name="Shape 69">
            <a:extLst>
              <a:ext uri="{FF2B5EF4-FFF2-40B4-BE49-F238E27FC236}">
                <a16:creationId xmlns:a16="http://schemas.microsoft.com/office/drawing/2014/main" id="{E0E3D402-C8B2-53DC-88D8-A638F47502B9}"/>
              </a:ext>
            </a:extLst>
          </p:cNvPr>
          <p:cNvSpPr/>
          <p:nvPr/>
        </p:nvSpPr>
        <p:spPr>
          <a:xfrm>
            <a:off x="7589520" y="5440680"/>
            <a:ext cx="4206240" cy="658368"/>
          </a:xfrm>
          <a:prstGeom prst="roundRect">
            <a:avLst>
              <a:gd name="adj" fmla="val 12500"/>
            </a:avLst>
          </a:prstGeom>
          <a:solidFill>
            <a:srgbClr val="EFEFF2"/>
          </a:solidFill>
          <a:ln w="12700">
            <a:solidFill>
              <a:srgbClr val="8A8F9C"/>
            </a:solidFill>
            <a:prstDash val="solid"/>
          </a:ln>
          <a:effectLst>
            <a:outerShdw blurRad="50800" dist="12700" dir="5400000" algn="bl" rotWithShape="0">
              <a:srgbClr val="9AA6C4">
                <a:alpha val="25000"/>
              </a:srgbClr>
            </a:outerShdw>
          </a:effectLst>
        </p:spPr>
      </p:sp>
      <p:sp>
        <p:nvSpPr>
          <p:cNvPr id="143" name="Shape 70">
            <a:extLst>
              <a:ext uri="{FF2B5EF4-FFF2-40B4-BE49-F238E27FC236}">
                <a16:creationId xmlns:a16="http://schemas.microsoft.com/office/drawing/2014/main" id="{FF07804D-6D71-1A58-536C-881AD6F67F9F}"/>
              </a:ext>
            </a:extLst>
          </p:cNvPr>
          <p:cNvSpPr/>
          <p:nvPr/>
        </p:nvSpPr>
        <p:spPr>
          <a:xfrm>
            <a:off x="7790688" y="5522976"/>
            <a:ext cx="1371600" cy="256032"/>
          </a:xfrm>
          <a:prstGeom prst="roundRect">
            <a:avLst>
              <a:gd name="adj" fmla="val 50000"/>
            </a:avLst>
          </a:prstGeom>
          <a:solidFill>
            <a:srgbClr val="8A8F9C"/>
          </a:solidFill>
          <a:ln w="12700">
            <a:solidFill>
              <a:srgbClr val="8A8F9C"/>
            </a:solidFill>
            <a:prstDash val="solid"/>
          </a:ln>
        </p:spPr>
      </p:sp>
      <p:sp>
        <p:nvSpPr>
          <p:cNvPr id="145" name="Text 71">
            <a:extLst>
              <a:ext uri="{FF2B5EF4-FFF2-40B4-BE49-F238E27FC236}">
                <a16:creationId xmlns:a16="http://schemas.microsoft.com/office/drawing/2014/main" id="{3B7CB170-B92E-F601-891B-6FA1D9F6A28D}"/>
              </a:ext>
            </a:extLst>
          </p:cNvPr>
          <p:cNvSpPr txBox="1"/>
          <p:nvPr/>
        </p:nvSpPr>
        <p:spPr>
          <a:xfrm>
            <a:off x="7790688" y="5522976"/>
            <a:ext cx="1371600" cy="256032"/>
          </a:xfrm>
          <a:prstGeom prst="rect">
            <a:avLst/>
          </a:prstGeom>
          <a:noFill/>
          <a:ln/>
        </p:spPr>
        <p:txBody>
          <a:bodyPr wrap="square" lIns="0" tIns="0" rIns="0" bIns="0" rtlCol="0" anchor="ctr"/>
          <a:lstStyle/>
          <a:p>
            <a:pPr marL="0" indent="0" algn="ctr">
              <a:buNone/>
            </a:pPr>
            <a:r>
              <a:rPr lang="en-US" sz="1000" b="1" kern="0" spc="50" dirty="0">
                <a:solidFill>
                  <a:srgbClr val="FFFFFF"/>
                </a:solidFill>
                <a:latin typeface="Calibri" pitchFamily="34" charset="0"/>
                <a:ea typeface="Calibri" pitchFamily="34" charset="-122"/>
                <a:cs typeface="Calibri" pitchFamily="34" charset="-120"/>
              </a:rPr>
              <a:t>PENDING</a:t>
            </a:r>
            <a:endParaRPr lang="en-US" sz="1000" dirty="0"/>
          </a:p>
        </p:txBody>
      </p:sp>
      <p:sp>
        <p:nvSpPr>
          <p:cNvPr id="147" name="Text 72">
            <a:extLst>
              <a:ext uri="{FF2B5EF4-FFF2-40B4-BE49-F238E27FC236}">
                <a16:creationId xmlns:a16="http://schemas.microsoft.com/office/drawing/2014/main" id="{0B73ED24-5BE9-A57C-E0C9-6DE56A879E3C}"/>
              </a:ext>
            </a:extLst>
          </p:cNvPr>
          <p:cNvSpPr txBox="1"/>
          <p:nvPr/>
        </p:nvSpPr>
        <p:spPr>
          <a:xfrm>
            <a:off x="7790688" y="5824728"/>
            <a:ext cx="3803904" cy="237744"/>
          </a:xfrm>
          <a:prstGeom prst="rect">
            <a:avLst/>
          </a:prstGeom>
          <a:noFill/>
          <a:ln/>
        </p:spPr>
        <p:txBody>
          <a:bodyPr wrap="square" lIns="0" tIns="0" rIns="0" bIns="0" rtlCol="0" anchor="ctr"/>
          <a:lstStyle/>
          <a:p>
            <a:pPr marL="0" indent="0" algn="l">
              <a:buNone/>
            </a:pPr>
            <a:r>
              <a:rPr lang="en-US" sz="1000" dirty="0">
                <a:solidFill>
                  <a:srgbClr val="1E2761"/>
                </a:solidFill>
                <a:latin typeface="Calibri" pitchFamily="34" charset="0"/>
                <a:ea typeface="Calibri" pitchFamily="34" charset="-122"/>
                <a:cs typeface="Calibri" pitchFamily="34" charset="-120"/>
              </a:rPr>
              <a:t>Target 12 SEP 2026</a:t>
            </a:r>
            <a:endParaRPr lang="en-US" sz="1000" dirty="0"/>
          </a:p>
        </p:txBody>
      </p:sp>
      <p:sp>
        <p:nvSpPr>
          <p:cNvPr id="149" name="Text 73">
            <a:extLst>
              <a:ext uri="{FF2B5EF4-FFF2-40B4-BE49-F238E27FC236}">
                <a16:creationId xmlns:a16="http://schemas.microsoft.com/office/drawing/2014/main" id="{BB197FC0-76F6-0B9B-A52D-D3A9000134C0}"/>
              </a:ext>
            </a:extLst>
          </p:cNvPr>
          <p:cNvSpPr txBox="1"/>
          <p:nvPr/>
        </p:nvSpPr>
        <p:spPr>
          <a:xfrm>
            <a:off x="365760" y="6245352"/>
            <a:ext cx="2926080" cy="274320"/>
          </a:xfrm>
          <a:prstGeom prst="rect">
            <a:avLst/>
          </a:prstGeom>
          <a:noFill/>
          <a:ln/>
        </p:spPr>
        <p:txBody>
          <a:bodyPr wrap="square" lIns="0" tIns="0" rIns="0" bIns="0" rtlCol="0" anchor="ctr"/>
          <a:lstStyle/>
          <a:p>
            <a:pPr marL="0" indent="0" algn="l">
              <a:buNone/>
            </a:pPr>
            <a:r>
              <a:rPr lang="en-US" sz="1100" b="1" kern="0" spc="50" dirty="0">
                <a:solidFill>
                  <a:srgbClr val="1E2761"/>
                </a:solidFill>
                <a:latin typeface="Calibri" pitchFamily="34" charset="0"/>
                <a:ea typeface="Calibri" pitchFamily="34" charset="-122"/>
                <a:cs typeface="Calibri" pitchFamily="34" charset="-120"/>
              </a:rPr>
              <a:t>FIRST REVIEW PROGRESS</a:t>
            </a:r>
            <a:endParaRPr lang="en-US" sz="1100" dirty="0"/>
          </a:p>
        </p:txBody>
      </p:sp>
      <p:sp>
        <p:nvSpPr>
          <p:cNvPr id="177" name="Text 1">
            <a:extLst>
              <a:ext uri="{FF2B5EF4-FFF2-40B4-BE49-F238E27FC236}">
                <a16:creationId xmlns:a16="http://schemas.microsoft.com/office/drawing/2014/main" id="{FDDE97C0-1E71-A289-9AA8-90FADADCBA17}"/>
              </a:ext>
            </a:extLst>
          </p:cNvPr>
          <p:cNvSpPr txBox="1"/>
          <p:nvPr/>
        </p:nvSpPr>
        <p:spPr>
          <a:xfrm>
            <a:off x="365760" y="749808"/>
            <a:ext cx="10515600" cy="292608"/>
          </a:xfrm>
          <a:prstGeom prst="rect">
            <a:avLst/>
          </a:prstGeom>
          <a:noFill/>
          <a:ln/>
        </p:spPr>
        <p:txBody>
          <a:bodyPr wrap="square" lIns="0" tIns="0" rIns="0" bIns="0" rtlCol="0" anchor="ctr"/>
          <a:lstStyle/>
          <a:p>
            <a:pPr marL="0" indent="0" algn="l">
              <a:buNone/>
            </a:pPr>
            <a:r>
              <a:rPr lang="en-US" sz="1250" i="1" dirty="0">
                <a:solidFill>
                  <a:srgbClr val="5B6478"/>
                </a:solidFill>
                <a:latin typeface="Calibri" pitchFamily="34" charset="0"/>
                <a:ea typeface="Calibri" pitchFamily="34" charset="-122"/>
                <a:cs typeface="Calibri" pitchFamily="34" charset="-120"/>
              </a:rPr>
              <a:t>Park Ease – Smart Parking Management and Intelligent Reservation System</a:t>
            </a:r>
            <a:endParaRPr lang="en-US" sz="1250" dirty="0"/>
          </a:p>
        </p:txBody>
      </p:sp>
      <p:sp>
        <p:nvSpPr>
          <p:cNvPr id="179" name="Shape 2">
            <a:extLst>
              <a:ext uri="{FF2B5EF4-FFF2-40B4-BE49-F238E27FC236}">
                <a16:creationId xmlns:a16="http://schemas.microsoft.com/office/drawing/2014/main" id="{77268DF3-AE5D-560D-3FFD-CFFB3EFF42B6}"/>
              </a:ext>
            </a:extLst>
          </p:cNvPr>
          <p:cNvSpPr/>
          <p:nvPr/>
        </p:nvSpPr>
        <p:spPr>
          <a:xfrm>
            <a:off x="365760" y="1170432"/>
            <a:ext cx="4206240" cy="365760"/>
          </a:xfrm>
          <a:prstGeom prst="roundRect">
            <a:avLst>
              <a:gd name="adj" fmla="val 20000"/>
            </a:avLst>
          </a:prstGeom>
          <a:solidFill>
            <a:srgbClr val="1E2761"/>
          </a:solidFill>
          <a:ln w="12700">
            <a:solidFill>
              <a:srgbClr val="1E2761"/>
            </a:solidFill>
            <a:prstDash val="solid"/>
          </a:ln>
        </p:spPr>
      </p:sp>
      <p:sp>
        <p:nvSpPr>
          <p:cNvPr id="181" name="Text 3">
            <a:extLst>
              <a:ext uri="{FF2B5EF4-FFF2-40B4-BE49-F238E27FC236}">
                <a16:creationId xmlns:a16="http://schemas.microsoft.com/office/drawing/2014/main" id="{A30B4C5F-8DB8-36C0-F556-883E815676AA}"/>
              </a:ext>
            </a:extLst>
          </p:cNvPr>
          <p:cNvSpPr txBox="1"/>
          <p:nvPr/>
        </p:nvSpPr>
        <p:spPr>
          <a:xfrm>
            <a:off x="365760" y="1170432"/>
            <a:ext cx="4206240" cy="365760"/>
          </a:xfrm>
          <a:prstGeom prst="rect">
            <a:avLst/>
          </a:prstGeom>
          <a:noFill/>
          <a:ln/>
        </p:spPr>
        <p:txBody>
          <a:bodyPr wrap="square" lIns="0" tIns="0" rIns="0" bIns="0" rtlCol="0" anchor="ctr"/>
          <a:lstStyle/>
          <a:p>
            <a:pPr marL="0" indent="0" algn="ctr">
              <a:buNone/>
            </a:pPr>
            <a:r>
              <a:rPr lang="en-US" sz="1300" b="1" kern="0" spc="100" dirty="0">
                <a:solidFill>
                  <a:srgbClr val="FFFFFF"/>
                </a:solidFill>
                <a:latin typeface="Calibri" pitchFamily="34" charset="0"/>
                <a:ea typeface="Calibri" pitchFamily="34" charset="-122"/>
                <a:cs typeface="Calibri" pitchFamily="34" charset="-120"/>
              </a:rPr>
              <a:t>ZEROTH REVIEW  —  PLANNED</a:t>
            </a:r>
            <a:endParaRPr lang="en-US" sz="1300" dirty="0"/>
          </a:p>
        </p:txBody>
      </p:sp>
      <p:sp>
        <p:nvSpPr>
          <p:cNvPr id="183" name="Shape 4">
            <a:extLst>
              <a:ext uri="{FF2B5EF4-FFF2-40B4-BE49-F238E27FC236}">
                <a16:creationId xmlns:a16="http://schemas.microsoft.com/office/drawing/2014/main" id="{8AB64073-B2F6-42A2-DE3F-EB173D8B950E}"/>
              </a:ext>
            </a:extLst>
          </p:cNvPr>
          <p:cNvSpPr/>
          <p:nvPr/>
        </p:nvSpPr>
        <p:spPr>
          <a:xfrm>
            <a:off x="7589520" y="1170432"/>
            <a:ext cx="4206240" cy="365760"/>
          </a:xfrm>
          <a:prstGeom prst="roundRect">
            <a:avLst>
              <a:gd name="adj" fmla="val 20000"/>
            </a:avLst>
          </a:prstGeom>
          <a:solidFill>
            <a:srgbClr val="3B4A8C"/>
          </a:solidFill>
          <a:ln w="12700">
            <a:solidFill>
              <a:srgbClr val="3B4A8C"/>
            </a:solidFill>
            <a:prstDash val="solid"/>
          </a:ln>
        </p:spPr>
      </p:sp>
      <p:sp>
        <p:nvSpPr>
          <p:cNvPr id="185" name="Text 5">
            <a:extLst>
              <a:ext uri="{FF2B5EF4-FFF2-40B4-BE49-F238E27FC236}">
                <a16:creationId xmlns:a16="http://schemas.microsoft.com/office/drawing/2014/main" id="{6407A158-4759-D6C4-B712-0E09A6116907}"/>
              </a:ext>
            </a:extLst>
          </p:cNvPr>
          <p:cNvSpPr txBox="1"/>
          <p:nvPr/>
        </p:nvSpPr>
        <p:spPr>
          <a:xfrm>
            <a:off x="7589520" y="1170432"/>
            <a:ext cx="4206240" cy="365760"/>
          </a:xfrm>
          <a:prstGeom prst="rect">
            <a:avLst/>
          </a:prstGeom>
          <a:noFill/>
          <a:ln/>
        </p:spPr>
        <p:txBody>
          <a:bodyPr wrap="square" lIns="0" tIns="0" rIns="0" bIns="0" rtlCol="0" anchor="ctr"/>
          <a:lstStyle/>
          <a:p>
            <a:pPr marL="0" indent="0" algn="ctr">
              <a:buNone/>
            </a:pPr>
            <a:r>
              <a:rPr lang="en-US" sz="1300" b="1" kern="0" spc="100" dirty="0">
                <a:solidFill>
                  <a:srgbClr val="FFFFFF"/>
                </a:solidFill>
                <a:latin typeface="Calibri" pitchFamily="34" charset="0"/>
                <a:ea typeface="Calibri" pitchFamily="34" charset="-122"/>
                <a:cs typeface="Calibri" pitchFamily="34" charset="-120"/>
              </a:rPr>
              <a:t>FIRST REVIEW  —  CURRENT STATUS</a:t>
            </a:r>
            <a:endParaRPr lang="en-US" sz="1300" dirty="0"/>
          </a:p>
        </p:txBody>
      </p:sp>
      <p:sp>
        <p:nvSpPr>
          <p:cNvPr id="187" name="Shape 6">
            <a:extLst>
              <a:ext uri="{FF2B5EF4-FFF2-40B4-BE49-F238E27FC236}">
                <a16:creationId xmlns:a16="http://schemas.microsoft.com/office/drawing/2014/main" id="{2B3F41F0-B9D7-16CE-46E4-9DAB80F5CFA2}"/>
              </a:ext>
            </a:extLst>
          </p:cNvPr>
          <p:cNvSpPr/>
          <p:nvPr/>
        </p:nvSpPr>
        <p:spPr>
          <a:xfrm>
            <a:off x="6080760" y="2020824"/>
            <a:ext cx="0" cy="3749040"/>
          </a:xfrm>
          <a:prstGeom prst="line">
            <a:avLst/>
          </a:prstGeom>
          <a:noFill/>
          <a:ln w="25400">
            <a:solidFill>
              <a:srgbClr val="C7CEDD"/>
            </a:solidFill>
            <a:prstDash val="solid"/>
          </a:ln>
        </p:spPr>
      </p:sp>
      <p:sp>
        <p:nvSpPr>
          <p:cNvPr id="189" name="Shape 7">
            <a:extLst>
              <a:ext uri="{FF2B5EF4-FFF2-40B4-BE49-F238E27FC236}">
                <a16:creationId xmlns:a16="http://schemas.microsoft.com/office/drawing/2014/main" id="{23A6CDB5-4E0F-49F1-8259-560F8B0D5BC5}"/>
              </a:ext>
            </a:extLst>
          </p:cNvPr>
          <p:cNvSpPr/>
          <p:nvPr/>
        </p:nvSpPr>
        <p:spPr>
          <a:xfrm>
            <a:off x="365760" y="1691640"/>
            <a:ext cx="4206240" cy="658368"/>
          </a:xfrm>
          <a:prstGeom prst="roundRect">
            <a:avLst>
              <a:gd name="adj" fmla="val 12500"/>
            </a:avLst>
          </a:prstGeom>
          <a:solidFill>
            <a:srgbClr val="EEF3FC"/>
          </a:solidFill>
          <a:ln w="12700">
            <a:solidFill>
              <a:srgbClr val="CFDDF3"/>
            </a:solidFill>
            <a:prstDash val="solid"/>
          </a:ln>
          <a:effectLst>
            <a:outerShdw blurRad="50800" dist="12700" dir="5400000" algn="bl" rotWithShape="0">
              <a:srgbClr val="9AA6C4">
                <a:alpha val="25000"/>
              </a:srgbClr>
            </a:outerShdw>
          </a:effectLst>
        </p:spPr>
      </p:sp>
      <p:sp>
        <p:nvSpPr>
          <p:cNvPr id="191" name="Text 8">
            <a:extLst>
              <a:ext uri="{FF2B5EF4-FFF2-40B4-BE49-F238E27FC236}">
                <a16:creationId xmlns:a16="http://schemas.microsoft.com/office/drawing/2014/main" id="{B922223E-1BBC-20E7-B7E4-D5349011DD29}"/>
              </a:ext>
            </a:extLst>
          </p:cNvPr>
          <p:cNvSpPr txBox="1"/>
          <p:nvPr/>
        </p:nvSpPr>
        <p:spPr>
          <a:xfrm>
            <a:off x="566928" y="1755648"/>
            <a:ext cx="3803904" cy="329184"/>
          </a:xfrm>
          <a:prstGeom prst="rect">
            <a:avLst/>
          </a:prstGeom>
          <a:noFill/>
          <a:ln/>
        </p:spPr>
        <p:txBody>
          <a:bodyPr wrap="square" lIns="0" tIns="0" rIns="0" bIns="0" rtlCol="0" anchor="t"/>
          <a:lstStyle/>
          <a:p>
            <a:pPr marL="0" indent="0" algn="l">
              <a:lnSpc>
                <a:spcPct val="102000"/>
              </a:lnSpc>
              <a:buNone/>
            </a:pPr>
            <a:r>
              <a:rPr lang="en-US" sz="1150" b="1" dirty="0">
                <a:solidFill>
                  <a:srgbClr val="1E2761"/>
                </a:solidFill>
                <a:latin typeface="Calibri" pitchFamily="34" charset="0"/>
                <a:ea typeface="Calibri" pitchFamily="34" charset="-122"/>
                <a:cs typeface="Calibri" pitchFamily="34" charset="-120"/>
              </a:rPr>
              <a:t>Requirement Analysis &amp; System Architecture</a:t>
            </a:r>
            <a:endParaRPr lang="en-US" sz="1150" dirty="0"/>
          </a:p>
        </p:txBody>
      </p:sp>
      <p:sp>
        <p:nvSpPr>
          <p:cNvPr id="193" name="Text 9">
            <a:extLst>
              <a:ext uri="{FF2B5EF4-FFF2-40B4-BE49-F238E27FC236}">
                <a16:creationId xmlns:a16="http://schemas.microsoft.com/office/drawing/2014/main" id="{CA055EDC-D1C5-8E10-26AE-521C07F904B1}"/>
              </a:ext>
            </a:extLst>
          </p:cNvPr>
          <p:cNvSpPr txBox="1"/>
          <p:nvPr/>
        </p:nvSpPr>
        <p:spPr>
          <a:xfrm>
            <a:off x="566928" y="2093976"/>
            <a:ext cx="3803904" cy="219456"/>
          </a:xfrm>
          <a:prstGeom prst="rect">
            <a:avLst/>
          </a:prstGeom>
          <a:noFill/>
          <a:ln/>
        </p:spPr>
        <p:txBody>
          <a:bodyPr wrap="square" lIns="0" tIns="0" rIns="0" bIns="0" rtlCol="0" anchor="ctr"/>
          <a:lstStyle/>
          <a:p>
            <a:pPr marL="0" indent="0" algn="l">
              <a:buNone/>
            </a:pPr>
            <a:r>
              <a:rPr lang="en-US" sz="950" i="1" dirty="0">
                <a:solidFill>
                  <a:srgbClr val="5B6478"/>
                </a:solidFill>
                <a:latin typeface="Calibri" pitchFamily="34" charset="0"/>
                <a:ea typeface="Calibri" pitchFamily="34" charset="-122"/>
                <a:cs typeface="Calibri" pitchFamily="34" charset="-120"/>
              </a:rPr>
              <a:t>Planned: 25 JUL 2026</a:t>
            </a:r>
            <a:endParaRPr lang="en-US" sz="950" dirty="0"/>
          </a:p>
        </p:txBody>
      </p:sp>
      <p:sp>
        <p:nvSpPr>
          <p:cNvPr id="195" name="Shape 10">
            <a:extLst>
              <a:ext uri="{FF2B5EF4-FFF2-40B4-BE49-F238E27FC236}">
                <a16:creationId xmlns:a16="http://schemas.microsoft.com/office/drawing/2014/main" id="{B2AF4352-0F8E-08FD-75B4-9B11858435C9}"/>
              </a:ext>
            </a:extLst>
          </p:cNvPr>
          <p:cNvSpPr/>
          <p:nvPr/>
        </p:nvSpPr>
        <p:spPr>
          <a:xfrm>
            <a:off x="4572000" y="2020824"/>
            <a:ext cx="1335024" cy="0"/>
          </a:xfrm>
          <a:prstGeom prst="line">
            <a:avLst/>
          </a:prstGeom>
          <a:noFill/>
          <a:ln w="19050">
            <a:solidFill>
              <a:srgbClr val="C7CEDD"/>
            </a:solidFill>
            <a:prstDash val="solid"/>
          </a:ln>
        </p:spPr>
      </p:sp>
      <p:sp>
        <p:nvSpPr>
          <p:cNvPr id="197" name="Shape 11">
            <a:extLst>
              <a:ext uri="{FF2B5EF4-FFF2-40B4-BE49-F238E27FC236}">
                <a16:creationId xmlns:a16="http://schemas.microsoft.com/office/drawing/2014/main" id="{6640A6BB-6AE5-B45B-8960-2DFD6B7262A2}"/>
              </a:ext>
            </a:extLst>
          </p:cNvPr>
          <p:cNvSpPr/>
          <p:nvPr/>
        </p:nvSpPr>
        <p:spPr>
          <a:xfrm>
            <a:off x="6254496" y="2020824"/>
            <a:ext cx="1335024" cy="0"/>
          </a:xfrm>
          <a:prstGeom prst="line">
            <a:avLst/>
          </a:prstGeom>
          <a:noFill/>
          <a:ln w="19050">
            <a:solidFill>
              <a:srgbClr val="C7CEDD"/>
            </a:solidFill>
            <a:prstDash val="solid"/>
          </a:ln>
        </p:spPr>
      </p:sp>
      <p:sp>
        <p:nvSpPr>
          <p:cNvPr id="199" name="Shape 12">
            <a:extLst>
              <a:ext uri="{FF2B5EF4-FFF2-40B4-BE49-F238E27FC236}">
                <a16:creationId xmlns:a16="http://schemas.microsoft.com/office/drawing/2014/main" id="{22776567-A6AA-5481-8073-5DA007A9BD5C}"/>
              </a:ext>
            </a:extLst>
          </p:cNvPr>
          <p:cNvSpPr/>
          <p:nvPr/>
        </p:nvSpPr>
        <p:spPr>
          <a:xfrm>
            <a:off x="5907024" y="1847088"/>
            <a:ext cx="347472" cy="347472"/>
          </a:xfrm>
          <a:prstGeom prst="ellipse">
            <a:avLst/>
          </a:prstGeom>
          <a:solidFill>
            <a:srgbClr val="2E7D32"/>
          </a:solidFill>
          <a:ln w="25400">
            <a:solidFill>
              <a:srgbClr val="FFFFFF"/>
            </a:solidFill>
            <a:prstDash val="solid"/>
          </a:ln>
          <a:effectLst>
            <a:outerShdw blurRad="38100" dist="12700" dir="5400000" algn="bl" rotWithShape="0">
              <a:srgbClr val="6B7280">
                <a:alpha val="30000"/>
              </a:srgbClr>
            </a:outerShdw>
          </a:effectLst>
        </p:spPr>
      </p:sp>
      <p:sp>
        <p:nvSpPr>
          <p:cNvPr id="201" name="Text 13">
            <a:extLst>
              <a:ext uri="{FF2B5EF4-FFF2-40B4-BE49-F238E27FC236}">
                <a16:creationId xmlns:a16="http://schemas.microsoft.com/office/drawing/2014/main" id="{97A59E4F-E96D-3C72-A87D-D0FFE80D678C}"/>
              </a:ext>
            </a:extLst>
          </p:cNvPr>
          <p:cNvSpPr txBox="1"/>
          <p:nvPr/>
        </p:nvSpPr>
        <p:spPr>
          <a:xfrm>
            <a:off x="5907024" y="1847088"/>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203" name="Shape 14">
            <a:extLst>
              <a:ext uri="{FF2B5EF4-FFF2-40B4-BE49-F238E27FC236}">
                <a16:creationId xmlns:a16="http://schemas.microsoft.com/office/drawing/2014/main" id="{9307C754-AA9B-2C11-A513-3D5E15E0309D}"/>
              </a:ext>
            </a:extLst>
          </p:cNvPr>
          <p:cNvSpPr/>
          <p:nvPr/>
        </p:nvSpPr>
        <p:spPr>
          <a:xfrm>
            <a:off x="7589520" y="1691640"/>
            <a:ext cx="4206240" cy="658368"/>
          </a:xfrm>
          <a:prstGeom prst="roundRect">
            <a:avLst>
              <a:gd name="adj" fmla="val 12500"/>
            </a:avLst>
          </a:prstGeom>
          <a:solidFill>
            <a:srgbClr val="E7F4E8"/>
          </a:solidFill>
          <a:ln w="12700">
            <a:solidFill>
              <a:srgbClr val="2E7D32"/>
            </a:solidFill>
            <a:prstDash val="solid"/>
          </a:ln>
          <a:effectLst>
            <a:outerShdw blurRad="50800" dist="12700" dir="5400000" algn="bl" rotWithShape="0">
              <a:srgbClr val="9AA6C4">
                <a:alpha val="25000"/>
              </a:srgbClr>
            </a:outerShdw>
          </a:effectLst>
        </p:spPr>
      </p:sp>
      <p:sp>
        <p:nvSpPr>
          <p:cNvPr id="205" name="Shape 15">
            <a:extLst>
              <a:ext uri="{FF2B5EF4-FFF2-40B4-BE49-F238E27FC236}">
                <a16:creationId xmlns:a16="http://schemas.microsoft.com/office/drawing/2014/main" id="{120DEAEE-4272-FBCE-50CE-95636ACE0ADA}"/>
              </a:ext>
            </a:extLst>
          </p:cNvPr>
          <p:cNvSpPr/>
          <p:nvPr/>
        </p:nvSpPr>
        <p:spPr>
          <a:xfrm>
            <a:off x="7790688" y="1773936"/>
            <a:ext cx="1371600" cy="256032"/>
          </a:xfrm>
          <a:prstGeom prst="roundRect">
            <a:avLst>
              <a:gd name="adj" fmla="val 50000"/>
            </a:avLst>
          </a:prstGeom>
          <a:solidFill>
            <a:srgbClr val="2E7D32"/>
          </a:solidFill>
          <a:ln w="12700">
            <a:solidFill>
              <a:srgbClr val="2E7D32"/>
            </a:solidFill>
            <a:prstDash val="solid"/>
          </a:ln>
        </p:spPr>
      </p:sp>
      <p:sp>
        <p:nvSpPr>
          <p:cNvPr id="207" name="Text 16">
            <a:extLst>
              <a:ext uri="{FF2B5EF4-FFF2-40B4-BE49-F238E27FC236}">
                <a16:creationId xmlns:a16="http://schemas.microsoft.com/office/drawing/2014/main" id="{9B89F1BF-AAEA-A5E3-1602-30387BDAF28B}"/>
              </a:ext>
            </a:extLst>
          </p:cNvPr>
          <p:cNvSpPr txBox="1"/>
          <p:nvPr/>
        </p:nvSpPr>
        <p:spPr>
          <a:xfrm>
            <a:off x="7790688" y="1773936"/>
            <a:ext cx="1371600" cy="256032"/>
          </a:xfrm>
          <a:prstGeom prst="rect">
            <a:avLst/>
          </a:prstGeom>
          <a:noFill/>
          <a:ln/>
        </p:spPr>
        <p:txBody>
          <a:bodyPr wrap="square" lIns="0" tIns="0" rIns="0" bIns="0" rtlCol="0" anchor="ctr"/>
          <a:lstStyle/>
          <a:p>
            <a:pPr marL="0" indent="0" algn="ctr">
              <a:buNone/>
            </a:pPr>
            <a:r>
              <a:rPr lang="en-US" sz="1000" b="1" kern="0" spc="50" dirty="0">
                <a:solidFill>
                  <a:srgbClr val="FFFFFF"/>
                </a:solidFill>
                <a:latin typeface="Calibri" pitchFamily="34" charset="0"/>
                <a:ea typeface="Calibri" pitchFamily="34" charset="-122"/>
                <a:cs typeface="Calibri" pitchFamily="34" charset="-120"/>
              </a:rPr>
              <a:t>COMPLETED</a:t>
            </a:r>
            <a:endParaRPr lang="en-US" sz="1000" dirty="0"/>
          </a:p>
        </p:txBody>
      </p:sp>
      <p:sp>
        <p:nvSpPr>
          <p:cNvPr id="209" name="Text 17">
            <a:extLst>
              <a:ext uri="{FF2B5EF4-FFF2-40B4-BE49-F238E27FC236}">
                <a16:creationId xmlns:a16="http://schemas.microsoft.com/office/drawing/2014/main" id="{994257BE-DADD-AF89-A91B-9570964C858A}"/>
              </a:ext>
            </a:extLst>
          </p:cNvPr>
          <p:cNvSpPr txBox="1"/>
          <p:nvPr/>
        </p:nvSpPr>
        <p:spPr>
          <a:xfrm>
            <a:off x="7790688" y="2075688"/>
            <a:ext cx="3803904" cy="237744"/>
          </a:xfrm>
          <a:prstGeom prst="rect">
            <a:avLst/>
          </a:prstGeom>
          <a:noFill/>
          <a:ln/>
        </p:spPr>
        <p:txBody>
          <a:bodyPr wrap="square" lIns="0" tIns="0" rIns="0" bIns="0" rtlCol="0" anchor="ctr"/>
          <a:lstStyle/>
          <a:p>
            <a:pPr marL="0" indent="0" algn="l">
              <a:buNone/>
            </a:pPr>
            <a:r>
              <a:rPr lang="en-US" sz="1000" dirty="0">
                <a:solidFill>
                  <a:srgbClr val="1E2761"/>
                </a:solidFill>
                <a:latin typeface="Calibri" pitchFamily="34" charset="0"/>
                <a:ea typeface="Calibri" pitchFamily="34" charset="-122"/>
                <a:cs typeface="Calibri" pitchFamily="34" charset="-120"/>
              </a:rPr>
              <a:t>Completed 25 JUL 2026</a:t>
            </a:r>
            <a:endParaRPr lang="en-US" sz="1000" dirty="0"/>
          </a:p>
        </p:txBody>
      </p:sp>
      <p:sp>
        <p:nvSpPr>
          <p:cNvPr id="211" name="Shape 18">
            <a:extLst>
              <a:ext uri="{FF2B5EF4-FFF2-40B4-BE49-F238E27FC236}">
                <a16:creationId xmlns:a16="http://schemas.microsoft.com/office/drawing/2014/main" id="{36C2AD22-7AF7-DABD-1A31-2DE052247904}"/>
              </a:ext>
            </a:extLst>
          </p:cNvPr>
          <p:cNvSpPr/>
          <p:nvPr/>
        </p:nvSpPr>
        <p:spPr>
          <a:xfrm>
            <a:off x="365760" y="2441448"/>
            <a:ext cx="4206240" cy="658368"/>
          </a:xfrm>
          <a:prstGeom prst="roundRect">
            <a:avLst>
              <a:gd name="adj" fmla="val 12500"/>
            </a:avLst>
          </a:prstGeom>
          <a:solidFill>
            <a:srgbClr val="EEF3FC"/>
          </a:solidFill>
          <a:ln w="12700">
            <a:solidFill>
              <a:srgbClr val="CFDDF3"/>
            </a:solidFill>
            <a:prstDash val="solid"/>
          </a:ln>
          <a:effectLst>
            <a:outerShdw blurRad="50800" dist="12700" dir="5400000" algn="bl" rotWithShape="0">
              <a:srgbClr val="9AA6C4">
                <a:alpha val="25000"/>
              </a:srgbClr>
            </a:outerShdw>
          </a:effectLst>
        </p:spPr>
      </p:sp>
      <p:sp>
        <p:nvSpPr>
          <p:cNvPr id="213" name="Text 19">
            <a:extLst>
              <a:ext uri="{FF2B5EF4-FFF2-40B4-BE49-F238E27FC236}">
                <a16:creationId xmlns:a16="http://schemas.microsoft.com/office/drawing/2014/main" id="{72B0CEE0-31D2-6320-23B8-3F2274D84ABC}"/>
              </a:ext>
            </a:extLst>
          </p:cNvPr>
          <p:cNvSpPr txBox="1"/>
          <p:nvPr/>
        </p:nvSpPr>
        <p:spPr>
          <a:xfrm>
            <a:off x="566928" y="2505456"/>
            <a:ext cx="3803904" cy="329184"/>
          </a:xfrm>
          <a:prstGeom prst="rect">
            <a:avLst/>
          </a:prstGeom>
          <a:noFill/>
          <a:ln/>
        </p:spPr>
        <p:txBody>
          <a:bodyPr wrap="square" lIns="0" tIns="0" rIns="0" bIns="0" rtlCol="0" anchor="t"/>
          <a:lstStyle/>
          <a:p>
            <a:pPr marL="0" indent="0" algn="l">
              <a:lnSpc>
                <a:spcPct val="102000"/>
              </a:lnSpc>
              <a:buNone/>
            </a:pPr>
            <a:r>
              <a:rPr lang="en-US" sz="1150" b="1" dirty="0">
                <a:solidFill>
                  <a:srgbClr val="1E2761"/>
                </a:solidFill>
                <a:latin typeface="Calibri" pitchFamily="34" charset="0"/>
                <a:ea typeface="Calibri" pitchFamily="34" charset="-122"/>
                <a:cs typeface="Calibri" pitchFamily="34" charset="-120"/>
              </a:rPr>
              <a:t>Database &amp; Backend Development</a:t>
            </a:r>
            <a:endParaRPr lang="en-US" sz="1150" dirty="0"/>
          </a:p>
        </p:txBody>
      </p:sp>
      <p:sp>
        <p:nvSpPr>
          <p:cNvPr id="215" name="Text 20">
            <a:extLst>
              <a:ext uri="{FF2B5EF4-FFF2-40B4-BE49-F238E27FC236}">
                <a16:creationId xmlns:a16="http://schemas.microsoft.com/office/drawing/2014/main" id="{3371CD5C-0E4B-BCD3-5550-6EF0260A9D87}"/>
              </a:ext>
            </a:extLst>
          </p:cNvPr>
          <p:cNvSpPr txBox="1"/>
          <p:nvPr/>
        </p:nvSpPr>
        <p:spPr>
          <a:xfrm>
            <a:off x="566928" y="2843784"/>
            <a:ext cx="3803904" cy="219456"/>
          </a:xfrm>
          <a:prstGeom prst="rect">
            <a:avLst/>
          </a:prstGeom>
          <a:noFill/>
          <a:ln/>
        </p:spPr>
        <p:txBody>
          <a:bodyPr wrap="square" lIns="0" tIns="0" rIns="0" bIns="0" rtlCol="0" anchor="ctr"/>
          <a:lstStyle/>
          <a:p>
            <a:pPr marL="0" indent="0" algn="l">
              <a:buNone/>
            </a:pPr>
            <a:r>
              <a:rPr lang="en-US" sz="950" i="1" dirty="0">
                <a:solidFill>
                  <a:srgbClr val="5B6478"/>
                </a:solidFill>
                <a:latin typeface="Calibri" pitchFamily="34" charset="0"/>
                <a:ea typeface="Calibri" pitchFamily="34" charset="-122"/>
                <a:cs typeface="Calibri" pitchFamily="34" charset="-120"/>
              </a:rPr>
              <a:t>Planned: 01 AUG 2026</a:t>
            </a:r>
            <a:endParaRPr lang="en-US" sz="950" dirty="0"/>
          </a:p>
        </p:txBody>
      </p:sp>
      <p:sp>
        <p:nvSpPr>
          <p:cNvPr id="217" name="Shape 21">
            <a:extLst>
              <a:ext uri="{FF2B5EF4-FFF2-40B4-BE49-F238E27FC236}">
                <a16:creationId xmlns:a16="http://schemas.microsoft.com/office/drawing/2014/main" id="{8B4D6340-FCAF-1292-ED86-D609E6AEE6A2}"/>
              </a:ext>
            </a:extLst>
          </p:cNvPr>
          <p:cNvSpPr/>
          <p:nvPr/>
        </p:nvSpPr>
        <p:spPr>
          <a:xfrm>
            <a:off x="4572000" y="2770632"/>
            <a:ext cx="1335024" cy="0"/>
          </a:xfrm>
          <a:prstGeom prst="line">
            <a:avLst/>
          </a:prstGeom>
          <a:noFill/>
          <a:ln w="19050">
            <a:solidFill>
              <a:srgbClr val="C7CEDD"/>
            </a:solidFill>
            <a:prstDash val="solid"/>
          </a:ln>
        </p:spPr>
      </p:sp>
      <p:sp>
        <p:nvSpPr>
          <p:cNvPr id="219" name="Shape 22">
            <a:extLst>
              <a:ext uri="{FF2B5EF4-FFF2-40B4-BE49-F238E27FC236}">
                <a16:creationId xmlns:a16="http://schemas.microsoft.com/office/drawing/2014/main" id="{C68BE5E1-8E04-4F2E-462E-8C513384D660}"/>
              </a:ext>
            </a:extLst>
          </p:cNvPr>
          <p:cNvSpPr/>
          <p:nvPr/>
        </p:nvSpPr>
        <p:spPr>
          <a:xfrm>
            <a:off x="6254496" y="2770632"/>
            <a:ext cx="1335024" cy="0"/>
          </a:xfrm>
          <a:prstGeom prst="line">
            <a:avLst/>
          </a:prstGeom>
          <a:noFill/>
          <a:ln w="19050">
            <a:solidFill>
              <a:srgbClr val="C7CEDD"/>
            </a:solidFill>
            <a:prstDash val="solid"/>
          </a:ln>
        </p:spPr>
      </p:sp>
      <p:sp>
        <p:nvSpPr>
          <p:cNvPr id="221" name="Shape 23">
            <a:extLst>
              <a:ext uri="{FF2B5EF4-FFF2-40B4-BE49-F238E27FC236}">
                <a16:creationId xmlns:a16="http://schemas.microsoft.com/office/drawing/2014/main" id="{CCD6D60C-3F3E-DBF8-F499-4F9584E70405}"/>
              </a:ext>
            </a:extLst>
          </p:cNvPr>
          <p:cNvSpPr/>
          <p:nvPr/>
        </p:nvSpPr>
        <p:spPr>
          <a:xfrm>
            <a:off x="5907024" y="2596896"/>
            <a:ext cx="347472" cy="347472"/>
          </a:xfrm>
          <a:prstGeom prst="ellipse">
            <a:avLst/>
          </a:prstGeom>
          <a:solidFill>
            <a:srgbClr val="2E7D32"/>
          </a:solidFill>
          <a:ln w="25400">
            <a:solidFill>
              <a:srgbClr val="FFFFFF"/>
            </a:solidFill>
            <a:prstDash val="solid"/>
          </a:ln>
          <a:effectLst>
            <a:outerShdw blurRad="38100" dist="12700" dir="5400000" algn="bl" rotWithShape="0">
              <a:srgbClr val="6B7280">
                <a:alpha val="30000"/>
              </a:srgbClr>
            </a:outerShdw>
          </a:effectLst>
        </p:spPr>
      </p:sp>
      <p:sp>
        <p:nvSpPr>
          <p:cNvPr id="223" name="Text 24">
            <a:extLst>
              <a:ext uri="{FF2B5EF4-FFF2-40B4-BE49-F238E27FC236}">
                <a16:creationId xmlns:a16="http://schemas.microsoft.com/office/drawing/2014/main" id="{45461F0A-FD78-EFF1-628C-2365E77BBE68}"/>
              </a:ext>
            </a:extLst>
          </p:cNvPr>
          <p:cNvSpPr txBox="1"/>
          <p:nvPr/>
        </p:nvSpPr>
        <p:spPr>
          <a:xfrm>
            <a:off x="5907024" y="2596896"/>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225" name="Shape 25">
            <a:extLst>
              <a:ext uri="{FF2B5EF4-FFF2-40B4-BE49-F238E27FC236}">
                <a16:creationId xmlns:a16="http://schemas.microsoft.com/office/drawing/2014/main" id="{2B34AF45-890F-B926-F045-490F8FB4722C}"/>
              </a:ext>
            </a:extLst>
          </p:cNvPr>
          <p:cNvSpPr/>
          <p:nvPr/>
        </p:nvSpPr>
        <p:spPr>
          <a:xfrm>
            <a:off x="7589520" y="2441448"/>
            <a:ext cx="4206240" cy="658368"/>
          </a:xfrm>
          <a:prstGeom prst="roundRect">
            <a:avLst>
              <a:gd name="adj" fmla="val 12500"/>
            </a:avLst>
          </a:prstGeom>
          <a:solidFill>
            <a:srgbClr val="E7F4E8"/>
          </a:solidFill>
          <a:ln w="12700">
            <a:solidFill>
              <a:srgbClr val="2E7D32"/>
            </a:solidFill>
            <a:prstDash val="solid"/>
          </a:ln>
          <a:effectLst>
            <a:outerShdw blurRad="50800" dist="12700" dir="5400000" algn="bl" rotWithShape="0">
              <a:srgbClr val="9AA6C4">
                <a:alpha val="25000"/>
              </a:srgbClr>
            </a:outerShdw>
          </a:effectLst>
        </p:spPr>
      </p:sp>
      <p:sp>
        <p:nvSpPr>
          <p:cNvPr id="227" name="Shape 26">
            <a:extLst>
              <a:ext uri="{FF2B5EF4-FFF2-40B4-BE49-F238E27FC236}">
                <a16:creationId xmlns:a16="http://schemas.microsoft.com/office/drawing/2014/main" id="{31955495-7B7A-EAF9-57CC-FDCF044D43E7}"/>
              </a:ext>
            </a:extLst>
          </p:cNvPr>
          <p:cNvSpPr/>
          <p:nvPr/>
        </p:nvSpPr>
        <p:spPr>
          <a:xfrm>
            <a:off x="7790688" y="2523744"/>
            <a:ext cx="1371600" cy="256032"/>
          </a:xfrm>
          <a:prstGeom prst="roundRect">
            <a:avLst>
              <a:gd name="adj" fmla="val 50000"/>
            </a:avLst>
          </a:prstGeom>
          <a:solidFill>
            <a:srgbClr val="2E7D32"/>
          </a:solidFill>
          <a:ln w="12700">
            <a:solidFill>
              <a:srgbClr val="2E7D32"/>
            </a:solidFill>
            <a:prstDash val="solid"/>
          </a:ln>
        </p:spPr>
      </p:sp>
      <p:sp>
        <p:nvSpPr>
          <p:cNvPr id="229" name="Text 27">
            <a:extLst>
              <a:ext uri="{FF2B5EF4-FFF2-40B4-BE49-F238E27FC236}">
                <a16:creationId xmlns:a16="http://schemas.microsoft.com/office/drawing/2014/main" id="{E270E88A-BE7B-3C92-07ED-0587B654A56D}"/>
              </a:ext>
            </a:extLst>
          </p:cNvPr>
          <p:cNvSpPr txBox="1"/>
          <p:nvPr/>
        </p:nvSpPr>
        <p:spPr>
          <a:xfrm>
            <a:off x="7790688" y="2523744"/>
            <a:ext cx="1371600" cy="256032"/>
          </a:xfrm>
          <a:prstGeom prst="rect">
            <a:avLst/>
          </a:prstGeom>
          <a:noFill/>
          <a:ln/>
        </p:spPr>
        <p:txBody>
          <a:bodyPr wrap="square" lIns="0" tIns="0" rIns="0" bIns="0" rtlCol="0" anchor="ctr"/>
          <a:lstStyle/>
          <a:p>
            <a:pPr marL="0" indent="0" algn="ctr">
              <a:buNone/>
            </a:pPr>
            <a:r>
              <a:rPr lang="en-US" sz="1000" b="1" kern="0" spc="50" dirty="0">
                <a:solidFill>
                  <a:srgbClr val="FFFFFF"/>
                </a:solidFill>
                <a:latin typeface="Calibri" pitchFamily="34" charset="0"/>
                <a:ea typeface="Calibri" pitchFamily="34" charset="-122"/>
                <a:cs typeface="Calibri" pitchFamily="34" charset="-120"/>
              </a:rPr>
              <a:t>COMPLETED</a:t>
            </a:r>
            <a:endParaRPr lang="en-US" sz="1000" dirty="0"/>
          </a:p>
        </p:txBody>
      </p:sp>
      <p:sp>
        <p:nvSpPr>
          <p:cNvPr id="231" name="Text 28">
            <a:extLst>
              <a:ext uri="{FF2B5EF4-FFF2-40B4-BE49-F238E27FC236}">
                <a16:creationId xmlns:a16="http://schemas.microsoft.com/office/drawing/2014/main" id="{311A58FF-1553-7A37-2190-995D3F99E30C}"/>
              </a:ext>
            </a:extLst>
          </p:cNvPr>
          <p:cNvSpPr txBox="1"/>
          <p:nvPr/>
        </p:nvSpPr>
        <p:spPr>
          <a:xfrm>
            <a:off x="7790688" y="2825496"/>
            <a:ext cx="3803904" cy="237744"/>
          </a:xfrm>
          <a:prstGeom prst="rect">
            <a:avLst/>
          </a:prstGeom>
          <a:noFill/>
          <a:ln/>
        </p:spPr>
        <p:txBody>
          <a:bodyPr wrap="square" lIns="0" tIns="0" rIns="0" bIns="0" rtlCol="0" anchor="ctr"/>
          <a:lstStyle/>
          <a:p>
            <a:pPr marL="0" indent="0" algn="l">
              <a:buNone/>
            </a:pPr>
            <a:r>
              <a:rPr lang="en-US" sz="1000" dirty="0">
                <a:solidFill>
                  <a:srgbClr val="1E2761"/>
                </a:solidFill>
                <a:latin typeface="Calibri" pitchFamily="34" charset="0"/>
                <a:ea typeface="Calibri" pitchFamily="34" charset="-122"/>
                <a:cs typeface="Calibri" pitchFamily="34" charset="-120"/>
              </a:rPr>
              <a:t>Completed 01 AUG 2026</a:t>
            </a:r>
            <a:endParaRPr lang="en-US" sz="1000" dirty="0"/>
          </a:p>
        </p:txBody>
      </p:sp>
      <p:sp>
        <p:nvSpPr>
          <p:cNvPr id="233" name="Shape 29">
            <a:extLst>
              <a:ext uri="{FF2B5EF4-FFF2-40B4-BE49-F238E27FC236}">
                <a16:creationId xmlns:a16="http://schemas.microsoft.com/office/drawing/2014/main" id="{5E695AEA-BBA6-FC15-4F3E-2657904EC902}"/>
              </a:ext>
            </a:extLst>
          </p:cNvPr>
          <p:cNvSpPr/>
          <p:nvPr/>
        </p:nvSpPr>
        <p:spPr>
          <a:xfrm>
            <a:off x="365760" y="3191256"/>
            <a:ext cx="4206240" cy="658368"/>
          </a:xfrm>
          <a:prstGeom prst="roundRect">
            <a:avLst>
              <a:gd name="adj" fmla="val 12500"/>
            </a:avLst>
          </a:prstGeom>
          <a:solidFill>
            <a:srgbClr val="EEF3FC"/>
          </a:solidFill>
          <a:ln w="12700">
            <a:solidFill>
              <a:srgbClr val="CFDDF3"/>
            </a:solidFill>
            <a:prstDash val="solid"/>
          </a:ln>
          <a:effectLst>
            <a:outerShdw blurRad="50800" dist="12700" dir="5400000" algn="bl" rotWithShape="0">
              <a:srgbClr val="9AA6C4">
                <a:alpha val="25000"/>
              </a:srgbClr>
            </a:outerShdw>
          </a:effectLst>
        </p:spPr>
      </p:sp>
      <p:sp>
        <p:nvSpPr>
          <p:cNvPr id="235" name="Text 30">
            <a:extLst>
              <a:ext uri="{FF2B5EF4-FFF2-40B4-BE49-F238E27FC236}">
                <a16:creationId xmlns:a16="http://schemas.microsoft.com/office/drawing/2014/main" id="{6AF60B5B-B4FC-8F20-DD87-3A0497737668}"/>
              </a:ext>
            </a:extLst>
          </p:cNvPr>
          <p:cNvSpPr txBox="1"/>
          <p:nvPr/>
        </p:nvSpPr>
        <p:spPr>
          <a:xfrm>
            <a:off x="566928" y="3255264"/>
            <a:ext cx="3803904" cy="329184"/>
          </a:xfrm>
          <a:prstGeom prst="rect">
            <a:avLst/>
          </a:prstGeom>
          <a:noFill/>
          <a:ln/>
        </p:spPr>
        <p:txBody>
          <a:bodyPr wrap="square" lIns="0" tIns="0" rIns="0" bIns="0" rtlCol="0" anchor="t"/>
          <a:lstStyle/>
          <a:p>
            <a:pPr marL="0" indent="0" algn="l">
              <a:lnSpc>
                <a:spcPct val="102000"/>
              </a:lnSpc>
              <a:buNone/>
            </a:pPr>
            <a:r>
              <a:rPr lang="en-US" sz="1150" b="1" dirty="0">
                <a:solidFill>
                  <a:srgbClr val="1E2761"/>
                </a:solidFill>
                <a:latin typeface="Calibri" pitchFamily="34" charset="0"/>
                <a:ea typeface="Calibri" pitchFamily="34" charset="-122"/>
                <a:cs typeface="Calibri" pitchFamily="34" charset="-120"/>
              </a:rPr>
              <a:t>Frontend &amp; UI Development</a:t>
            </a:r>
            <a:endParaRPr lang="en-US" sz="1150" dirty="0"/>
          </a:p>
        </p:txBody>
      </p:sp>
      <p:sp>
        <p:nvSpPr>
          <p:cNvPr id="237" name="Text 31">
            <a:extLst>
              <a:ext uri="{FF2B5EF4-FFF2-40B4-BE49-F238E27FC236}">
                <a16:creationId xmlns:a16="http://schemas.microsoft.com/office/drawing/2014/main" id="{AC516E8D-7BF5-3FBE-3C85-8743ACB291B2}"/>
              </a:ext>
            </a:extLst>
          </p:cNvPr>
          <p:cNvSpPr txBox="1"/>
          <p:nvPr/>
        </p:nvSpPr>
        <p:spPr>
          <a:xfrm>
            <a:off x="566928" y="3593592"/>
            <a:ext cx="3803904" cy="219456"/>
          </a:xfrm>
          <a:prstGeom prst="rect">
            <a:avLst/>
          </a:prstGeom>
          <a:noFill/>
          <a:ln/>
        </p:spPr>
        <p:txBody>
          <a:bodyPr wrap="square" lIns="0" tIns="0" rIns="0" bIns="0" rtlCol="0" anchor="ctr"/>
          <a:lstStyle/>
          <a:p>
            <a:pPr marL="0" indent="0" algn="l">
              <a:buNone/>
            </a:pPr>
            <a:r>
              <a:rPr lang="en-US" sz="950" i="1" dirty="0">
                <a:solidFill>
                  <a:srgbClr val="5B6478"/>
                </a:solidFill>
                <a:latin typeface="Calibri" pitchFamily="34" charset="0"/>
                <a:ea typeface="Calibri" pitchFamily="34" charset="-122"/>
                <a:cs typeface="Calibri" pitchFamily="34" charset="-120"/>
              </a:rPr>
              <a:t>Planned: 13 AUG 2026</a:t>
            </a:r>
            <a:endParaRPr lang="en-US" sz="950" dirty="0"/>
          </a:p>
        </p:txBody>
      </p:sp>
      <p:sp>
        <p:nvSpPr>
          <p:cNvPr id="239" name="Shape 32">
            <a:extLst>
              <a:ext uri="{FF2B5EF4-FFF2-40B4-BE49-F238E27FC236}">
                <a16:creationId xmlns:a16="http://schemas.microsoft.com/office/drawing/2014/main" id="{C3303449-B01D-7B93-E0A0-633FA23BFDD4}"/>
              </a:ext>
            </a:extLst>
          </p:cNvPr>
          <p:cNvSpPr/>
          <p:nvPr/>
        </p:nvSpPr>
        <p:spPr>
          <a:xfrm>
            <a:off x="4572000" y="3520440"/>
            <a:ext cx="1335024" cy="0"/>
          </a:xfrm>
          <a:prstGeom prst="line">
            <a:avLst/>
          </a:prstGeom>
          <a:noFill/>
          <a:ln w="19050">
            <a:solidFill>
              <a:srgbClr val="C7CEDD"/>
            </a:solidFill>
            <a:prstDash val="solid"/>
          </a:ln>
        </p:spPr>
      </p:sp>
      <p:sp>
        <p:nvSpPr>
          <p:cNvPr id="241" name="Shape 33">
            <a:extLst>
              <a:ext uri="{FF2B5EF4-FFF2-40B4-BE49-F238E27FC236}">
                <a16:creationId xmlns:a16="http://schemas.microsoft.com/office/drawing/2014/main" id="{20676A7E-95B3-AF5D-5617-40D541C3227E}"/>
              </a:ext>
            </a:extLst>
          </p:cNvPr>
          <p:cNvSpPr/>
          <p:nvPr/>
        </p:nvSpPr>
        <p:spPr>
          <a:xfrm>
            <a:off x="6254496" y="3520440"/>
            <a:ext cx="1335024" cy="0"/>
          </a:xfrm>
          <a:prstGeom prst="line">
            <a:avLst/>
          </a:prstGeom>
          <a:noFill/>
          <a:ln w="19050">
            <a:solidFill>
              <a:srgbClr val="C7CEDD"/>
            </a:solidFill>
            <a:prstDash val="solid"/>
          </a:ln>
        </p:spPr>
      </p:sp>
      <p:sp>
        <p:nvSpPr>
          <p:cNvPr id="243" name="Shape 34">
            <a:extLst>
              <a:ext uri="{FF2B5EF4-FFF2-40B4-BE49-F238E27FC236}">
                <a16:creationId xmlns:a16="http://schemas.microsoft.com/office/drawing/2014/main" id="{86101F6D-7C0E-82A3-4B50-AA4E3C557B38}"/>
              </a:ext>
            </a:extLst>
          </p:cNvPr>
          <p:cNvSpPr/>
          <p:nvPr/>
        </p:nvSpPr>
        <p:spPr>
          <a:xfrm>
            <a:off x="5907024" y="3346704"/>
            <a:ext cx="347472" cy="347472"/>
          </a:xfrm>
          <a:prstGeom prst="ellipse">
            <a:avLst/>
          </a:prstGeom>
          <a:solidFill>
            <a:srgbClr val="2E7D32"/>
          </a:solidFill>
          <a:ln w="25400">
            <a:solidFill>
              <a:srgbClr val="FFFFFF"/>
            </a:solidFill>
            <a:prstDash val="solid"/>
          </a:ln>
          <a:effectLst>
            <a:outerShdw blurRad="38100" dist="12700" dir="5400000" algn="bl" rotWithShape="0">
              <a:srgbClr val="6B7280">
                <a:alpha val="30000"/>
              </a:srgbClr>
            </a:outerShdw>
          </a:effectLst>
        </p:spPr>
      </p:sp>
      <p:sp>
        <p:nvSpPr>
          <p:cNvPr id="245" name="Text 35">
            <a:extLst>
              <a:ext uri="{FF2B5EF4-FFF2-40B4-BE49-F238E27FC236}">
                <a16:creationId xmlns:a16="http://schemas.microsoft.com/office/drawing/2014/main" id="{238B1D88-116E-A776-2507-3FEA5F7FED05}"/>
              </a:ext>
            </a:extLst>
          </p:cNvPr>
          <p:cNvSpPr txBox="1"/>
          <p:nvPr/>
        </p:nvSpPr>
        <p:spPr>
          <a:xfrm>
            <a:off x="5907024" y="3346704"/>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247" name="Shape 36">
            <a:extLst>
              <a:ext uri="{FF2B5EF4-FFF2-40B4-BE49-F238E27FC236}">
                <a16:creationId xmlns:a16="http://schemas.microsoft.com/office/drawing/2014/main" id="{87A16B45-3BC1-2D6B-BFB4-7C91C3BE9EDA}"/>
              </a:ext>
            </a:extLst>
          </p:cNvPr>
          <p:cNvSpPr/>
          <p:nvPr/>
        </p:nvSpPr>
        <p:spPr>
          <a:xfrm>
            <a:off x="7589520" y="3191256"/>
            <a:ext cx="4206240" cy="658368"/>
          </a:xfrm>
          <a:prstGeom prst="roundRect">
            <a:avLst>
              <a:gd name="adj" fmla="val 12500"/>
            </a:avLst>
          </a:prstGeom>
          <a:solidFill>
            <a:srgbClr val="E7F4E8"/>
          </a:solidFill>
          <a:ln w="12700">
            <a:solidFill>
              <a:srgbClr val="2E7D32"/>
            </a:solidFill>
            <a:prstDash val="solid"/>
          </a:ln>
          <a:effectLst>
            <a:outerShdw blurRad="50800" dist="12700" dir="5400000" algn="bl" rotWithShape="0">
              <a:srgbClr val="9AA6C4">
                <a:alpha val="25000"/>
              </a:srgbClr>
            </a:outerShdw>
          </a:effectLst>
        </p:spPr>
      </p:sp>
      <p:sp>
        <p:nvSpPr>
          <p:cNvPr id="249" name="Shape 37">
            <a:extLst>
              <a:ext uri="{FF2B5EF4-FFF2-40B4-BE49-F238E27FC236}">
                <a16:creationId xmlns:a16="http://schemas.microsoft.com/office/drawing/2014/main" id="{3B547109-8FB7-42AD-F2B2-EDD7D1CDEA7A}"/>
              </a:ext>
            </a:extLst>
          </p:cNvPr>
          <p:cNvSpPr/>
          <p:nvPr/>
        </p:nvSpPr>
        <p:spPr>
          <a:xfrm>
            <a:off x="7790688" y="3273552"/>
            <a:ext cx="1371600" cy="256032"/>
          </a:xfrm>
          <a:prstGeom prst="roundRect">
            <a:avLst>
              <a:gd name="adj" fmla="val 50000"/>
            </a:avLst>
          </a:prstGeom>
          <a:solidFill>
            <a:srgbClr val="2E7D32"/>
          </a:solidFill>
          <a:ln w="12700">
            <a:solidFill>
              <a:srgbClr val="2E7D32"/>
            </a:solidFill>
            <a:prstDash val="solid"/>
          </a:ln>
        </p:spPr>
      </p:sp>
      <p:sp>
        <p:nvSpPr>
          <p:cNvPr id="251" name="Text 38">
            <a:extLst>
              <a:ext uri="{FF2B5EF4-FFF2-40B4-BE49-F238E27FC236}">
                <a16:creationId xmlns:a16="http://schemas.microsoft.com/office/drawing/2014/main" id="{28968157-271D-7F91-5BB1-A65A770B0B21}"/>
              </a:ext>
            </a:extLst>
          </p:cNvPr>
          <p:cNvSpPr txBox="1"/>
          <p:nvPr/>
        </p:nvSpPr>
        <p:spPr>
          <a:xfrm>
            <a:off x="7790688" y="3273552"/>
            <a:ext cx="1371600" cy="256032"/>
          </a:xfrm>
          <a:prstGeom prst="rect">
            <a:avLst/>
          </a:prstGeom>
          <a:noFill/>
          <a:ln/>
        </p:spPr>
        <p:txBody>
          <a:bodyPr wrap="square" lIns="0" tIns="0" rIns="0" bIns="0" rtlCol="0" anchor="ctr"/>
          <a:lstStyle/>
          <a:p>
            <a:pPr marL="0" indent="0" algn="ctr">
              <a:buNone/>
            </a:pPr>
            <a:r>
              <a:rPr lang="en-US" sz="1000" b="1" kern="0" spc="50" dirty="0">
                <a:solidFill>
                  <a:srgbClr val="FFFFFF"/>
                </a:solidFill>
                <a:latin typeface="Calibri" pitchFamily="34" charset="0"/>
                <a:ea typeface="Calibri" pitchFamily="34" charset="-122"/>
                <a:cs typeface="Calibri" pitchFamily="34" charset="-120"/>
              </a:rPr>
              <a:t>COMPLETED</a:t>
            </a:r>
            <a:endParaRPr lang="en-US" sz="1000" dirty="0"/>
          </a:p>
        </p:txBody>
      </p:sp>
      <p:sp>
        <p:nvSpPr>
          <p:cNvPr id="253" name="Text 39">
            <a:extLst>
              <a:ext uri="{FF2B5EF4-FFF2-40B4-BE49-F238E27FC236}">
                <a16:creationId xmlns:a16="http://schemas.microsoft.com/office/drawing/2014/main" id="{E96B49E2-7860-3C26-9919-60231F7986C9}"/>
              </a:ext>
            </a:extLst>
          </p:cNvPr>
          <p:cNvSpPr txBox="1"/>
          <p:nvPr/>
        </p:nvSpPr>
        <p:spPr>
          <a:xfrm>
            <a:off x="7790688" y="3575304"/>
            <a:ext cx="3803904" cy="237744"/>
          </a:xfrm>
          <a:prstGeom prst="rect">
            <a:avLst/>
          </a:prstGeom>
          <a:noFill/>
          <a:ln/>
        </p:spPr>
        <p:txBody>
          <a:bodyPr wrap="square" lIns="0" tIns="0" rIns="0" bIns="0" rtlCol="0" anchor="ctr"/>
          <a:lstStyle/>
          <a:p>
            <a:pPr marL="0" indent="0" algn="l">
              <a:buNone/>
            </a:pPr>
            <a:r>
              <a:rPr lang="en-US" sz="1000" dirty="0">
                <a:solidFill>
                  <a:srgbClr val="1E2761"/>
                </a:solidFill>
                <a:latin typeface="Calibri" pitchFamily="34" charset="0"/>
                <a:ea typeface="Calibri" pitchFamily="34" charset="-122"/>
                <a:cs typeface="Calibri" pitchFamily="34" charset="-120"/>
              </a:rPr>
              <a:t>Completed 13 AUG 2026</a:t>
            </a:r>
            <a:endParaRPr lang="en-US" sz="1000" dirty="0"/>
          </a:p>
        </p:txBody>
      </p:sp>
      <p:sp>
        <p:nvSpPr>
          <p:cNvPr id="255" name="Shape 40">
            <a:extLst>
              <a:ext uri="{FF2B5EF4-FFF2-40B4-BE49-F238E27FC236}">
                <a16:creationId xmlns:a16="http://schemas.microsoft.com/office/drawing/2014/main" id="{EF4DF14A-C233-35EE-841C-F20EB57ABBA0}"/>
              </a:ext>
            </a:extLst>
          </p:cNvPr>
          <p:cNvSpPr/>
          <p:nvPr/>
        </p:nvSpPr>
        <p:spPr>
          <a:xfrm>
            <a:off x="365760" y="3941064"/>
            <a:ext cx="4206240" cy="658368"/>
          </a:xfrm>
          <a:prstGeom prst="roundRect">
            <a:avLst>
              <a:gd name="adj" fmla="val 12500"/>
            </a:avLst>
          </a:prstGeom>
          <a:solidFill>
            <a:srgbClr val="EEF3FC"/>
          </a:solidFill>
          <a:ln w="12700">
            <a:solidFill>
              <a:srgbClr val="CFDDF3"/>
            </a:solidFill>
            <a:prstDash val="solid"/>
          </a:ln>
          <a:effectLst>
            <a:outerShdw blurRad="50800" dist="12700" dir="5400000" algn="bl" rotWithShape="0">
              <a:srgbClr val="9AA6C4">
                <a:alpha val="25000"/>
              </a:srgbClr>
            </a:outerShdw>
          </a:effectLst>
        </p:spPr>
      </p:sp>
      <p:sp>
        <p:nvSpPr>
          <p:cNvPr id="257" name="Text 41">
            <a:extLst>
              <a:ext uri="{FF2B5EF4-FFF2-40B4-BE49-F238E27FC236}">
                <a16:creationId xmlns:a16="http://schemas.microsoft.com/office/drawing/2014/main" id="{E9DD015B-C532-8425-38E1-813E72A179C0}"/>
              </a:ext>
            </a:extLst>
          </p:cNvPr>
          <p:cNvSpPr txBox="1"/>
          <p:nvPr/>
        </p:nvSpPr>
        <p:spPr>
          <a:xfrm>
            <a:off x="566928" y="4005072"/>
            <a:ext cx="3803904" cy="329184"/>
          </a:xfrm>
          <a:prstGeom prst="rect">
            <a:avLst/>
          </a:prstGeom>
          <a:noFill/>
          <a:ln/>
        </p:spPr>
        <p:txBody>
          <a:bodyPr wrap="square" lIns="0" tIns="0" rIns="0" bIns="0" rtlCol="0" anchor="t"/>
          <a:lstStyle/>
          <a:p>
            <a:pPr marL="0" indent="0" algn="l">
              <a:lnSpc>
                <a:spcPct val="102000"/>
              </a:lnSpc>
              <a:buNone/>
            </a:pPr>
            <a:r>
              <a:rPr lang="en-US" sz="1150" b="1" dirty="0">
                <a:solidFill>
                  <a:srgbClr val="1E2761"/>
                </a:solidFill>
                <a:latin typeface="Calibri" pitchFamily="34" charset="0"/>
                <a:ea typeface="Calibri" pitchFamily="34" charset="-122"/>
                <a:cs typeface="Calibri" pitchFamily="34" charset="-120"/>
              </a:rPr>
              <a:t>IoT Hardware Setup &amp; Sensor Calibration</a:t>
            </a:r>
            <a:endParaRPr lang="en-US" sz="1150" dirty="0"/>
          </a:p>
        </p:txBody>
      </p:sp>
      <p:sp>
        <p:nvSpPr>
          <p:cNvPr id="259" name="Text 42">
            <a:extLst>
              <a:ext uri="{FF2B5EF4-FFF2-40B4-BE49-F238E27FC236}">
                <a16:creationId xmlns:a16="http://schemas.microsoft.com/office/drawing/2014/main" id="{F66C22DB-4DC5-5469-57BE-F53F02586549}"/>
              </a:ext>
            </a:extLst>
          </p:cNvPr>
          <p:cNvSpPr txBox="1"/>
          <p:nvPr/>
        </p:nvSpPr>
        <p:spPr>
          <a:xfrm>
            <a:off x="566928" y="4343400"/>
            <a:ext cx="3803904" cy="219456"/>
          </a:xfrm>
          <a:prstGeom prst="rect">
            <a:avLst/>
          </a:prstGeom>
          <a:noFill/>
          <a:ln/>
        </p:spPr>
        <p:txBody>
          <a:bodyPr wrap="square" lIns="0" tIns="0" rIns="0" bIns="0" rtlCol="0" anchor="ctr"/>
          <a:lstStyle/>
          <a:p>
            <a:pPr marL="0" indent="0" algn="l">
              <a:buNone/>
            </a:pPr>
            <a:r>
              <a:rPr lang="en-US" sz="950" i="1" dirty="0">
                <a:solidFill>
                  <a:srgbClr val="5B6478"/>
                </a:solidFill>
                <a:latin typeface="Calibri" pitchFamily="34" charset="0"/>
                <a:ea typeface="Calibri" pitchFamily="34" charset="-122"/>
                <a:cs typeface="Calibri" pitchFamily="34" charset="-120"/>
              </a:rPr>
              <a:t>Planned: 22 AUG 2026</a:t>
            </a:r>
            <a:endParaRPr lang="en-US" sz="950" dirty="0"/>
          </a:p>
        </p:txBody>
      </p:sp>
      <p:sp>
        <p:nvSpPr>
          <p:cNvPr id="261" name="Shape 43">
            <a:extLst>
              <a:ext uri="{FF2B5EF4-FFF2-40B4-BE49-F238E27FC236}">
                <a16:creationId xmlns:a16="http://schemas.microsoft.com/office/drawing/2014/main" id="{BF10F68A-0238-68AA-BCDB-5B483347DCDE}"/>
              </a:ext>
            </a:extLst>
          </p:cNvPr>
          <p:cNvSpPr/>
          <p:nvPr/>
        </p:nvSpPr>
        <p:spPr>
          <a:xfrm>
            <a:off x="4572000" y="4270248"/>
            <a:ext cx="1335024" cy="0"/>
          </a:xfrm>
          <a:prstGeom prst="line">
            <a:avLst/>
          </a:prstGeom>
          <a:noFill/>
          <a:ln w="19050">
            <a:solidFill>
              <a:srgbClr val="C7CEDD"/>
            </a:solidFill>
            <a:prstDash val="solid"/>
          </a:ln>
        </p:spPr>
      </p:sp>
      <p:sp>
        <p:nvSpPr>
          <p:cNvPr id="263" name="Shape 44">
            <a:extLst>
              <a:ext uri="{FF2B5EF4-FFF2-40B4-BE49-F238E27FC236}">
                <a16:creationId xmlns:a16="http://schemas.microsoft.com/office/drawing/2014/main" id="{E5F023F2-8526-9AB2-8674-AACC55F50CAC}"/>
              </a:ext>
            </a:extLst>
          </p:cNvPr>
          <p:cNvSpPr/>
          <p:nvPr/>
        </p:nvSpPr>
        <p:spPr>
          <a:xfrm>
            <a:off x="6254496" y="4270248"/>
            <a:ext cx="1335024" cy="0"/>
          </a:xfrm>
          <a:prstGeom prst="line">
            <a:avLst/>
          </a:prstGeom>
          <a:noFill/>
          <a:ln w="19050">
            <a:solidFill>
              <a:srgbClr val="C7CEDD"/>
            </a:solidFill>
            <a:prstDash val="solid"/>
          </a:ln>
        </p:spPr>
      </p:sp>
      <p:sp>
        <p:nvSpPr>
          <p:cNvPr id="265" name="Shape 45">
            <a:extLst>
              <a:ext uri="{FF2B5EF4-FFF2-40B4-BE49-F238E27FC236}">
                <a16:creationId xmlns:a16="http://schemas.microsoft.com/office/drawing/2014/main" id="{0218252A-1594-F9E7-C7CA-6AE86DEE9AE9}"/>
              </a:ext>
            </a:extLst>
          </p:cNvPr>
          <p:cNvSpPr/>
          <p:nvPr/>
        </p:nvSpPr>
        <p:spPr>
          <a:xfrm>
            <a:off x="5907024" y="4096512"/>
            <a:ext cx="347472" cy="347472"/>
          </a:xfrm>
          <a:prstGeom prst="ellipse">
            <a:avLst/>
          </a:prstGeom>
          <a:solidFill>
            <a:srgbClr val="D9791F"/>
          </a:solidFill>
          <a:ln w="25400">
            <a:solidFill>
              <a:srgbClr val="FFFFFF"/>
            </a:solidFill>
            <a:prstDash val="solid"/>
          </a:ln>
          <a:effectLst>
            <a:outerShdw blurRad="38100" dist="12700" dir="5400000" algn="bl" rotWithShape="0">
              <a:srgbClr val="6B7280">
                <a:alpha val="30000"/>
              </a:srgbClr>
            </a:outerShdw>
          </a:effectLst>
        </p:spPr>
      </p:sp>
      <p:sp>
        <p:nvSpPr>
          <p:cNvPr id="267" name="Text 46">
            <a:extLst>
              <a:ext uri="{FF2B5EF4-FFF2-40B4-BE49-F238E27FC236}">
                <a16:creationId xmlns:a16="http://schemas.microsoft.com/office/drawing/2014/main" id="{5D0A756C-A92A-6C78-BC50-807AC21A3586}"/>
              </a:ext>
            </a:extLst>
          </p:cNvPr>
          <p:cNvSpPr txBox="1"/>
          <p:nvPr/>
        </p:nvSpPr>
        <p:spPr>
          <a:xfrm>
            <a:off x="5907024" y="4096512"/>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269" name="Shape 47">
            <a:extLst>
              <a:ext uri="{FF2B5EF4-FFF2-40B4-BE49-F238E27FC236}">
                <a16:creationId xmlns:a16="http://schemas.microsoft.com/office/drawing/2014/main" id="{543C9C9F-32A9-2B7F-393B-40D498BA8093}"/>
              </a:ext>
            </a:extLst>
          </p:cNvPr>
          <p:cNvSpPr/>
          <p:nvPr/>
        </p:nvSpPr>
        <p:spPr>
          <a:xfrm>
            <a:off x="7589520" y="3941064"/>
            <a:ext cx="4206240" cy="658368"/>
          </a:xfrm>
          <a:prstGeom prst="roundRect">
            <a:avLst>
              <a:gd name="adj" fmla="val 12500"/>
            </a:avLst>
          </a:prstGeom>
          <a:solidFill>
            <a:srgbClr val="FCEDDD"/>
          </a:solidFill>
          <a:ln w="12700">
            <a:solidFill>
              <a:srgbClr val="D9791F"/>
            </a:solidFill>
            <a:prstDash val="solid"/>
          </a:ln>
          <a:effectLst>
            <a:outerShdw blurRad="50800" dist="12700" dir="5400000" algn="bl" rotWithShape="0">
              <a:srgbClr val="9AA6C4">
                <a:alpha val="25000"/>
              </a:srgbClr>
            </a:outerShdw>
          </a:effectLst>
        </p:spPr>
      </p:sp>
      <p:sp>
        <p:nvSpPr>
          <p:cNvPr id="271" name="Shape 48">
            <a:extLst>
              <a:ext uri="{FF2B5EF4-FFF2-40B4-BE49-F238E27FC236}">
                <a16:creationId xmlns:a16="http://schemas.microsoft.com/office/drawing/2014/main" id="{E0CDE1BB-4A62-B69B-93F6-9B1962272399}"/>
              </a:ext>
            </a:extLst>
          </p:cNvPr>
          <p:cNvSpPr/>
          <p:nvPr/>
        </p:nvSpPr>
        <p:spPr>
          <a:xfrm>
            <a:off x="7790688" y="4023360"/>
            <a:ext cx="1371600" cy="256032"/>
          </a:xfrm>
          <a:prstGeom prst="roundRect">
            <a:avLst>
              <a:gd name="adj" fmla="val 50000"/>
            </a:avLst>
          </a:prstGeom>
          <a:solidFill>
            <a:srgbClr val="D9791F"/>
          </a:solidFill>
          <a:ln w="12700">
            <a:solidFill>
              <a:srgbClr val="D9791F"/>
            </a:solidFill>
            <a:prstDash val="solid"/>
          </a:ln>
        </p:spPr>
      </p:sp>
      <p:sp>
        <p:nvSpPr>
          <p:cNvPr id="273" name="Text 49">
            <a:extLst>
              <a:ext uri="{FF2B5EF4-FFF2-40B4-BE49-F238E27FC236}">
                <a16:creationId xmlns:a16="http://schemas.microsoft.com/office/drawing/2014/main" id="{0E7DBF10-2CA8-F2A9-3E79-0B84A72D6178}"/>
              </a:ext>
            </a:extLst>
          </p:cNvPr>
          <p:cNvSpPr txBox="1"/>
          <p:nvPr/>
        </p:nvSpPr>
        <p:spPr>
          <a:xfrm>
            <a:off x="7790688" y="4023360"/>
            <a:ext cx="1371600" cy="256032"/>
          </a:xfrm>
          <a:prstGeom prst="rect">
            <a:avLst/>
          </a:prstGeom>
          <a:noFill/>
          <a:ln/>
        </p:spPr>
        <p:txBody>
          <a:bodyPr wrap="square" lIns="0" tIns="0" rIns="0" bIns="0" rtlCol="0" anchor="ctr"/>
          <a:lstStyle/>
          <a:p>
            <a:pPr marL="0" indent="0" algn="ctr">
              <a:buNone/>
            </a:pPr>
            <a:r>
              <a:rPr lang="en-US" sz="1000" b="1" kern="0" spc="50" dirty="0">
                <a:solidFill>
                  <a:srgbClr val="FFFFFF"/>
                </a:solidFill>
                <a:latin typeface="Calibri" pitchFamily="34" charset="0"/>
                <a:ea typeface="Calibri" pitchFamily="34" charset="-122"/>
                <a:cs typeface="Calibri" pitchFamily="34" charset="-120"/>
              </a:rPr>
              <a:t>IN PROGRESS</a:t>
            </a:r>
            <a:endParaRPr lang="en-US" sz="1000" dirty="0"/>
          </a:p>
        </p:txBody>
      </p:sp>
      <p:sp>
        <p:nvSpPr>
          <p:cNvPr id="275" name="Text 50">
            <a:extLst>
              <a:ext uri="{FF2B5EF4-FFF2-40B4-BE49-F238E27FC236}">
                <a16:creationId xmlns:a16="http://schemas.microsoft.com/office/drawing/2014/main" id="{FAE7EC9B-8789-26AA-8F28-334EA07CA2B7}"/>
              </a:ext>
            </a:extLst>
          </p:cNvPr>
          <p:cNvSpPr txBox="1"/>
          <p:nvPr/>
        </p:nvSpPr>
        <p:spPr>
          <a:xfrm>
            <a:off x="7790688" y="4325112"/>
            <a:ext cx="3803904" cy="237744"/>
          </a:xfrm>
          <a:prstGeom prst="rect">
            <a:avLst/>
          </a:prstGeom>
          <a:noFill/>
          <a:ln/>
        </p:spPr>
        <p:txBody>
          <a:bodyPr wrap="square" lIns="0" tIns="0" rIns="0" bIns="0" rtlCol="0" anchor="ctr"/>
          <a:lstStyle/>
          <a:p>
            <a:pPr marL="0" indent="0" algn="l">
              <a:buNone/>
            </a:pPr>
            <a:r>
              <a:rPr lang="en-US" sz="1000" dirty="0">
                <a:solidFill>
                  <a:srgbClr val="1E2761"/>
                </a:solidFill>
                <a:latin typeface="Calibri" pitchFamily="34" charset="0"/>
                <a:ea typeface="Calibri" pitchFamily="34" charset="-122"/>
                <a:cs typeface="Calibri" pitchFamily="34" charset="-120"/>
              </a:rPr>
              <a:t>Since 22 AUG 2026</a:t>
            </a:r>
            <a:endParaRPr lang="en-US" sz="1000" dirty="0"/>
          </a:p>
        </p:txBody>
      </p:sp>
      <p:sp>
        <p:nvSpPr>
          <p:cNvPr id="277" name="Shape 51">
            <a:extLst>
              <a:ext uri="{FF2B5EF4-FFF2-40B4-BE49-F238E27FC236}">
                <a16:creationId xmlns:a16="http://schemas.microsoft.com/office/drawing/2014/main" id="{740E1372-5941-1E10-B260-7155B5DE49DE}"/>
              </a:ext>
            </a:extLst>
          </p:cNvPr>
          <p:cNvSpPr/>
          <p:nvPr/>
        </p:nvSpPr>
        <p:spPr>
          <a:xfrm>
            <a:off x="365760" y="4690872"/>
            <a:ext cx="4206240" cy="658368"/>
          </a:xfrm>
          <a:prstGeom prst="roundRect">
            <a:avLst>
              <a:gd name="adj" fmla="val 12500"/>
            </a:avLst>
          </a:prstGeom>
          <a:solidFill>
            <a:srgbClr val="EEF3FC"/>
          </a:solidFill>
          <a:ln w="12700">
            <a:solidFill>
              <a:srgbClr val="CFDDF3"/>
            </a:solidFill>
            <a:prstDash val="solid"/>
          </a:ln>
          <a:effectLst>
            <a:outerShdw blurRad="50800" dist="12700" dir="5400000" algn="bl" rotWithShape="0">
              <a:srgbClr val="9AA6C4">
                <a:alpha val="25000"/>
              </a:srgbClr>
            </a:outerShdw>
          </a:effectLst>
        </p:spPr>
      </p:sp>
      <p:sp>
        <p:nvSpPr>
          <p:cNvPr id="279" name="Text 52">
            <a:extLst>
              <a:ext uri="{FF2B5EF4-FFF2-40B4-BE49-F238E27FC236}">
                <a16:creationId xmlns:a16="http://schemas.microsoft.com/office/drawing/2014/main" id="{15E1E817-2B5E-416F-9E03-D759AEAE85BE}"/>
              </a:ext>
            </a:extLst>
          </p:cNvPr>
          <p:cNvSpPr txBox="1"/>
          <p:nvPr/>
        </p:nvSpPr>
        <p:spPr>
          <a:xfrm>
            <a:off x="566928" y="4754880"/>
            <a:ext cx="3803904" cy="329184"/>
          </a:xfrm>
          <a:prstGeom prst="rect">
            <a:avLst/>
          </a:prstGeom>
          <a:noFill/>
          <a:ln/>
        </p:spPr>
        <p:txBody>
          <a:bodyPr wrap="square" lIns="0" tIns="0" rIns="0" bIns="0" rtlCol="0" anchor="t"/>
          <a:lstStyle/>
          <a:p>
            <a:pPr marL="0" indent="0" algn="l">
              <a:lnSpc>
                <a:spcPct val="102000"/>
              </a:lnSpc>
              <a:buNone/>
            </a:pPr>
            <a:r>
              <a:rPr lang="en-US" sz="1150" b="1" dirty="0">
                <a:solidFill>
                  <a:srgbClr val="1E2761"/>
                </a:solidFill>
                <a:latin typeface="Calibri" pitchFamily="34" charset="0"/>
                <a:ea typeface="Calibri" pitchFamily="34" charset="-122"/>
                <a:cs typeface="Calibri" pitchFamily="34" charset="-120"/>
              </a:rPr>
              <a:t>IoT–Backend, QR &amp; Payment Integration</a:t>
            </a:r>
            <a:endParaRPr lang="en-US" sz="1150" dirty="0"/>
          </a:p>
        </p:txBody>
      </p:sp>
      <p:sp>
        <p:nvSpPr>
          <p:cNvPr id="281" name="Text 53">
            <a:extLst>
              <a:ext uri="{FF2B5EF4-FFF2-40B4-BE49-F238E27FC236}">
                <a16:creationId xmlns:a16="http://schemas.microsoft.com/office/drawing/2014/main" id="{5CE7BC5D-C0C3-A811-AECC-9A7975183D08}"/>
              </a:ext>
            </a:extLst>
          </p:cNvPr>
          <p:cNvSpPr txBox="1"/>
          <p:nvPr/>
        </p:nvSpPr>
        <p:spPr>
          <a:xfrm>
            <a:off x="566928" y="5093208"/>
            <a:ext cx="3803904" cy="219456"/>
          </a:xfrm>
          <a:prstGeom prst="rect">
            <a:avLst/>
          </a:prstGeom>
          <a:noFill/>
          <a:ln/>
        </p:spPr>
        <p:txBody>
          <a:bodyPr wrap="square" lIns="0" tIns="0" rIns="0" bIns="0" rtlCol="0" anchor="ctr"/>
          <a:lstStyle/>
          <a:p>
            <a:pPr marL="0" indent="0" algn="l">
              <a:buNone/>
            </a:pPr>
            <a:r>
              <a:rPr lang="en-US" sz="950" i="1" dirty="0">
                <a:solidFill>
                  <a:srgbClr val="5B6478"/>
                </a:solidFill>
                <a:latin typeface="Calibri" pitchFamily="34" charset="0"/>
                <a:ea typeface="Calibri" pitchFamily="34" charset="-122"/>
                <a:cs typeface="Calibri" pitchFamily="34" charset="-120"/>
              </a:rPr>
              <a:t>Planned: 05 SEP 2026</a:t>
            </a:r>
            <a:endParaRPr lang="en-US" sz="950" dirty="0"/>
          </a:p>
        </p:txBody>
      </p:sp>
      <p:sp>
        <p:nvSpPr>
          <p:cNvPr id="283" name="Shape 54">
            <a:extLst>
              <a:ext uri="{FF2B5EF4-FFF2-40B4-BE49-F238E27FC236}">
                <a16:creationId xmlns:a16="http://schemas.microsoft.com/office/drawing/2014/main" id="{ED914F73-8EE7-3E50-1C19-5112C0FE43C6}"/>
              </a:ext>
            </a:extLst>
          </p:cNvPr>
          <p:cNvSpPr/>
          <p:nvPr/>
        </p:nvSpPr>
        <p:spPr>
          <a:xfrm>
            <a:off x="4572000" y="5020056"/>
            <a:ext cx="1335024" cy="0"/>
          </a:xfrm>
          <a:prstGeom prst="line">
            <a:avLst/>
          </a:prstGeom>
          <a:noFill/>
          <a:ln w="19050">
            <a:solidFill>
              <a:srgbClr val="C7CEDD"/>
            </a:solidFill>
            <a:prstDash val="solid"/>
          </a:ln>
        </p:spPr>
      </p:sp>
      <p:sp>
        <p:nvSpPr>
          <p:cNvPr id="285" name="Shape 55">
            <a:extLst>
              <a:ext uri="{FF2B5EF4-FFF2-40B4-BE49-F238E27FC236}">
                <a16:creationId xmlns:a16="http://schemas.microsoft.com/office/drawing/2014/main" id="{22F8E658-B7F1-B65C-CC23-5E3D62B7C069}"/>
              </a:ext>
            </a:extLst>
          </p:cNvPr>
          <p:cNvSpPr/>
          <p:nvPr/>
        </p:nvSpPr>
        <p:spPr>
          <a:xfrm>
            <a:off x="6254496" y="5020056"/>
            <a:ext cx="1335024" cy="0"/>
          </a:xfrm>
          <a:prstGeom prst="line">
            <a:avLst/>
          </a:prstGeom>
          <a:noFill/>
          <a:ln w="19050">
            <a:solidFill>
              <a:srgbClr val="C7CEDD"/>
            </a:solidFill>
            <a:prstDash val="solid"/>
          </a:ln>
        </p:spPr>
      </p:sp>
      <p:sp>
        <p:nvSpPr>
          <p:cNvPr id="287" name="Shape 56">
            <a:extLst>
              <a:ext uri="{FF2B5EF4-FFF2-40B4-BE49-F238E27FC236}">
                <a16:creationId xmlns:a16="http://schemas.microsoft.com/office/drawing/2014/main" id="{C42EDC61-50D4-C31F-B5DF-0ED80BB6E992}"/>
              </a:ext>
            </a:extLst>
          </p:cNvPr>
          <p:cNvSpPr/>
          <p:nvPr/>
        </p:nvSpPr>
        <p:spPr>
          <a:xfrm>
            <a:off x="5907024" y="4846320"/>
            <a:ext cx="347472" cy="347472"/>
          </a:xfrm>
          <a:prstGeom prst="ellipse">
            <a:avLst/>
          </a:prstGeom>
          <a:solidFill>
            <a:srgbClr val="8A8F9C"/>
          </a:solidFill>
          <a:ln w="25400">
            <a:solidFill>
              <a:srgbClr val="FFFFFF"/>
            </a:solidFill>
            <a:prstDash val="solid"/>
          </a:ln>
          <a:effectLst>
            <a:outerShdw blurRad="38100" dist="12700" dir="5400000" algn="bl" rotWithShape="0">
              <a:srgbClr val="6B7280">
                <a:alpha val="30000"/>
              </a:srgbClr>
            </a:outerShdw>
          </a:effectLst>
        </p:spPr>
      </p:sp>
      <p:sp>
        <p:nvSpPr>
          <p:cNvPr id="289" name="Text 57">
            <a:extLst>
              <a:ext uri="{FF2B5EF4-FFF2-40B4-BE49-F238E27FC236}">
                <a16:creationId xmlns:a16="http://schemas.microsoft.com/office/drawing/2014/main" id="{58A9D4A2-64B1-9342-A54D-ABC70BBF51EB}"/>
              </a:ext>
            </a:extLst>
          </p:cNvPr>
          <p:cNvSpPr txBox="1"/>
          <p:nvPr/>
        </p:nvSpPr>
        <p:spPr>
          <a:xfrm>
            <a:off x="5907024" y="4846320"/>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291" name="Shape 58">
            <a:extLst>
              <a:ext uri="{FF2B5EF4-FFF2-40B4-BE49-F238E27FC236}">
                <a16:creationId xmlns:a16="http://schemas.microsoft.com/office/drawing/2014/main" id="{F98B3A5B-F955-6B25-0272-743D72620C87}"/>
              </a:ext>
            </a:extLst>
          </p:cNvPr>
          <p:cNvSpPr/>
          <p:nvPr/>
        </p:nvSpPr>
        <p:spPr>
          <a:xfrm>
            <a:off x="7589520" y="4690872"/>
            <a:ext cx="4206240" cy="658368"/>
          </a:xfrm>
          <a:prstGeom prst="roundRect">
            <a:avLst>
              <a:gd name="adj" fmla="val 12500"/>
            </a:avLst>
          </a:prstGeom>
          <a:solidFill>
            <a:srgbClr val="EFEFF2"/>
          </a:solidFill>
          <a:ln w="12700">
            <a:solidFill>
              <a:srgbClr val="8A8F9C"/>
            </a:solidFill>
            <a:prstDash val="solid"/>
          </a:ln>
          <a:effectLst>
            <a:outerShdw blurRad="50800" dist="12700" dir="5400000" algn="bl" rotWithShape="0">
              <a:srgbClr val="9AA6C4">
                <a:alpha val="25000"/>
              </a:srgbClr>
            </a:outerShdw>
          </a:effectLst>
        </p:spPr>
      </p:sp>
      <p:sp>
        <p:nvSpPr>
          <p:cNvPr id="293" name="Shape 59">
            <a:extLst>
              <a:ext uri="{FF2B5EF4-FFF2-40B4-BE49-F238E27FC236}">
                <a16:creationId xmlns:a16="http://schemas.microsoft.com/office/drawing/2014/main" id="{CBBD1DC8-C886-5FD4-CE7B-F6E4D754CD2F}"/>
              </a:ext>
            </a:extLst>
          </p:cNvPr>
          <p:cNvSpPr/>
          <p:nvPr/>
        </p:nvSpPr>
        <p:spPr>
          <a:xfrm>
            <a:off x="7790688" y="4773168"/>
            <a:ext cx="1371600" cy="256032"/>
          </a:xfrm>
          <a:prstGeom prst="roundRect">
            <a:avLst>
              <a:gd name="adj" fmla="val 50000"/>
            </a:avLst>
          </a:prstGeom>
          <a:solidFill>
            <a:srgbClr val="8A8F9C"/>
          </a:solidFill>
          <a:ln w="12700">
            <a:solidFill>
              <a:srgbClr val="8A8F9C"/>
            </a:solidFill>
            <a:prstDash val="solid"/>
          </a:ln>
        </p:spPr>
      </p:sp>
      <p:sp>
        <p:nvSpPr>
          <p:cNvPr id="295" name="Text 60">
            <a:extLst>
              <a:ext uri="{FF2B5EF4-FFF2-40B4-BE49-F238E27FC236}">
                <a16:creationId xmlns:a16="http://schemas.microsoft.com/office/drawing/2014/main" id="{380CF98F-7545-C931-E157-E52B72371435}"/>
              </a:ext>
            </a:extLst>
          </p:cNvPr>
          <p:cNvSpPr txBox="1"/>
          <p:nvPr/>
        </p:nvSpPr>
        <p:spPr>
          <a:xfrm>
            <a:off x="7790688" y="4773168"/>
            <a:ext cx="1371600" cy="256032"/>
          </a:xfrm>
          <a:prstGeom prst="rect">
            <a:avLst/>
          </a:prstGeom>
          <a:noFill/>
          <a:ln/>
        </p:spPr>
        <p:txBody>
          <a:bodyPr wrap="square" lIns="0" tIns="0" rIns="0" bIns="0" rtlCol="0" anchor="ctr"/>
          <a:lstStyle/>
          <a:p>
            <a:pPr marL="0" indent="0" algn="ctr">
              <a:buNone/>
            </a:pPr>
            <a:r>
              <a:rPr lang="en-US" sz="1000" b="1" kern="0" spc="50" dirty="0">
                <a:solidFill>
                  <a:srgbClr val="FFFFFF"/>
                </a:solidFill>
                <a:latin typeface="Calibri" pitchFamily="34" charset="0"/>
                <a:ea typeface="Calibri" pitchFamily="34" charset="-122"/>
                <a:cs typeface="Calibri" pitchFamily="34" charset="-120"/>
              </a:rPr>
              <a:t>PENDING</a:t>
            </a:r>
            <a:endParaRPr lang="en-US" sz="1000" dirty="0"/>
          </a:p>
        </p:txBody>
      </p:sp>
      <p:sp>
        <p:nvSpPr>
          <p:cNvPr id="297" name="Text 61">
            <a:extLst>
              <a:ext uri="{FF2B5EF4-FFF2-40B4-BE49-F238E27FC236}">
                <a16:creationId xmlns:a16="http://schemas.microsoft.com/office/drawing/2014/main" id="{4C601810-9EE3-3403-4D32-2E244C404811}"/>
              </a:ext>
            </a:extLst>
          </p:cNvPr>
          <p:cNvSpPr txBox="1"/>
          <p:nvPr/>
        </p:nvSpPr>
        <p:spPr>
          <a:xfrm>
            <a:off x="7790688" y="5074920"/>
            <a:ext cx="3803904" cy="237744"/>
          </a:xfrm>
          <a:prstGeom prst="rect">
            <a:avLst/>
          </a:prstGeom>
          <a:noFill/>
          <a:ln/>
        </p:spPr>
        <p:txBody>
          <a:bodyPr wrap="square" lIns="0" tIns="0" rIns="0" bIns="0" rtlCol="0" anchor="ctr"/>
          <a:lstStyle/>
          <a:p>
            <a:pPr marL="0" indent="0" algn="l">
              <a:buNone/>
            </a:pPr>
            <a:r>
              <a:rPr lang="en-US" sz="1000" dirty="0">
                <a:solidFill>
                  <a:srgbClr val="1E2761"/>
                </a:solidFill>
                <a:latin typeface="Calibri" pitchFamily="34" charset="0"/>
                <a:ea typeface="Calibri" pitchFamily="34" charset="-122"/>
                <a:cs typeface="Calibri" pitchFamily="34" charset="-120"/>
              </a:rPr>
              <a:t>Target 01 SEP 2026</a:t>
            </a:r>
            <a:endParaRPr lang="en-US" sz="1000" dirty="0"/>
          </a:p>
        </p:txBody>
      </p:sp>
      <p:sp>
        <p:nvSpPr>
          <p:cNvPr id="299" name="Shape 62">
            <a:extLst>
              <a:ext uri="{FF2B5EF4-FFF2-40B4-BE49-F238E27FC236}">
                <a16:creationId xmlns:a16="http://schemas.microsoft.com/office/drawing/2014/main" id="{47F90A0E-F285-0687-1A27-8BE4849A0B10}"/>
              </a:ext>
            </a:extLst>
          </p:cNvPr>
          <p:cNvSpPr/>
          <p:nvPr/>
        </p:nvSpPr>
        <p:spPr>
          <a:xfrm>
            <a:off x="365760" y="5440680"/>
            <a:ext cx="4206240" cy="658368"/>
          </a:xfrm>
          <a:prstGeom prst="roundRect">
            <a:avLst>
              <a:gd name="adj" fmla="val 12500"/>
            </a:avLst>
          </a:prstGeom>
          <a:solidFill>
            <a:srgbClr val="EEF3FC"/>
          </a:solidFill>
          <a:ln w="12700">
            <a:solidFill>
              <a:srgbClr val="CFDDF3"/>
            </a:solidFill>
            <a:prstDash val="solid"/>
          </a:ln>
          <a:effectLst>
            <a:outerShdw blurRad="50800" dist="12700" dir="5400000" algn="bl" rotWithShape="0">
              <a:srgbClr val="9AA6C4">
                <a:alpha val="25000"/>
              </a:srgbClr>
            </a:outerShdw>
          </a:effectLst>
        </p:spPr>
      </p:sp>
      <p:sp>
        <p:nvSpPr>
          <p:cNvPr id="301" name="Text 63">
            <a:extLst>
              <a:ext uri="{FF2B5EF4-FFF2-40B4-BE49-F238E27FC236}">
                <a16:creationId xmlns:a16="http://schemas.microsoft.com/office/drawing/2014/main" id="{E0BEB6E3-F929-BDB0-3DDA-EEA033AEDF40}"/>
              </a:ext>
            </a:extLst>
          </p:cNvPr>
          <p:cNvSpPr txBox="1"/>
          <p:nvPr/>
        </p:nvSpPr>
        <p:spPr>
          <a:xfrm>
            <a:off x="566928" y="5504688"/>
            <a:ext cx="3803904" cy="329184"/>
          </a:xfrm>
          <a:prstGeom prst="rect">
            <a:avLst/>
          </a:prstGeom>
          <a:noFill/>
          <a:ln/>
        </p:spPr>
        <p:txBody>
          <a:bodyPr wrap="square" lIns="0" tIns="0" rIns="0" bIns="0" rtlCol="0" anchor="t"/>
          <a:lstStyle/>
          <a:p>
            <a:pPr marL="0" indent="0" algn="l">
              <a:lnSpc>
                <a:spcPct val="102000"/>
              </a:lnSpc>
              <a:buNone/>
            </a:pPr>
            <a:r>
              <a:rPr lang="en-US" sz="1150" b="1" dirty="0">
                <a:solidFill>
                  <a:srgbClr val="1E2761"/>
                </a:solidFill>
                <a:latin typeface="Calibri" pitchFamily="34" charset="0"/>
                <a:ea typeface="Calibri" pitchFamily="34" charset="-122"/>
                <a:cs typeface="Calibri" pitchFamily="34" charset="-120"/>
              </a:rPr>
              <a:t>Testing &amp; Deployment</a:t>
            </a:r>
            <a:endParaRPr lang="en-US" sz="1150" dirty="0"/>
          </a:p>
        </p:txBody>
      </p:sp>
      <p:sp>
        <p:nvSpPr>
          <p:cNvPr id="303" name="Text 64">
            <a:extLst>
              <a:ext uri="{FF2B5EF4-FFF2-40B4-BE49-F238E27FC236}">
                <a16:creationId xmlns:a16="http://schemas.microsoft.com/office/drawing/2014/main" id="{7DB57C85-789A-0F66-22C7-6D575BFAF878}"/>
              </a:ext>
            </a:extLst>
          </p:cNvPr>
          <p:cNvSpPr txBox="1"/>
          <p:nvPr/>
        </p:nvSpPr>
        <p:spPr>
          <a:xfrm>
            <a:off x="566928" y="5843016"/>
            <a:ext cx="3803904" cy="219456"/>
          </a:xfrm>
          <a:prstGeom prst="rect">
            <a:avLst/>
          </a:prstGeom>
          <a:noFill/>
          <a:ln/>
        </p:spPr>
        <p:txBody>
          <a:bodyPr wrap="square" lIns="0" tIns="0" rIns="0" bIns="0" rtlCol="0" anchor="ctr"/>
          <a:lstStyle/>
          <a:p>
            <a:pPr marL="0" indent="0" algn="l">
              <a:buNone/>
            </a:pPr>
            <a:r>
              <a:rPr lang="en-US" sz="950" i="1" dirty="0">
                <a:solidFill>
                  <a:srgbClr val="5B6478"/>
                </a:solidFill>
                <a:latin typeface="Calibri" pitchFamily="34" charset="0"/>
                <a:ea typeface="Calibri" pitchFamily="34" charset="-122"/>
                <a:cs typeface="Calibri" pitchFamily="34" charset="-120"/>
              </a:rPr>
              <a:t>Planned: 12 SEP 2026</a:t>
            </a:r>
            <a:endParaRPr lang="en-US" sz="950" dirty="0"/>
          </a:p>
        </p:txBody>
      </p:sp>
      <p:sp>
        <p:nvSpPr>
          <p:cNvPr id="305" name="Shape 65">
            <a:extLst>
              <a:ext uri="{FF2B5EF4-FFF2-40B4-BE49-F238E27FC236}">
                <a16:creationId xmlns:a16="http://schemas.microsoft.com/office/drawing/2014/main" id="{548BC672-3774-28CB-52DC-D6BEB47C77ED}"/>
              </a:ext>
            </a:extLst>
          </p:cNvPr>
          <p:cNvSpPr/>
          <p:nvPr/>
        </p:nvSpPr>
        <p:spPr>
          <a:xfrm>
            <a:off x="4572000" y="5769864"/>
            <a:ext cx="1335024" cy="0"/>
          </a:xfrm>
          <a:prstGeom prst="line">
            <a:avLst/>
          </a:prstGeom>
          <a:noFill/>
          <a:ln w="19050">
            <a:solidFill>
              <a:srgbClr val="C7CEDD"/>
            </a:solidFill>
            <a:prstDash val="solid"/>
          </a:ln>
        </p:spPr>
      </p:sp>
      <p:sp>
        <p:nvSpPr>
          <p:cNvPr id="307" name="Shape 66">
            <a:extLst>
              <a:ext uri="{FF2B5EF4-FFF2-40B4-BE49-F238E27FC236}">
                <a16:creationId xmlns:a16="http://schemas.microsoft.com/office/drawing/2014/main" id="{AC68D443-DBC8-6863-B4A4-707193EB49ED}"/>
              </a:ext>
            </a:extLst>
          </p:cNvPr>
          <p:cNvSpPr/>
          <p:nvPr/>
        </p:nvSpPr>
        <p:spPr>
          <a:xfrm>
            <a:off x="6254496" y="5769864"/>
            <a:ext cx="1335024" cy="0"/>
          </a:xfrm>
          <a:prstGeom prst="line">
            <a:avLst/>
          </a:prstGeom>
          <a:noFill/>
          <a:ln w="19050">
            <a:solidFill>
              <a:srgbClr val="C7CEDD"/>
            </a:solidFill>
            <a:prstDash val="solid"/>
          </a:ln>
        </p:spPr>
      </p:sp>
      <p:sp>
        <p:nvSpPr>
          <p:cNvPr id="309" name="Shape 67">
            <a:extLst>
              <a:ext uri="{FF2B5EF4-FFF2-40B4-BE49-F238E27FC236}">
                <a16:creationId xmlns:a16="http://schemas.microsoft.com/office/drawing/2014/main" id="{698C298A-39A7-AE06-56CF-3E33EE18918A}"/>
              </a:ext>
            </a:extLst>
          </p:cNvPr>
          <p:cNvSpPr/>
          <p:nvPr/>
        </p:nvSpPr>
        <p:spPr>
          <a:xfrm>
            <a:off x="5907024" y="5596128"/>
            <a:ext cx="347472" cy="347472"/>
          </a:xfrm>
          <a:prstGeom prst="ellipse">
            <a:avLst/>
          </a:prstGeom>
          <a:solidFill>
            <a:srgbClr val="8A8F9C"/>
          </a:solidFill>
          <a:ln w="25400">
            <a:solidFill>
              <a:srgbClr val="FFFFFF"/>
            </a:solidFill>
            <a:prstDash val="solid"/>
          </a:ln>
          <a:effectLst>
            <a:outerShdw blurRad="38100" dist="12700" dir="5400000" algn="bl" rotWithShape="0">
              <a:srgbClr val="6B7280">
                <a:alpha val="30000"/>
              </a:srgbClr>
            </a:outerShdw>
          </a:effectLst>
        </p:spPr>
      </p:sp>
      <p:sp>
        <p:nvSpPr>
          <p:cNvPr id="311" name="Text 68">
            <a:extLst>
              <a:ext uri="{FF2B5EF4-FFF2-40B4-BE49-F238E27FC236}">
                <a16:creationId xmlns:a16="http://schemas.microsoft.com/office/drawing/2014/main" id="{466EB805-8BEC-6C9E-DE1E-12BA4C6B3A78}"/>
              </a:ext>
            </a:extLst>
          </p:cNvPr>
          <p:cNvSpPr txBox="1"/>
          <p:nvPr/>
        </p:nvSpPr>
        <p:spPr>
          <a:xfrm>
            <a:off x="5907024" y="5596128"/>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313" name="Shape 69">
            <a:extLst>
              <a:ext uri="{FF2B5EF4-FFF2-40B4-BE49-F238E27FC236}">
                <a16:creationId xmlns:a16="http://schemas.microsoft.com/office/drawing/2014/main" id="{7F56EE67-DBF3-DC87-AF0D-69AC3EEC9DC3}"/>
              </a:ext>
            </a:extLst>
          </p:cNvPr>
          <p:cNvSpPr/>
          <p:nvPr/>
        </p:nvSpPr>
        <p:spPr>
          <a:xfrm>
            <a:off x="7589520" y="5440680"/>
            <a:ext cx="4206240" cy="658368"/>
          </a:xfrm>
          <a:prstGeom prst="roundRect">
            <a:avLst>
              <a:gd name="adj" fmla="val 12500"/>
            </a:avLst>
          </a:prstGeom>
          <a:solidFill>
            <a:srgbClr val="EFEFF2"/>
          </a:solidFill>
          <a:ln w="12700">
            <a:solidFill>
              <a:srgbClr val="8A8F9C"/>
            </a:solidFill>
            <a:prstDash val="solid"/>
          </a:ln>
          <a:effectLst>
            <a:outerShdw blurRad="50800" dist="12700" dir="5400000" algn="bl" rotWithShape="0">
              <a:srgbClr val="9AA6C4">
                <a:alpha val="25000"/>
              </a:srgbClr>
            </a:outerShdw>
          </a:effectLst>
        </p:spPr>
      </p:sp>
      <p:sp>
        <p:nvSpPr>
          <p:cNvPr id="315" name="Shape 70">
            <a:extLst>
              <a:ext uri="{FF2B5EF4-FFF2-40B4-BE49-F238E27FC236}">
                <a16:creationId xmlns:a16="http://schemas.microsoft.com/office/drawing/2014/main" id="{FA786EE3-AD8E-5DB0-2733-0FC3E8F7972A}"/>
              </a:ext>
            </a:extLst>
          </p:cNvPr>
          <p:cNvSpPr/>
          <p:nvPr/>
        </p:nvSpPr>
        <p:spPr>
          <a:xfrm>
            <a:off x="7790688" y="5522976"/>
            <a:ext cx="1371600" cy="256032"/>
          </a:xfrm>
          <a:prstGeom prst="roundRect">
            <a:avLst>
              <a:gd name="adj" fmla="val 50000"/>
            </a:avLst>
          </a:prstGeom>
          <a:solidFill>
            <a:srgbClr val="8A8F9C"/>
          </a:solidFill>
          <a:ln w="12700">
            <a:solidFill>
              <a:srgbClr val="8A8F9C"/>
            </a:solidFill>
            <a:prstDash val="solid"/>
          </a:ln>
        </p:spPr>
      </p:sp>
      <p:sp>
        <p:nvSpPr>
          <p:cNvPr id="317" name="Text 71">
            <a:extLst>
              <a:ext uri="{FF2B5EF4-FFF2-40B4-BE49-F238E27FC236}">
                <a16:creationId xmlns:a16="http://schemas.microsoft.com/office/drawing/2014/main" id="{2173D857-40AC-A5E7-C59B-19D25B7C9018}"/>
              </a:ext>
            </a:extLst>
          </p:cNvPr>
          <p:cNvSpPr txBox="1"/>
          <p:nvPr/>
        </p:nvSpPr>
        <p:spPr>
          <a:xfrm>
            <a:off x="7790688" y="5522976"/>
            <a:ext cx="1371600" cy="256032"/>
          </a:xfrm>
          <a:prstGeom prst="rect">
            <a:avLst/>
          </a:prstGeom>
          <a:noFill/>
          <a:ln/>
        </p:spPr>
        <p:txBody>
          <a:bodyPr wrap="square" lIns="0" tIns="0" rIns="0" bIns="0" rtlCol="0" anchor="ctr"/>
          <a:lstStyle/>
          <a:p>
            <a:pPr marL="0" indent="0" algn="ctr">
              <a:buNone/>
            </a:pPr>
            <a:r>
              <a:rPr lang="en-US" sz="1000" b="1" kern="0" spc="50" dirty="0">
                <a:solidFill>
                  <a:srgbClr val="FFFFFF"/>
                </a:solidFill>
                <a:latin typeface="Calibri" pitchFamily="34" charset="0"/>
                <a:ea typeface="Calibri" pitchFamily="34" charset="-122"/>
                <a:cs typeface="Calibri" pitchFamily="34" charset="-120"/>
              </a:rPr>
              <a:t>PENDING</a:t>
            </a:r>
            <a:endParaRPr lang="en-US" sz="1000" dirty="0"/>
          </a:p>
        </p:txBody>
      </p:sp>
      <p:sp>
        <p:nvSpPr>
          <p:cNvPr id="319" name="Text 72">
            <a:extLst>
              <a:ext uri="{FF2B5EF4-FFF2-40B4-BE49-F238E27FC236}">
                <a16:creationId xmlns:a16="http://schemas.microsoft.com/office/drawing/2014/main" id="{789FC187-933B-EB79-CCEE-08A0266B81A2}"/>
              </a:ext>
            </a:extLst>
          </p:cNvPr>
          <p:cNvSpPr txBox="1"/>
          <p:nvPr/>
        </p:nvSpPr>
        <p:spPr>
          <a:xfrm>
            <a:off x="7790688" y="5824728"/>
            <a:ext cx="3803904" cy="237744"/>
          </a:xfrm>
          <a:prstGeom prst="rect">
            <a:avLst/>
          </a:prstGeom>
          <a:noFill/>
          <a:ln/>
        </p:spPr>
        <p:txBody>
          <a:bodyPr wrap="square" lIns="0" tIns="0" rIns="0" bIns="0" rtlCol="0" anchor="ctr"/>
          <a:lstStyle/>
          <a:p>
            <a:pPr marL="0" indent="0" algn="l">
              <a:buNone/>
            </a:pPr>
            <a:r>
              <a:rPr lang="en-US" sz="1000" dirty="0">
                <a:solidFill>
                  <a:srgbClr val="1E2761"/>
                </a:solidFill>
                <a:latin typeface="Calibri" pitchFamily="34" charset="0"/>
                <a:ea typeface="Calibri" pitchFamily="34" charset="-122"/>
                <a:cs typeface="Calibri" pitchFamily="34" charset="-120"/>
              </a:rPr>
              <a:t>Target 12 SEP 2026</a:t>
            </a:r>
            <a:endParaRPr lang="en-US" sz="1000" dirty="0"/>
          </a:p>
        </p:txBody>
      </p:sp>
      <p:sp>
        <p:nvSpPr>
          <p:cNvPr id="321" name="Text 73">
            <a:extLst>
              <a:ext uri="{FF2B5EF4-FFF2-40B4-BE49-F238E27FC236}">
                <a16:creationId xmlns:a16="http://schemas.microsoft.com/office/drawing/2014/main" id="{185209C7-C524-844E-F467-CA911B6B02D1}"/>
              </a:ext>
            </a:extLst>
          </p:cNvPr>
          <p:cNvSpPr txBox="1"/>
          <p:nvPr/>
        </p:nvSpPr>
        <p:spPr>
          <a:xfrm>
            <a:off x="365760" y="6245352"/>
            <a:ext cx="2926080" cy="274320"/>
          </a:xfrm>
          <a:prstGeom prst="rect">
            <a:avLst/>
          </a:prstGeom>
          <a:noFill/>
          <a:ln/>
        </p:spPr>
        <p:txBody>
          <a:bodyPr wrap="square" lIns="0" tIns="0" rIns="0" bIns="0" rtlCol="0" anchor="ctr"/>
          <a:lstStyle/>
          <a:p>
            <a:pPr marL="0" indent="0" algn="l">
              <a:buNone/>
            </a:pPr>
            <a:r>
              <a:rPr lang="en-US" sz="1100" b="1" kern="0" spc="50" dirty="0">
                <a:solidFill>
                  <a:srgbClr val="1E2761"/>
                </a:solidFill>
                <a:latin typeface="Calibri" pitchFamily="34" charset="0"/>
                <a:ea typeface="Calibri" pitchFamily="34" charset="-122"/>
                <a:cs typeface="Calibri" pitchFamily="34" charset="-120"/>
              </a:rPr>
              <a:t>FIRST REVIEW PROGRESS</a:t>
            </a:r>
            <a:endParaRPr lang="en-US" sz="1100" dirty="0"/>
          </a:p>
        </p:txBody>
      </p:sp>
      <p:sp>
        <p:nvSpPr>
          <p:cNvPr id="323" name="Shape 74">
            <a:extLst>
              <a:ext uri="{FF2B5EF4-FFF2-40B4-BE49-F238E27FC236}">
                <a16:creationId xmlns:a16="http://schemas.microsoft.com/office/drawing/2014/main" id="{76161CF5-2C06-D62F-5ED1-B1E3C5A25E98}"/>
              </a:ext>
            </a:extLst>
          </p:cNvPr>
          <p:cNvSpPr/>
          <p:nvPr/>
        </p:nvSpPr>
        <p:spPr>
          <a:xfrm>
            <a:off x="4398264" y="6208776"/>
            <a:ext cx="2331720" cy="384048"/>
          </a:xfrm>
          <a:prstGeom prst="roundRect">
            <a:avLst>
              <a:gd name="adj" fmla="val 19048"/>
            </a:avLst>
          </a:prstGeom>
          <a:solidFill>
            <a:srgbClr val="E7F4E8"/>
          </a:solidFill>
          <a:ln w="9525">
            <a:solidFill>
              <a:srgbClr val="2E7D32"/>
            </a:solidFill>
            <a:prstDash val="solid"/>
          </a:ln>
        </p:spPr>
      </p:sp>
      <p:sp>
        <p:nvSpPr>
          <p:cNvPr id="325" name="Shape 75">
            <a:extLst>
              <a:ext uri="{FF2B5EF4-FFF2-40B4-BE49-F238E27FC236}">
                <a16:creationId xmlns:a16="http://schemas.microsoft.com/office/drawing/2014/main" id="{E5AE66BE-010D-406E-CD64-ABC73BA3A8BC}"/>
              </a:ext>
            </a:extLst>
          </p:cNvPr>
          <p:cNvSpPr/>
          <p:nvPr/>
        </p:nvSpPr>
        <p:spPr>
          <a:xfrm>
            <a:off x="4507992" y="6272784"/>
            <a:ext cx="256032" cy="256032"/>
          </a:xfrm>
          <a:prstGeom prst="ellipse">
            <a:avLst/>
          </a:prstGeom>
          <a:solidFill>
            <a:srgbClr val="2E7D32"/>
          </a:solidFill>
          <a:ln w="12700">
            <a:solidFill>
              <a:srgbClr val="2E7D32"/>
            </a:solidFill>
            <a:prstDash val="solid"/>
          </a:ln>
        </p:spPr>
      </p:sp>
      <p:sp>
        <p:nvSpPr>
          <p:cNvPr id="327" name="Text 76">
            <a:extLst>
              <a:ext uri="{FF2B5EF4-FFF2-40B4-BE49-F238E27FC236}">
                <a16:creationId xmlns:a16="http://schemas.microsoft.com/office/drawing/2014/main" id="{48341411-2CD5-1B0A-82CA-1934B6F26911}"/>
              </a:ext>
            </a:extLst>
          </p:cNvPr>
          <p:cNvSpPr txBox="1"/>
          <p:nvPr/>
        </p:nvSpPr>
        <p:spPr>
          <a:xfrm>
            <a:off x="4507992" y="6272784"/>
            <a:ext cx="256032"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29" name="Text 77">
            <a:extLst>
              <a:ext uri="{FF2B5EF4-FFF2-40B4-BE49-F238E27FC236}">
                <a16:creationId xmlns:a16="http://schemas.microsoft.com/office/drawing/2014/main" id="{1FC6FF70-C62C-4CCB-DB2C-57E63915D578}"/>
              </a:ext>
            </a:extLst>
          </p:cNvPr>
          <p:cNvSpPr txBox="1"/>
          <p:nvPr/>
        </p:nvSpPr>
        <p:spPr>
          <a:xfrm>
            <a:off x="4855464" y="6208776"/>
            <a:ext cx="1828800" cy="384048"/>
          </a:xfrm>
          <a:prstGeom prst="rect">
            <a:avLst/>
          </a:prstGeom>
          <a:noFill/>
          <a:ln/>
        </p:spPr>
        <p:txBody>
          <a:bodyPr wrap="square" lIns="0" tIns="0" rIns="0" bIns="0" rtlCol="0" anchor="ctr"/>
          <a:lstStyle/>
          <a:p>
            <a:pPr marL="0" indent="0" algn="l">
              <a:buNone/>
            </a:pPr>
            <a:r>
              <a:rPr lang="en-US" sz="1100" b="1" dirty="0">
                <a:solidFill>
                  <a:srgbClr val="1E2761"/>
                </a:solidFill>
                <a:latin typeface="Calibri" pitchFamily="34" charset="0"/>
                <a:ea typeface="Calibri" pitchFamily="34" charset="-122"/>
                <a:cs typeface="Calibri" pitchFamily="34" charset="-120"/>
              </a:rPr>
              <a:t>Completed</a:t>
            </a:r>
            <a:endParaRPr lang="en-US" sz="1100" dirty="0"/>
          </a:p>
        </p:txBody>
      </p:sp>
      <p:sp>
        <p:nvSpPr>
          <p:cNvPr id="331" name="Shape 78">
            <a:extLst>
              <a:ext uri="{FF2B5EF4-FFF2-40B4-BE49-F238E27FC236}">
                <a16:creationId xmlns:a16="http://schemas.microsoft.com/office/drawing/2014/main" id="{C871D395-54E9-1681-005F-8429A3323BF7}"/>
              </a:ext>
            </a:extLst>
          </p:cNvPr>
          <p:cNvSpPr/>
          <p:nvPr/>
        </p:nvSpPr>
        <p:spPr>
          <a:xfrm>
            <a:off x="6931152" y="6208776"/>
            <a:ext cx="2331720" cy="384048"/>
          </a:xfrm>
          <a:prstGeom prst="roundRect">
            <a:avLst>
              <a:gd name="adj" fmla="val 19048"/>
            </a:avLst>
          </a:prstGeom>
          <a:solidFill>
            <a:srgbClr val="FCEDDD"/>
          </a:solidFill>
          <a:ln w="9525">
            <a:solidFill>
              <a:srgbClr val="D9791F"/>
            </a:solidFill>
            <a:prstDash val="solid"/>
          </a:ln>
        </p:spPr>
      </p:sp>
      <p:sp>
        <p:nvSpPr>
          <p:cNvPr id="333" name="Shape 79">
            <a:extLst>
              <a:ext uri="{FF2B5EF4-FFF2-40B4-BE49-F238E27FC236}">
                <a16:creationId xmlns:a16="http://schemas.microsoft.com/office/drawing/2014/main" id="{77AB3BD7-62EF-EC6E-A89A-5329B88D3D2E}"/>
              </a:ext>
            </a:extLst>
          </p:cNvPr>
          <p:cNvSpPr/>
          <p:nvPr/>
        </p:nvSpPr>
        <p:spPr>
          <a:xfrm>
            <a:off x="7040880" y="6272784"/>
            <a:ext cx="256032" cy="256032"/>
          </a:xfrm>
          <a:prstGeom prst="ellipse">
            <a:avLst/>
          </a:prstGeom>
          <a:solidFill>
            <a:srgbClr val="D9791F"/>
          </a:solidFill>
          <a:ln w="12700">
            <a:solidFill>
              <a:srgbClr val="D9791F"/>
            </a:solidFill>
            <a:prstDash val="solid"/>
          </a:ln>
        </p:spPr>
      </p:sp>
      <p:sp>
        <p:nvSpPr>
          <p:cNvPr id="335" name="Text 80">
            <a:extLst>
              <a:ext uri="{FF2B5EF4-FFF2-40B4-BE49-F238E27FC236}">
                <a16:creationId xmlns:a16="http://schemas.microsoft.com/office/drawing/2014/main" id="{82471407-D396-6706-AA55-52E1FABD62D3}"/>
              </a:ext>
            </a:extLst>
          </p:cNvPr>
          <p:cNvSpPr txBox="1"/>
          <p:nvPr/>
        </p:nvSpPr>
        <p:spPr>
          <a:xfrm>
            <a:off x="7040880" y="6272784"/>
            <a:ext cx="256032"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337" name="Text 81">
            <a:extLst>
              <a:ext uri="{FF2B5EF4-FFF2-40B4-BE49-F238E27FC236}">
                <a16:creationId xmlns:a16="http://schemas.microsoft.com/office/drawing/2014/main" id="{3AD76FC6-E9D9-F798-8626-DDFCAAF5528F}"/>
              </a:ext>
            </a:extLst>
          </p:cNvPr>
          <p:cNvSpPr txBox="1"/>
          <p:nvPr/>
        </p:nvSpPr>
        <p:spPr>
          <a:xfrm>
            <a:off x="7388352" y="6208776"/>
            <a:ext cx="1828800" cy="384048"/>
          </a:xfrm>
          <a:prstGeom prst="rect">
            <a:avLst/>
          </a:prstGeom>
          <a:noFill/>
          <a:ln/>
        </p:spPr>
        <p:txBody>
          <a:bodyPr wrap="square" lIns="0" tIns="0" rIns="0" bIns="0" rtlCol="0" anchor="ctr"/>
          <a:lstStyle/>
          <a:p>
            <a:pPr marL="0" indent="0" algn="l">
              <a:buNone/>
            </a:pPr>
            <a:r>
              <a:rPr lang="en-US" sz="1100" b="1" dirty="0">
                <a:solidFill>
                  <a:srgbClr val="1E2761"/>
                </a:solidFill>
                <a:latin typeface="Calibri" pitchFamily="34" charset="0"/>
                <a:ea typeface="Calibri" pitchFamily="34" charset="-122"/>
                <a:cs typeface="Calibri" pitchFamily="34" charset="-120"/>
              </a:rPr>
              <a:t>In Progress</a:t>
            </a:r>
            <a:endParaRPr lang="en-US" sz="1100" dirty="0"/>
          </a:p>
        </p:txBody>
      </p:sp>
      <p:sp>
        <p:nvSpPr>
          <p:cNvPr id="339" name="Shape 82">
            <a:extLst>
              <a:ext uri="{FF2B5EF4-FFF2-40B4-BE49-F238E27FC236}">
                <a16:creationId xmlns:a16="http://schemas.microsoft.com/office/drawing/2014/main" id="{B2734C61-BAE3-2855-32CC-D5F9B7E8BE58}"/>
              </a:ext>
            </a:extLst>
          </p:cNvPr>
          <p:cNvSpPr/>
          <p:nvPr/>
        </p:nvSpPr>
        <p:spPr>
          <a:xfrm>
            <a:off x="9464040" y="6208776"/>
            <a:ext cx="2331720" cy="384048"/>
          </a:xfrm>
          <a:prstGeom prst="roundRect">
            <a:avLst>
              <a:gd name="adj" fmla="val 19048"/>
            </a:avLst>
          </a:prstGeom>
          <a:solidFill>
            <a:srgbClr val="EFEFF2"/>
          </a:solidFill>
          <a:ln w="9525">
            <a:solidFill>
              <a:srgbClr val="8A8F9C"/>
            </a:solidFill>
            <a:prstDash val="solid"/>
          </a:ln>
        </p:spPr>
      </p:sp>
      <p:sp>
        <p:nvSpPr>
          <p:cNvPr id="341" name="Shape 83">
            <a:extLst>
              <a:ext uri="{FF2B5EF4-FFF2-40B4-BE49-F238E27FC236}">
                <a16:creationId xmlns:a16="http://schemas.microsoft.com/office/drawing/2014/main" id="{01CE1E8C-EB30-C04D-AB4A-97A596CD2C99}"/>
              </a:ext>
            </a:extLst>
          </p:cNvPr>
          <p:cNvSpPr/>
          <p:nvPr/>
        </p:nvSpPr>
        <p:spPr>
          <a:xfrm>
            <a:off x="9573768" y="6272784"/>
            <a:ext cx="256032" cy="256032"/>
          </a:xfrm>
          <a:prstGeom prst="ellipse">
            <a:avLst/>
          </a:prstGeom>
          <a:solidFill>
            <a:srgbClr val="8A8F9C"/>
          </a:solidFill>
          <a:ln w="12700">
            <a:solidFill>
              <a:srgbClr val="8A8F9C"/>
            </a:solidFill>
            <a:prstDash val="solid"/>
          </a:ln>
        </p:spPr>
      </p:sp>
      <p:sp>
        <p:nvSpPr>
          <p:cNvPr id="343" name="Text 84">
            <a:extLst>
              <a:ext uri="{FF2B5EF4-FFF2-40B4-BE49-F238E27FC236}">
                <a16:creationId xmlns:a16="http://schemas.microsoft.com/office/drawing/2014/main" id="{0FAD4933-F1F7-0146-1F78-2CB4E779000C}"/>
              </a:ext>
            </a:extLst>
          </p:cNvPr>
          <p:cNvSpPr txBox="1"/>
          <p:nvPr/>
        </p:nvSpPr>
        <p:spPr>
          <a:xfrm>
            <a:off x="9573768" y="6272784"/>
            <a:ext cx="256032"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45" name="Text 85">
            <a:extLst>
              <a:ext uri="{FF2B5EF4-FFF2-40B4-BE49-F238E27FC236}">
                <a16:creationId xmlns:a16="http://schemas.microsoft.com/office/drawing/2014/main" id="{AD33E9FA-7970-D5AF-40B8-CD58D590B6FB}"/>
              </a:ext>
            </a:extLst>
          </p:cNvPr>
          <p:cNvSpPr txBox="1"/>
          <p:nvPr/>
        </p:nvSpPr>
        <p:spPr>
          <a:xfrm>
            <a:off x="9921240" y="6208776"/>
            <a:ext cx="1828800" cy="384048"/>
          </a:xfrm>
          <a:prstGeom prst="rect">
            <a:avLst/>
          </a:prstGeom>
          <a:noFill/>
          <a:ln/>
        </p:spPr>
        <p:txBody>
          <a:bodyPr wrap="square" lIns="0" tIns="0" rIns="0" bIns="0" rtlCol="0" anchor="ctr"/>
          <a:lstStyle/>
          <a:p>
            <a:pPr marL="0" indent="0" algn="l">
              <a:buNone/>
            </a:pPr>
            <a:r>
              <a:rPr lang="en-US" sz="1100" b="1" dirty="0">
                <a:solidFill>
                  <a:srgbClr val="1E2761"/>
                </a:solidFill>
                <a:latin typeface="Calibri" pitchFamily="34" charset="0"/>
                <a:ea typeface="Calibri" pitchFamily="34" charset="-122"/>
                <a:cs typeface="Calibri" pitchFamily="34" charset="-120"/>
              </a:rPr>
              <a:t>Pending</a:t>
            </a:r>
            <a:endParaRPr lang="en-US" sz="1100" dirty="0"/>
          </a:p>
        </p:txBody>
      </p:sp>
    </p:spTree>
    <p:extLst>
      <p:ext uri="{BB962C8B-B14F-4D97-AF65-F5344CB8AC3E}">
        <p14:creationId xmlns:p14="http://schemas.microsoft.com/office/powerpoint/2010/main" val="40184366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21024"/>
        </a:solidFill>
        <a:effectLst/>
      </p:bgPr>
    </p:bg>
    <p:spTree>
      <p:nvGrpSpPr>
        <p:cNvPr id="1" name=""/>
        <p:cNvGrpSpPr/>
        <p:nvPr/>
      </p:nvGrpSpPr>
      <p:grpSpPr>
        <a:xfrm>
          <a:off x="0" y="0"/>
          <a:ext cx="0" cy="0"/>
          <a:chOff x="0" y="0"/>
          <a:chExt cx="0" cy="0"/>
        </a:xfrm>
      </p:grpSpPr>
      <p:sp>
        <p:nvSpPr>
          <p:cNvPr id="2" name="Shape 0"/>
          <p:cNvSpPr/>
          <p:nvPr/>
        </p:nvSpPr>
        <p:spPr>
          <a:xfrm>
            <a:off x="-2286000" y="4114800"/>
            <a:ext cx="5486400" cy="5486400"/>
          </a:xfrm>
          <a:prstGeom prst="ellipse">
            <a:avLst/>
          </a:prstGeom>
          <a:solidFill>
            <a:srgbClr val="065A82">
              <a:alpha val="40000"/>
            </a:srgbClr>
          </a:solidFill>
          <a:ln/>
        </p:spPr>
      </p:sp>
      <p:sp>
        <p:nvSpPr>
          <p:cNvPr id="3" name="Text 1"/>
          <p:cNvSpPr txBox="1"/>
          <p:nvPr/>
        </p:nvSpPr>
        <p:spPr>
          <a:xfrm>
            <a:off x="548640" y="384048"/>
            <a:ext cx="7315200" cy="320040"/>
          </a:xfrm>
          <a:prstGeom prst="rect">
            <a:avLst/>
          </a:prstGeom>
          <a:noFill/>
          <a:ln/>
        </p:spPr>
        <p:txBody>
          <a:bodyPr wrap="square" lIns="0" tIns="0" rIns="0" bIns="0" rtlCol="0" anchor="ctr"/>
          <a:lstStyle/>
          <a:p>
            <a:pPr marL="0" indent="0">
              <a:buNone/>
            </a:pPr>
            <a:r>
              <a:rPr lang="en-US" sz="1300" b="1" kern="0" spc="200" dirty="0">
                <a:solidFill>
                  <a:srgbClr val="02C39A"/>
                </a:solidFill>
                <a:latin typeface="Calibri" pitchFamily="34" charset="0"/>
                <a:ea typeface="Calibri" pitchFamily="34" charset="-122"/>
                <a:cs typeface="Calibri" pitchFamily="34" charset="-120"/>
              </a:rPr>
              <a:t>WRAPPING UP</a:t>
            </a:r>
            <a:endParaRPr lang="en-US" sz="1300" dirty="0"/>
          </a:p>
        </p:txBody>
      </p:sp>
      <p:sp>
        <p:nvSpPr>
          <p:cNvPr id="4" name="Text 2"/>
          <p:cNvSpPr txBox="1"/>
          <p:nvPr/>
        </p:nvSpPr>
        <p:spPr>
          <a:xfrm>
            <a:off x="548640" y="941832"/>
            <a:ext cx="5893349" cy="64008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Expected Outcome &amp; Conclusion</a:t>
            </a:r>
            <a:endParaRPr lang="en-US" sz="3200" dirty="0"/>
          </a:p>
        </p:txBody>
      </p:sp>
      <p:sp>
        <p:nvSpPr>
          <p:cNvPr id="5" name="Text 3"/>
          <p:cNvSpPr txBox="1"/>
          <p:nvPr/>
        </p:nvSpPr>
        <p:spPr>
          <a:xfrm>
            <a:off x="640080" y="2011680"/>
            <a:ext cx="5486400" cy="274320"/>
          </a:xfrm>
          <a:prstGeom prst="rect">
            <a:avLst/>
          </a:prstGeom>
          <a:noFill/>
          <a:ln/>
        </p:spPr>
        <p:txBody>
          <a:bodyPr wrap="square" lIns="0" tIns="0" rIns="0" bIns="0" rtlCol="0" anchor="ctr"/>
          <a:lstStyle/>
          <a:p>
            <a:pPr marL="0" indent="0">
              <a:buNone/>
            </a:pPr>
            <a:r>
              <a:rPr lang="en-US" sz="1600" b="1" dirty="0">
                <a:solidFill>
                  <a:srgbClr val="02C39A"/>
                </a:solidFill>
                <a:latin typeface="Calibri" pitchFamily="34" charset="0"/>
                <a:ea typeface="Calibri" pitchFamily="34" charset="-122"/>
                <a:cs typeface="Calibri" pitchFamily="34" charset="-120"/>
              </a:rPr>
              <a:t>EXPECTED OUTCOME</a:t>
            </a:r>
            <a:endParaRPr lang="en-US" sz="1600" dirty="0"/>
          </a:p>
        </p:txBody>
      </p:sp>
      <p:pic>
        <p:nvPicPr>
          <p:cNvPr id="6" name="Image 0" descr="/home/claude/parkease/icons/chart.png"/>
          <p:cNvPicPr>
            <a:picLocks noChangeAspect="1"/>
          </p:cNvPicPr>
          <p:nvPr/>
        </p:nvPicPr>
        <p:blipFill>
          <a:blip r:embed="rId3"/>
          <a:stretch>
            <a:fillRect/>
          </a:stretch>
        </p:blipFill>
        <p:spPr>
          <a:xfrm>
            <a:off x="640080" y="2377440"/>
            <a:ext cx="384048" cy="384048"/>
          </a:xfrm>
          <a:prstGeom prst="rect">
            <a:avLst/>
          </a:prstGeom>
        </p:spPr>
      </p:pic>
      <p:sp>
        <p:nvSpPr>
          <p:cNvPr id="7" name="Text 4"/>
          <p:cNvSpPr txBox="1"/>
          <p:nvPr/>
        </p:nvSpPr>
        <p:spPr>
          <a:xfrm>
            <a:off x="1143000" y="2395728"/>
            <a:ext cx="2286000" cy="365760"/>
          </a:xfrm>
          <a:prstGeom prst="rect">
            <a:avLst/>
          </a:prstGeom>
          <a:noFill/>
          <a:ln/>
        </p:spPr>
        <p:txBody>
          <a:bodyPr wrap="square" lIns="0" tIns="0" rIns="0" bIns="0" rtlCol="0" anchor="ctr"/>
          <a:lstStyle/>
          <a:p>
            <a:pPr marL="0" indent="0">
              <a:buNone/>
            </a:pPr>
            <a:r>
              <a:rPr lang="en-US" sz="1400" dirty="0">
                <a:solidFill>
                  <a:srgbClr val="DCE8ED"/>
                </a:solidFill>
                <a:latin typeface="Calibri" pitchFamily="34" charset="0"/>
                <a:ea typeface="Calibri" pitchFamily="34" charset="-122"/>
                <a:cs typeface="Calibri" pitchFamily="34" charset="-120"/>
              </a:rPr>
              <a:t>Real-time availability</a:t>
            </a:r>
            <a:endParaRPr lang="en-US" sz="1400" dirty="0"/>
          </a:p>
        </p:txBody>
      </p:sp>
      <p:pic>
        <p:nvPicPr>
          <p:cNvPr id="8" name="Image 1" descr="/home/claude/parkease/icons/clock.png"/>
          <p:cNvPicPr>
            <a:picLocks noChangeAspect="1"/>
          </p:cNvPicPr>
          <p:nvPr/>
        </p:nvPicPr>
        <p:blipFill>
          <a:blip r:embed="rId4"/>
          <a:stretch>
            <a:fillRect/>
          </a:stretch>
        </p:blipFill>
        <p:spPr>
          <a:xfrm>
            <a:off x="3474720" y="2377440"/>
            <a:ext cx="384048" cy="384048"/>
          </a:xfrm>
          <a:prstGeom prst="rect">
            <a:avLst/>
          </a:prstGeom>
        </p:spPr>
      </p:pic>
      <p:sp>
        <p:nvSpPr>
          <p:cNvPr id="9" name="Text 5"/>
          <p:cNvSpPr txBox="1"/>
          <p:nvPr/>
        </p:nvSpPr>
        <p:spPr>
          <a:xfrm>
            <a:off x="3977640" y="2395728"/>
            <a:ext cx="2286000" cy="365760"/>
          </a:xfrm>
          <a:prstGeom prst="rect">
            <a:avLst/>
          </a:prstGeom>
          <a:noFill/>
          <a:ln/>
        </p:spPr>
        <p:txBody>
          <a:bodyPr wrap="square" lIns="0" tIns="0" rIns="0" bIns="0" rtlCol="0" anchor="ctr"/>
          <a:lstStyle/>
          <a:p>
            <a:pPr marL="0" indent="0">
              <a:buNone/>
            </a:pPr>
            <a:r>
              <a:rPr lang="en-US" sz="1400" dirty="0">
                <a:solidFill>
                  <a:srgbClr val="DCE8ED"/>
                </a:solidFill>
                <a:latin typeface="Calibri" pitchFamily="34" charset="0"/>
                <a:ea typeface="Calibri" pitchFamily="34" charset="-122"/>
                <a:cs typeface="Calibri" pitchFamily="34" charset="-120"/>
              </a:rPr>
              <a:t>Reduced search time</a:t>
            </a:r>
            <a:endParaRPr lang="en-US" sz="1400" dirty="0"/>
          </a:p>
        </p:txBody>
      </p:sp>
      <p:pic>
        <p:nvPicPr>
          <p:cNvPr id="10" name="Image 2" descr="/home/claude/parkease/icons/qrcode.png"/>
          <p:cNvPicPr>
            <a:picLocks noChangeAspect="1"/>
          </p:cNvPicPr>
          <p:nvPr/>
        </p:nvPicPr>
        <p:blipFill>
          <a:blip r:embed="rId5"/>
          <a:stretch>
            <a:fillRect/>
          </a:stretch>
        </p:blipFill>
        <p:spPr>
          <a:xfrm>
            <a:off x="640080" y="3035808"/>
            <a:ext cx="384048" cy="384048"/>
          </a:xfrm>
          <a:prstGeom prst="rect">
            <a:avLst/>
          </a:prstGeom>
        </p:spPr>
      </p:pic>
      <p:sp>
        <p:nvSpPr>
          <p:cNvPr id="11" name="Text 6"/>
          <p:cNvSpPr txBox="1"/>
          <p:nvPr/>
        </p:nvSpPr>
        <p:spPr>
          <a:xfrm>
            <a:off x="1143000" y="3054096"/>
            <a:ext cx="2286000" cy="365760"/>
          </a:xfrm>
          <a:prstGeom prst="rect">
            <a:avLst/>
          </a:prstGeom>
          <a:noFill/>
          <a:ln/>
        </p:spPr>
        <p:txBody>
          <a:bodyPr wrap="square" lIns="0" tIns="0" rIns="0" bIns="0" rtlCol="0" anchor="ctr"/>
          <a:lstStyle/>
          <a:p>
            <a:pPr marL="0" indent="0">
              <a:buNone/>
            </a:pPr>
            <a:r>
              <a:rPr lang="en-US" sz="1400" dirty="0">
                <a:solidFill>
                  <a:srgbClr val="DCE8ED"/>
                </a:solidFill>
                <a:latin typeface="Calibri" pitchFamily="34" charset="0"/>
                <a:ea typeface="Calibri" pitchFamily="34" charset="-122"/>
                <a:cs typeface="Calibri" pitchFamily="34" charset="-120"/>
              </a:rPr>
              <a:t>QR-verified entry</a:t>
            </a:r>
            <a:endParaRPr lang="en-US" sz="1400" dirty="0"/>
          </a:p>
        </p:txBody>
      </p:sp>
      <p:pic>
        <p:nvPicPr>
          <p:cNvPr id="12" name="Image 3" descr="/home/claude/parkease/icons/money.png"/>
          <p:cNvPicPr>
            <a:picLocks noChangeAspect="1"/>
          </p:cNvPicPr>
          <p:nvPr/>
        </p:nvPicPr>
        <p:blipFill>
          <a:blip r:embed="rId6"/>
          <a:stretch>
            <a:fillRect/>
          </a:stretch>
        </p:blipFill>
        <p:spPr>
          <a:xfrm>
            <a:off x="3474720" y="3035808"/>
            <a:ext cx="384048" cy="384048"/>
          </a:xfrm>
          <a:prstGeom prst="rect">
            <a:avLst/>
          </a:prstGeom>
        </p:spPr>
      </p:pic>
      <p:sp>
        <p:nvSpPr>
          <p:cNvPr id="13" name="Text 7"/>
          <p:cNvSpPr txBox="1"/>
          <p:nvPr/>
        </p:nvSpPr>
        <p:spPr>
          <a:xfrm>
            <a:off x="3977640" y="3054096"/>
            <a:ext cx="2286000" cy="365760"/>
          </a:xfrm>
          <a:prstGeom prst="rect">
            <a:avLst/>
          </a:prstGeom>
          <a:noFill/>
          <a:ln/>
        </p:spPr>
        <p:txBody>
          <a:bodyPr wrap="square" lIns="0" tIns="0" rIns="0" bIns="0" rtlCol="0" anchor="ctr"/>
          <a:lstStyle/>
          <a:p>
            <a:pPr marL="0" indent="0">
              <a:buNone/>
            </a:pPr>
            <a:r>
              <a:rPr lang="en-US" sz="1400" dirty="0">
                <a:solidFill>
                  <a:srgbClr val="DCE8ED"/>
                </a:solidFill>
                <a:latin typeface="Calibri" pitchFamily="34" charset="0"/>
                <a:ea typeface="Calibri" pitchFamily="34" charset="-122"/>
                <a:cs typeface="Calibri" pitchFamily="34" charset="-120"/>
              </a:rPr>
              <a:t>Automated fare &amp; penalty</a:t>
            </a:r>
            <a:endParaRPr lang="en-US" sz="1400" dirty="0"/>
          </a:p>
        </p:txBody>
      </p:sp>
      <p:pic>
        <p:nvPicPr>
          <p:cNvPr id="14" name="Image 4" descr="/home/claude/parkease/icons/dashboard.png"/>
          <p:cNvPicPr>
            <a:picLocks noChangeAspect="1"/>
          </p:cNvPicPr>
          <p:nvPr/>
        </p:nvPicPr>
        <p:blipFill>
          <a:blip r:embed="rId7"/>
          <a:stretch>
            <a:fillRect/>
          </a:stretch>
        </p:blipFill>
        <p:spPr>
          <a:xfrm>
            <a:off x="640080" y="3694176"/>
            <a:ext cx="384048" cy="384048"/>
          </a:xfrm>
          <a:prstGeom prst="rect">
            <a:avLst/>
          </a:prstGeom>
        </p:spPr>
      </p:pic>
      <p:sp>
        <p:nvSpPr>
          <p:cNvPr id="15" name="Text 8"/>
          <p:cNvSpPr txBox="1"/>
          <p:nvPr/>
        </p:nvSpPr>
        <p:spPr>
          <a:xfrm>
            <a:off x="1143000" y="3712464"/>
            <a:ext cx="2286000" cy="365760"/>
          </a:xfrm>
          <a:prstGeom prst="rect">
            <a:avLst/>
          </a:prstGeom>
          <a:noFill/>
          <a:ln/>
        </p:spPr>
        <p:txBody>
          <a:bodyPr wrap="square" lIns="0" tIns="0" rIns="0" bIns="0" rtlCol="0" anchor="ctr"/>
          <a:lstStyle/>
          <a:p>
            <a:pPr marL="0" indent="0">
              <a:buNone/>
            </a:pPr>
            <a:r>
              <a:rPr lang="en-US" sz="1400" dirty="0">
                <a:solidFill>
                  <a:srgbClr val="DCE8ED"/>
                </a:solidFill>
                <a:latin typeface="Calibri" pitchFamily="34" charset="0"/>
                <a:ea typeface="Calibri" pitchFamily="34" charset="-122"/>
                <a:cs typeface="Calibri" pitchFamily="34" charset="-120"/>
              </a:rPr>
              <a:t>Better operator monitoring</a:t>
            </a:r>
            <a:endParaRPr lang="en-US" sz="1400" dirty="0"/>
          </a:p>
        </p:txBody>
      </p:sp>
      <p:pic>
        <p:nvPicPr>
          <p:cNvPr id="16" name="Image 5" descr="/home/claude/parkease/icons/gear.png"/>
          <p:cNvPicPr>
            <a:picLocks noChangeAspect="1"/>
          </p:cNvPicPr>
          <p:nvPr/>
        </p:nvPicPr>
        <p:blipFill>
          <a:blip r:embed="rId8"/>
          <a:stretch>
            <a:fillRect/>
          </a:stretch>
        </p:blipFill>
        <p:spPr>
          <a:xfrm>
            <a:off x="3474720" y="3694176"/>
            <a:ext cx="384048" cy="384048"/>
          </a:xfrm>
          <a:prstGeom prst="rect">
            <a:avLst/>
          </a:prstGeom>
        </p:spPr>
      </p:pic>
      <p:sp>
        <p:nvSpPr>
          <p:cNvPr id="17" name="Text 9"/>
          <p:cNvSpPr txBox="1"/>
          <p:nvPr/>
        </p:nvSpPr>
        <p:spPr>
          <a:xfrm>
            <a:off x="3977640" y="3712464"/>
            <a:ext cx="2286000" cy="365760"/>
          </a:xfrm>
          <a:prstGeom prst="rect">
            <a:avLst/>
          </a:prstGeom>
          <a:noFill/>
          <a:ln/>
        </p:spPr>
        <p:txBody>
          <a:bodyPr wrap="square" lIns="0" tIns="0" rIns="0" bIns="0" rtlCol="0" anchor="ctr"/>
          <a:lstStyle/>
          <a:p>
            <a:pPr marL="0" indent="0">
              <a:buNone/>
            </a:pPr>
            <a:r>
              <a:rPr lang="en-US" sz="1400" dirty="0">
                <a:solidFill>
                  <a:srgbClr val="DCE8ED"/>
                </a:solidFill>
                <a:latin typeface="Calibri" pitchFamily="34" charset="0"/>
                <a:ea typeface="Calibri" pitchFamily="34" charset="-122"/>
                <a:cs typeface="Calibri" pitchFamily="34" charset="-120"/>
              </a:rPr>
              <a:t>Less manual intervention</a:t>
            </a:r>
            <a:endParaRPr lang="en-US" sz="1400" dirty="0"/>
          </a:p>
        </p:txBody>
      </p:sp>
      <p:sp>
        <p:nvSpPr>
          <p:cNvPr id="31" name="Shape 17"/>
          <p:cNvSpPr/>
          <p:nvPr/>
        </p:nvSpPr>
        <p:spPr>
          <a:xfrm>
            <a:off x="6537960" y="1371600"/>
            <a:ext cx="5074920" cy="4892040"/>
          </a:xfrm>
          <a:prstGeom prst="roundRect">
            <a:avLst>
              <a:gd name="adj" fmla="val 1869"/>
            </a:avLst>
          </a:prstGeom>
          <a:solidFill>
            <a:srgbClr val="065A82">
              <a:alpha val="55000"/>
            </a:srgbClr>
          </a:solidFill>
          <a:ln w="12700">
            <a:solidFill>
              <a:srgbClr val="2E4A5C"/>
            </a:solidFill>
            <a:prstDash val="solid"/>
          </a:ln>
        </p:spPr>
      </p:sp>
      <p:sp>
        <p:nvSpPr>
          <p:cNvPr id="32" name="Text 18"/>
          <p:cNvSpPr txBox="1"/>
          <p:nvPr/>
        </p:nvSpPr>
        <p:spPr>
          <a:xfrm>
            <a:off x="6858000" y="1600200"/>
            <a:ext cx="4480560" cy="320040"/>
          </a:xfrm>
          <a:prstGeom prst="rect">
            <a:avLst/>
          </a:prstGeom>
          <a:noFill/>
          <a:ln/>
        </p:spPr>
        <p:txBody>
          <a:bodyPr wrap="square" lIns="0" tIns="0" rIns="0" bIns="0" rtlCol="0" anchor="ctr"/>
          <a:lstStyle/>
          <a:p>
            <a:pPr marL="0" indent="0">
              <a:buNone/>
            </a:pPr>
            <a:r>
              <a:rPr lang="en-US" sz="1300" b="1" dirty="0">
                <a:solidFill>
                  <a:srgbClr val="02C39A"/>
                </a:solidFill>
                <a:latin typeface="Calibri" pitchFamily="34" charset="0"/>
                <a:ea typeface="Calibri" pitchFamily="34" charset="-122"/>
                <a:cs typeface="Calibri" pitchFamily="34" charset="-120"/>
              </a:rPr>
              <a:t>CONCLUSION</a:t>
            </a:r>
            <a:endParaRPr lang="en-US" sz="1300" dirty="0"/>
          </a:p>
        </p:txBody>
      </p:sp>
      <p:sp>
        <p:nvSpPr>
          <p:cNvPr id="33" name="Text 19"/>
          <p:cNvSpPr txBox="1"/>
          <p:nvPr/>
        </p:nvSpPr>
        <p:spPr>
          <a:xfrm>
            <a:off x="6858000" y="2011680"/>
            <a:ext cx="4480560" cy="4114800"/>
          </a:xfrm>
          <a:prstGeom prst="rect">
            <a:avLst/>
          </a:prstGeom>
          <a:noFill/>
          <a:ln/>
        </p:spPr>
        <p:txBody>
          <a:bodyPr wrap="square" lIns="0" tIns="0" rIns="0" bIns="0" rtlCol="0" anchor="t"/>
          <a:lstStyle/>
          <a:p>
            <a:pPr marL="0" indent="0">
              <a:lnSpc>
                <a:spcPct val="125000"/>
              </a:lnSpc>
              <a:buNone/>
            </a:pPr>
            <a:r>
              <a:rPr lang="en-US" sz="1600" dirty="0">
                <a:solidFill>
                  <a:srgbClr val="E4EEF1"/>
                </a:solidFill>
                <a:latin typeface="Calibri" pitchFamily="34" charset="0"/>
                <a:ea typeface="Calibri" pitchFamily="34" charset="-122"/>
                <a:cs typeface="Calibri" pitchFamily="34" charset="-120"/>
              </a:rPr>
              <a:t>Park Ease proposes a practical smart parking solution that combines IoT-based real-time occupancy detection with a web-based management system.</a:t>
            </a:r>
            <a:endParaRPr lang="en-US" sz="1600" dirty="0"/>
          </a:p>
          <a:p>
            <a:pPr marL="0" indent="0">
              <a:lnSpc>
                <a:spcPct val="125000"/>
              </a:lnSpc>
              <a:buNone/>
            </a:pPr>
            <a:endParaRPr lang="en-US" sz="1600" dirty="0"/>
          </a:p>
          <a:p>
            <a:pPr marL="0" indent="0">
              <a:lnSpc>
                <a:spcPct val="125000"/>
              </a:lnSpc>
              <a:buNone/>
            </a:pPr>
            <a:r>
              <a:rPr lang="en-US" sz="1600" dirty="0">
                <a:solidFill>
                  <a:srgbClr val="E4EEF1"/>
                </a:solidFill>
                <a:latin typeface="Calibri" pitchFamily="34" charset="0"/>
                <a:ea typeface="Calibri" pitchFamily="34" charset="-122"/>
                <a:cs typeface="Calibri" pitchFamily="34" charset="-120"/>
              </a:rPr>
              <a:t>The hybrid reservation model avoids keeping slots unnecessarily reserved throughout the day while still offering convenience during peak hours.</a:t>
            </a:r>
            <a:endParaRPr lang="en-US" sz="1600" dirty="0"/>
          </a:p>
          <a:p>
            <a:pPr marL="0" indent="0">
              <a:lnSpc>
                <a:spcPct val="125000"/>
              </a:lnSpc>
              <a:buNone/>
            </a:pPr>
            <a:endParaRPr lang="en-US" sz="1600" dirty="0"/>
          </a:p>
          <a:p>
            <a:pPr marL="0" indent="0">
              <a:lnSpc>
                <a:spcPct val="125000"/>
              </a:lnSpc>
              <a:buNone/>
            </a:pPr>
            <a:r>
              <a:rPr lang="en-US" sz="1600" dirty="0">
                <a:solidFill>
                  <a:srgbClr val="E4EEF1"/>
                </a:solidFill>
                <a:latin typeface="Calibri" pitchFamily="34" charset="0"/>
                <a:ea typeface="Calibri" pitchFamily="34" charset="-122"/>
                <a:cs typeface="Calibri" pitchFamily="34" charset="-120"/>
              </a:rPr>
              <a:t>Remaining work will focus on hardware integration, backend APIs, database implementation, payment, QR validation, exit fare calculation, penalty handling, and full system testing.</a:t>
            </a:r>
            <a:endParaRPr lang="en-US" sz="1600" dirty="0"/>
          </a:p>
        </p:txBody>
      </p:sp>
      <p:sp>
        <p:nvSpPr>
          <p:cNvPr id="34" name="Text 20"/>
          <p:cNvSpPr txBox="1"/>
          <p:nvPr/>
        </p:nvSpPr>
        <p:spPr>
          <a:xfrm>
            <a:off x="11277295" y="6446520"/>
            <a:ext cx="731520" cy="274320"/>
          </a:xfrm>
          <a:prstGeom prst="rect">
            <a:avLst/>
          </a:prstGeom>
          <a:noFill/>
          <a:ln/>
        </p:spPr>
        <p:txBody>
          <a:bodyPr wrap="square" lIns="0" tIns="0" rIns="0" bIns="0" rtlCol="0" anchor="ctr"/>
          <a:lstStyle/>
          <a:p>
            <a:pPr marL="0" indent="0" algn="r">
              <a:buNone/>
            </a:pPr>
            <a:r>
              <a:rPr lang="en-US" sz="1000" dirty="0">
                <a:solidFill>
                  <a:srgbClr val="AFC4CE"/>
                </a:solidFill>
                <a:latin typeface="Calibri" pitchFamily="34" charset="0"/>
                <a:ea typeface="Calibri" pitchFamily="34" charset="-122"/>
                <a:cs typeface="Calibri" pitchFamily="34" charset="-120"/>
              </a:rPr>
              <a:t>8 / 8</a:t>
            </a:r>
            <a:endParaRPr lang="en-US" sz="1000" dirty="0"/>
          </a:p>
        </p:txBody>
      </p:sp>
      <p:sp>
        <p:nvSpPr>
          <p:cNvPr id="35" name="Text 8">
            <a:extLst>
              <a:ext uri="{FF2B5EF4-FFF2-40B4-BE49-F238E27FC236}">
                <a16:creationId xmlns:a16="http://schemas.microsoft.com/office/drawing/2014/main" id="{04000AC9-2F36-50E9-8211-556E60420770}"/>
              </a:ext>
            </a:extLst>
          </p:cNvPr>
          <p:cNvSpPr txBox="1"/>
          <p:nvPr/>
        </p:nvSpPr>
        <p:spPr>
          <a:xfrm>
            <a:off x="640080" y="4578426"/>
            <a:ext cx="4047250" cy="365760"/>
          </a:xfrm>
          <a:prstGeom prst="rect">
            <a:avLst/>
          </a:prstGeom>
          <a:noFill/>
          <a:ln/>
        </p:spPr>
        <p:txBody>
          <a:bodyPr wrap="square" lIns="0" tIns="0" rIns="0" bIns="0" rtlCol="0" anchor="ctr"/>
          <a:lstStyle/>
          <a:p>
            <a:r>
              <a:rPr lang="en-US" sz="2000" dirty="0">
                <a:solidFill>
                  <a:schemeClr val="bg1"/>
                </a:solidFill>
                <a:latin typeface="Calibri" pitchFamily="34" charset="0"/>
                <a:ea typeface="Calibri" pitchFamily="34" charset="-122"/>
                <a:cs typeface="Calibri" pitchFamily="34" charset="-120"/>
                <a:hlinkClick r:id="rId9">
                  <a:extLst>
                    <a:ext uri="{A12FA001-AC4F-418D-AE19-62706E023703}">
                      <ahyp:hlinkClr xmlns:ahyp="http://schemas.microsoft.com/office/drawing/2018/hyperlinkcolor" val="tx"/>
                    </a:ext>
                  </a:extLst>
                </a:hlinkClick>
              </a:rPr>
              <a:t>Open Website...</a:t>
            </a:r>
            <a:endParaRPr lang="en-US" sz="2000" dirty="0">
              <a:solidFill>
                <a:schemeClr val="bg1"/>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TotalTime>
  <Words>1796</Words>
  <Application>Microsoft Office PowerPoint</Application>
  <PresentationFormat>Widescreen</PresentationFormat>
  <Paragraphs>244</Paragraphs>
  <Slides>8</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Cambria</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MITHULESH N</cp:lastModifiedBy>
  <cp:revision>3</cp:revision>
  <dcterms:created xsi:type="dcterms:W3CDTF">2026-08-27T03:24:13Z</dcterms:created>
  <dcterms:modified xsi:type="dcterms:W3CDTF">2026-08-27T05:24:25Z</dcterms:modified>
</cp:coreProperties>
</file>