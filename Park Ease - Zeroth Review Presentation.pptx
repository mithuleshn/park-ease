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12192000" cy="6858000"/>
  <p:notesSz cx="6858000" cy="9144000"/>
  <p:embeddedFontLst>
    <p:embeddedFont>
      <p:font typeface="Outfit" panose="020B0604020202020204" charset="0"/>
      <p:regular r:id="rId13"/>
      <p:bold r:id="rId14"/>
    </p:embeddedFont>
    <p:embeddedFont>
      <p:font typeface="Outfit Light" panose="020B0604020202020204" charset="0"/>
      <p:regular r:id="rId15"/>
      <p:bold r:id="rId16"/>
    </p:embeddedFont>
    <p:embeddedFont>
      <p:font typeface="Outfit Medium" panose="020B0604020202020204" charset="0"/>
      <p:regular r:id="rId17"/>
      <p:bold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SemiBold" panose="000007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1" name="Google Shape;2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5.png"/><Relationship Id="rId1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1075" y="921125"/>
            <a:ext cx="3409700" cy="4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191125"/>
            <a:ext cx="106680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1700212"/>
            <a:ext cx="9001200" cy="13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Park Ease: IOT</a:t>
            </a:r>
            <a:r>
              <a:rPr lang="en-US" sz="3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Based </a:t>
            </a:r>
            <a:r>
              <a:rPr lang="en-US" sz="3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Smart Park</a:t>
            </a:r>
            <a:r>
              <a:rPr lang="en-US" sz="3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ing Management System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524050" y="3592215"/>
            <a:ext cx="71439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An IoT-enabled framework solution addressing modern urban static-resource allocation crises.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79350" y="5305013"/>
            <a:ext cx="3467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PRESENTED BY</a:t>
            </a:r>
            <a:endParaRPr sz="1700"/>
          </a:p>
        </p:txBody>
      </p:sp>
      <p:sp>
        <p:nvSpPr>
          <p:cNvPr id="89" name="Google Shape;89;p13"/>
          <p:cNvSpPr txBox="1"/>
          <p:nvPr/>
        </p:nvSpPr>
        <p:spPr>
          <a:xfrm>
            <a:off x="844650" y="5704800"/>
            <a:ext cx="330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Mithulesh N (25MX328)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44650" y="6057900"/>
            <a:ext cx="330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Dinesh </a:t>
            </a:r>
            <a:r>
              <a:rPr lang="en-US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</a:t>
            </a:r>
            <a:r>
              <a:rPr lang="en-US"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umar S (25</a:t>
            </a:r>
            <a:r>
              <a:rPr lang="en-US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MX</a:t>
            </a:r>
            <a:r>
              <a:rPr lang="en-US"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312)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746999" y="5305025"/>
            <a:ext cx="3467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GUIDE</a:t>
            </a:r>
            <a:endParaRPr sz="1700"/>
          </a:p>
        </p:txBody>
      </p:sp>
      <p:sp>
        <p:nvSpPr>
          <p:cNvPr id="92" name="Google Shape;92;p13"/>
          <p:cNvSpPr txBox="1"/>
          <p:nvPr/>
        </p:nvSpPr>
        <p:spPr>
          <a:xfrm>
            <a:off x="7829500" y="5780700"/>
            <a:ext cx="330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Dr. A. Sankar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46675"/>
            <a:ext cx="5095875" cy="39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6419850"/>
            <a:ext cx="1457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068050" y="6419850"/>
            <a:ext cx="361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Slide 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1699417"/>
            <a:ext cx="53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Infrastructure Bottleneck</a:t>
            </a:r>
            <a:endParaRPr sz="2400"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2360942"/>
            <a:ext cx="5095800" cy="16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Rapid growth in vehicle usage has outpaced static parking structures in high-density areas. Traditional methods create critical flow blockages at entry and exit points due to slow processing.</a:t>
            </a:r>
            <a:endParaRPr sz="1800"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4057550"/>
            <a:ext cx="5095800" cy="16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Cruising for vacant spaces accounts for significant local urban micro-traffic, leading to high fuel consumption and excessive localized carbon emissions.</a:t>
            </a:r>
            <a:endParaRPr sz="1800"/>
          </a:p>
        </p:txBody>
      </p:sp>
      <p:sp>
        <p:nvSpPr>
          <p:cNvPr id="105" name="Google Shape;105;p14"/>
          <p:cNvSpPr txBox="1"/>
          <p:nvPr/>
        </p:nvSpPr>
        <p:spPr>
          <a:xfrm>
            <a:off x="6607250" y="1989587"/>
            <a:ext cx="469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Operational Failures</a:t>
            </a:r>
            <a:endParaRPr sz="2000"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1746676"/>
            <a:ext cx="242900" cy="2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7250" y="203721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940625" y="2482412"/>
            <a:ext cx="41340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No real-time parking space utilization feeds.</a:t>
            </a:r>
            <a:endParaRPr sz="1800"/>
          </a:p>
        </p:txBody>
      </p:sp>
      <p:sp>
        <p:nvSpPr>
          <p:cNvPr id="109" name="Google Shape;109;p14"/>
          <p:cNvSpPr txBox="1"/>
          <p:nvPr/>
        </p:nvSpPr>
        <p:spPr>
          <a:xfrm>
            <a:off x="6981750" y="3274750"/>
            <a:ext cx="41340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Manual oversight leads to traffic bottlenecks.</a:t>
            </a:r>
            <a:endParaRPr sz="1800"/>
          </a:p>
        </p:txBody>
      </p:sp>
      <p:sp>
        <p:nvSpPr>
          <p:cNvPr id="110" name="Google Shape;110;p14"/>
          <p:cNvSpPr txBox="1"/>
          <p:nvPr/>
        </p:nvSpPr>
        <p:spPr>
          <a:xfrm>
            <a:off x="7000875" y="4167187"/>
            <a:ext cx="41340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Traditional rigid booking fails to balance peak vs. standard hours, leading to vacant reserved slots.</a:t>
            </a:r>
            <a:endParaRPr sz="180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07250" y="25157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48375" y="3308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0" y="420052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04875" y="571500"/>
            <a:ext cx="1105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Statement: The Problem</a:t>
            </a:r>
            <a:endParaRPr sz="3000"/>
          </a:p>
        </p:txBody>
      </p:sp>
      <p:sp>
        <p:nvSpPr>
          <p:cNvPr id="115" name="Google Shape;115;p14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E35C62-A1BE-7870-A7C2-4333E599DC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050" y="1726016"/>
            <a:ext cx="5569083" cy="4014383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75" y="1637581"/>
            <a:ext cx="3365450" cy="382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75" y="1637575"/>
            <a:ext cx="3365450" cy="382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75" y="1637575"/>
            <a:ext cx="3678792" cy="382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75" y="62795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75" y="6431900"/>
            <a:ext cx="1457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1068125" y="6431900"/>
            <a:ext cx="362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Slide 3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950" y="17797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499675" y="1863963"/>
            <a:ext cx="291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Primary Drivers</a:t>
            </a:r>
            <a:endParaRPr sz="2000"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952475" y="2456175"/>
            <a:ext cx="30396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Daily vehicle owners experiencing high delays, unpredictability, and micro-parking search anxiety in critical dense environments.</a:t>
            </a:r>
            <a:endParaRPr sz="1800"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65100" y="17797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226825" y="1902375"/>
            <a:ext cx="291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Venue Operators</a:t>
            </a:r>
            <a:endParaRPr sz="2000"/>
          </a:p>
        </p:txBody>
      </p:sp>
      <p:sp>
        <p:nvSpPr>
          <p:cNvPr id="132" name="Google Shape;132;p15"/>
          <p:cNvSpPr txBox="1"/>
          <p:nvPr/>
        </p:nvSpPr>
        <p:spPr>
          <a:xfrm>
            <a:off x="4708500" y="2456175"/>
            <a:ext cx="27750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Commercial hubs, tertiary care hospitals, and universities experiencing manual access processing overheads and system-level inefficiencies.</a:t>
            </a:r>
            <a:endParaRPr sz="1800"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0675" y="18181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953975" y="1940775"/>
            <a:ext cx="29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City Administrations</a:t>
            </a:r>
            <a:endParaRPr sz="2000"/>
          </a:p>
        </p:txBody>
      </p:sp>
      <p:sp>
        <p:nvSpPr>
          <p:cNvPr id="135" name="Google Shape;135;p15"/>
          <p:cNvSpPr txBox="1"/>
          <p:nvPr/>
        </p:nvSpPr>
        <p:spPr>
          <a:xfrm>
            <a:off x="8330675" y="2480225"/>
            <a:ext cx="27750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Smart city infrastructure groups and parking authorities lacking real-time data-driven oversight over local transit parking bottlenecks.</a:t>
            </a:r>
            <a:endParaRPr sz="1800" dirty="0"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8300" y="19131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69875" y="191310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35450" y="195150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904950" y="583550"/>
            <a:ext cx="1105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Statement: Affected Users</a:t>
            </a:r>
            <a:endParaRPr sz="3000"/>
          </a:p>
        </p:txBody>
      </p:sp>
      <p:sp>
        <p:nvSpPr>
          <p:cNvPr id="140" name="Google Shape;140;p15"/>
          <p:cNvSpPr/>
          <p:nvPr/>
        </p:nvSpPr>
        <p:spPr>
          <a:xfrm>
            <a:off x="762075" y="583550"/>
            <a:ext cx="47700" cy="5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3653792"/>
            <a:ext cx="5095875" cy="2170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762000" y="6419850"/>
            <a:ext cx="1457325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 sz="980"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11058525" y="6419850"/>
            <a:ext cx="3714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Slide 4</a:t>
            </a:r>
            <a:endParaRPr sz="1800"/>
          </a:p>
        </p:txBody>
      </p:sp>
      <p:sp>
        <p:nvSpPr>
          <p:cNvPr id="150" name="Google Shape;150;p16"/>
          <p:cNvSpPr txBox="1"/>
          <p:nvPr/>
        </p:nvSpPr>
        <p:spPr>
          <a:xfrm>
            <a:off x="745332" y="1806446"/>
            <a:ext cx="53506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Legacy Methods</a:t>
            </a:r>
            <a:endParaRPr sz="2000"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745332" y="2277161"/>
            <a:ext cx="50958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Traditional architectures are fundamentally passive, depending on staff direction, FCFS physical queuing, and paper check-ins.</a:t>
            </a:r>
            <a:endParaRPr sz="1800"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6240992" y="1827171"/>
            <a:ext cx="53506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Bottlenecks</a:t>
            </a:r>
            <a:endParaRPr sz="2000" dirty="0"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5332" y="186675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904875" y="3920669"/>
            <a:ext cx="45053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F4444"/>
                </a:solidFill>
                <a:latin typeface="Outfit Medium"/>
                <a:ea typeface="Outfit Medium"/>
                <a:cs typeface="Outfit Medium"/>
                <a:sym typeface="Outfit Medium"/>
              </a:rPr>
              <a:t>Failure mode: Staff errors in paper-logs and manual timing calculation often trigger customer friction and slow processing.</a:t>
            </a:r>
            <a:endParaRPr sz="1800"/>
          </a:p>
        </p:txBody>
      </p:sp>
      <p:sp>
        <p:nvSpPr>
          <p:cNvPr id="155" name="Google Shape;155;p16"/>
          <p:cNvSpPr txBox="1"/>
          <p:nvPr/>
        </p:nvSpPr>
        <p:spPr>
          <a:xfrm>
            <a:off x="6586539" y="2221134"/>
            <a:ext cx="4762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Resource Lock-in: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No system to forecast space usage or prevent artificial reservations holding empty bays.</a:t>
            </a:r>
            <a:endParaRPr sz="1800" dirty="0"/>
          </a:p>
        </p:txBody>
      </p:sp>
      <p:sp>
        <p:nvSpPr>
          <p:cNvPr id="156" name="Google Shape;156;p16"/>
          <p:cNvSpPr txBox="1"/>
          <p:nvPr/>
        </p:nvSpPr>
        <p:spPr>
          <a:xfrm>
            <a:off x="6586539" y="3435076"/>
            <a:ext cx="4762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High Integration Costs: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Inability to interface with existing localized building IoT frameworks.</a:t>
            </a:r>
            <a:endParaRPr sz="1800" dirty="0"/>
          </a:p>
        </p:txBody>
      </p:sp>
      <p:sp>
        <p:nvSpPr>
          <p:cNvPr id="157" name="Google Shape;157;p16"/>
          <p:cNvSpPr txBox="1"/>
          <p:nvPr/>
        </p:nvSpPr>
        <p:spPr>
          <a:xfrm>
            <a:off x="6572250" y="4734087"/>
            <a:ext cx="4762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Poor Scalability: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Scaling manual infrastructure scales operation costs linearly.</a:t>
            </a:r>
            <a:endParaRPr sz="1800" dirty="0"/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405832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58983" y="236458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78033" y="359600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78033" y="487874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904875" y="571517"/>
            <a:ext cx="1105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Existing System &amp; Limitations</a:t>
            </a:r>
            <a:endParaRPr sz="3000" dirty="0"/>
          </a:p>
        </p:txBody>
      </p:sp>
      <p:sp>
        <p:nvSpPr>
          <p:cNvPr id="163" name="Google Shape;163;p16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6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57400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5812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762000" y="6419850"/>
            <a:ext cx="1457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068050" y="6419850"/>
            <a:ext cx="361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Slide 5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1759148"/>
            <a:ext cx="53506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IoT Integration Edge</a:t>
            </a:r>
            <a:endParaRPr sz="2000"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785812" y="2066925"/>
            <a:ext cx="509587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We integrate physical sensor nodes with standard web technologies. Edge nodes leverage ESP32 controllers and HC-SR04 ultrasonic sensors for real-time occupancy updates.</a:t>
            </a:r>
            <a:endParaRPr sz="1800"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762000" y="4003103"/>
            <a:ext cx="53506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Hybrid Reservation Rule</a:t>
            </a:r>
            <a:endParaRPr sz="2000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762000" y="4347305"/>
            <a:ext cx="509587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Maintains FCFS spaces while routing reservations dynamically during </a:t>
            </a:r>
            <a:r>
              <a:rPr lang="en-US" sz="1800" dirty="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free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 windows. This balance ensures optimal space utilization.</a:t>
            </a:r>
            <a:endParaRPr sz="1800" dirty="0"/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180677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2066925"/>
            <a:ext cx="50768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904875" y="612130"/>
            <a:ext cx="1105138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Proposed System Architecture</a:t>
            </a:r>
            <a:endParaRPr sz="3000" dirty="0"/>
          </a:p>
        </p:txBody>
      </p:sp>
      <p:sp>
        <p:nvSpPr>
          <p:cNvPr id="182" name="Google Shape;182;p17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4CD2D8-0228-5784-A742-6E6D194FE6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328" y="1685924"/>
            <a:ext cx="5683072" cy="4384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9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88415"/>
            <a:ext cx="3488924" cy="3573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6029" y="1988414"/>
            <a:ext cx="3365450" cy="3573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0058" y="1972133"/>
            <a:ext cx="3549051" cy="3590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762000" y="6419850"/>
            <a:ext cx="1457325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 sz="980"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10820400" y="6419850"/>
            <a:ext cx="609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Slide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80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endParaRPr sz="1800" dirty="0"/>
          </a:p>
        </p:txBody>
      </p:sp>
      <p:sp>
        <p:nvSpPr>
          <p:cNvPr id="194" name="Google Shape;194;p18"/>
          <p:cNvSpPr txBox="1"/>
          <p:nvPr/>
        </p:nvSpPr>
        <p:spPr>
          <a:xfrm>
            <a:off x="1245088" y="2225886"/>
            <a:ext cx="29136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Workflows</a:t>
            </a:r>
            <a:endParaRPr sz="2000" dirty="0"/>
          </a:p>
        </p:txBody>
      </p:sp>
      <p:sp>
        <p:nvSpPr>
          <p:cNvPr id="195" name="Google Shape;195;p18"/>
          <p:cNvSpPr txBox="1"/>
          <p:nvPr/>
        </p:nvSpPr>
        <p:spPr>
          <a:xfrm>
            <a:off x="1131912" y="2733437"/>
            <a:ext cx="2774900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Eliminates paper trails and manual timestamps using automated sensor state logging and instant QR code billing generation.</a:t>
            </a:r>
            <a:endParaRPr sz="1800"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5029951" y="2248197"/>
            <a:ext cx="29136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Enhanced Accuracy</a:t>
            </a:r>
            <a:endParaRPr sz="2000" dirty="0"/>
          </a:p>
        </p:txBody>
      </p:sp>
      <p:sp>
        <p:nvSpPr>
          <p:cNvPr id="197" name="Google Shape;197;p18"/>
          <p:cNvSpPr txBox="1"/>
          <p:nvPr/>
        </p:nvSpPr>
        <p:spPr>
          <a:xfrm>
            <a:off x="4731304" y="2729623"/>
            <a:ext cx="2774900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Direct database updates through REST APIs remove human counting errors, double-booking risks, and false empty reports.</a:t>
            </a:r>
            <a:endParaRPr sz="1800" dirty="0"/>
          </a:p>
        </p:txBody>
      </p:sp>
      <p:sp>
        <p:nvSpPr>
          <p:cNvPr id="198" name="Google Shape;198;p18"/>
          <p:cNvSpPr txBox="1"/>
          <p:nvPr/>
        </p:nvSpPr>
        <p:spPr>
          <a:xfrm>
            <a:off x="8745308" y="2258403"/>
            <a:ext cx="29138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Scalable Architecture</a:t>
            </a:r>
            <a:endParaRPr sz="2000" dirty="0"/>
          </a:p>
        </p:txBody>
      </p:sp>
      <p:sp>
        <p:nvSpPr>
          <p:cNvPr id="199" name="Google Shape;199;p18"/>
          <p:cNvSpPr txBox="1"/>
          <p:nvPr/>
        </p:nvSpPr>
        <p:spPr>
          <a:xfrm>
            <a:off x="8478738" y="2729623"/>
            <a:ext cx="277504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Utilizes light Flask APIs and modular database design. This structure scales seamlessly from small garages to multi-level commercial lots.</a:t>
            </a:r>
            <a:endParaRPr sz="1800" dirty="0"/>
          </a:p>
        </p:txBody>
      </p:sp>
      <p:pic>
        <p:nvPicPr>
          <p:cNvPr id="200" name="Google Shape;20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637" y="2258403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82041" y="225840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98391" y="2258403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909637" y="943263"/>
            <a:ext cx="1105138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System Improvements</a:t>
            </a:r>
            <a:endParaRPr sz="3000" dirty="0"/>
          </a:p>
        </p:txBody>
      </p:sp>
      <p:sp>
        <p:nvSpPr>
          <p:cNvPr id="204" name="Google Shape;204;p18"/>
          <p:cNvSpPr/>
          <p:nvPr/>
        </p:nvSpPr>
        <p:spPr>
          <a:xfrm>
            <a:off x="762000" y="902632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623" y="1866900"/>
            <a:ext cx="3397150" cy="157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7900" y="1866900"/>
            <a:ext cx="339729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5" y="1866900"/>
            <a:ext cx="339715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986212"/>
            <a:ext cx="3397150" cy="166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3986212"/>
            <a:ext cx="3397299" cy="166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32700" y="3986212"/>
            <a:ext cx="3397150" cy="166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762000" y="6419850"/>
            <a:ext cx="1457325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 sz="980" dirty="0"/>
          </a:p>
        </p:txBody>
      </p:sp>
      <p:sp>
        <p:nvSpPr>
          <p:cNvPr id="218" name="Google Shape;218;p19"/>
          <p:cNvSpPr txBox="1"/>
          <p:nvPr/>
        </p:nvSpPr>
        <p:spPr>
          <a:xfrm>
            <a:off x="11068050" y="6419850"/>
            <a:ext cx="36195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 b="0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Slide 7</a:t>
            </a:r>
            <a:endParaRPr sz="980" dirty="0"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2016388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35400" y="2053753"/>
            <a:ext cx="5048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70825" y="2053753"/>
            <a:ext cx="4476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0125" y="422433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35400" y="42243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70825" y="42243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4875" y="2149738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1438275" y="2151875"/>
            <a:ext cx="19702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</a:t>
            </a:r>
            <a:endParaRPr sz="2000" dirty="0"/>
          </a:p>
        </p:txBody>
      </p:sp>
      <p:sp>
        <p:nvSpPr>
          <p:cNvPr id="227" name="Google Shape;227;p19"/>
          <p:cNvSpPr txBox="1"/>
          <p:nvPr/>
        </p:nvSpPr>
        <p:spPr>
          <a:xfrm>
            <a:off x="1438275" y="2434429"/>
            <a:ext cx="18764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HTML5, CSS3, JS, Bootstrap 5</a:t>
            </a:r>
            <a:endParaRPr sz="1800" dirty="0"/>
          </a:p>
        </p:txBody>
      </p:sp>
      <p:pic>
        <p:nvPicPr>
          <p:cNvPr id="228" name="Google Shape;228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768750" y="2187103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5330725" y="2151325"/>
            <a:ext cx="1654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</a:t>
            </a:r>
            <a:endParaRPr sz="2000" dirty="0"/>
          </a:p>
        </p:txBody>
      </p:sp>
      <p:sp>
        <p:nvSpPr>
          <p:cNvPr id="230" name="Google Shape;230;p19"/>
          <p:cNvSpPr txBox="1"/>
          <p:nvPr/>
        </p:nvSpPr>
        <p:spPr>
          <a:xfrm>
            <a:off x="5302149" y="2459102"/>
            <a:ext cx="1047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Python 3.x, Flask</a:t>
            </a:r>
            <a:endParaRPr sz="1800" dirty="0"/>
          </a:p>
        </p:txBody>
      </p:sp>
      <p:pic>
        <p:nvPicPr>
          <p:cNvPr id="231" name="Google Shape;231;p1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404175" y="2187103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8909000" y="2151325"/>
            <a:ext cx="1690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Database</a:t>
            </a:r>
            <a:endParaRPr sz="2000" dirty="0"/>
          </a:p>
        </p:txBody>
      </p:sp>
      <p:sp>
        <p:nvSpPr>
          <p:cNvPr id="233" name="Google Shape;233;p19"/>
          <p:cNvSpPr txBox="1"/>
          <p:nvPr/>
        </p:nvSpPr>
        <p:spPr>
          <a:xfrm>
            <a:off x="8909000" y="2425336"/>
            <a:ext cx="200453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MySQL relational schema</a:t>
            </a:r>
            <a:endParaRPr sz="1800" dirty="0"/>
          </a:p>
        </p:txBody>
      </p:sp>
      <p:pic>
        <p:nvPicPr>
          <p:cNvPr id="234" name="Google Shape;234;p1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33475" y="4357687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1724025" y="4224337"/>
            <a:ext cx="20602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/ API</a:t>
            </a:r>
            <a:endParaRPr sz="2000"/>
          </a:p>
        </p:txBody>
      </p:sp>
      <p:sp>
        <p:nvSpPr>
          <p:cNvPr id="236" name="Google Shape;236;p19"/>
          <p:cNvSpPr txBox="1"/>
          <p:nvPr/>
        </p:nvSpPr>
        <p:spPr>
          <a:xfrm>
            <a:off x="1724025" y="4538662"/>
            <a:ext cx="19621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RESTful endpoints (JSON data)</a:t>
            </a:r>
            <a:endParaRPr sz="1800"/>
          </a:p>
        </p:txBody>
      </p:sp>
      <p:pic>
        <p:nvPicPr>
          <p:cNvPr id="237" name="Google Shape;237;p19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768750" y="435768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 txBox="1"/>
          <p:nvPr/>
        </p:nvSpPr>
        <p:spPr>
          <a:xfrm>
            <a:off x="5302149" y="4224337"/>
            <a:ext cx="24685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IoT Edge Hardware</a:t>
            </a:r>
            <a:endParaRPr sz="2000" dirty="0"/>
          </a:p>
        </p:txBody>
      </p:sp>
      <p:sp>
        <p:nvSpPr>
          <p:cNvPr id="239" name="Google Shape;239;p19"/>
          <p:cNvSpPr txBox="1"/>
          <p:nvPr/>
        </p:nvSpPr>
        <p:spPr>
          <a:xfrm>
            <a:off x="5302150" y="4538662"/>
            <a:ext cx="2057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ESP32 module, HC-SR04 sensors</a:t>
            </a:r>
            <a:endParaRPr sz="1800"/>
          </a:p>
        </p:txBody>
      </p:sp>
      <p:pic>
        <p:nvPicPr>
          <p:cNvPr id="240" name="Google Shape;240;p19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404175" y="435768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 txBox="1"/>
          <p:nvPr/>
        </p:nvSpPr>
        <p:spPr>
          <a:xfrm>
            <a:off x="8937575" y="4224337"/>
            <a:ext cx="22302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 Suite</a:t>
            </a:r>
            <a:endParaRPr sz="2000"/>
          </a:p>
        </p:txBody>
      </p:sp>
      <p:sp>
        <p:nvSpPr>
          <p:cNvPr id="242" name="Google Shape;242;p19"/>
          <p:cNvSpPr txBox="1"/>
          <p:nvPr/>
        </p:nvSpPr>
        <p:spPr>
          <a:xfrm>
            <a:off x="8937575" y="4538662"/>
            <a:ext cx="21240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VS Code, Arduino IDE, Workbench</a:t>
            </a:r>
            <a:endParaRPr sz="1800"/>
          </a:p>
        </p:txBody>
      </p:sp>
      <p:sp>
        <p:nvSpPr>
          <p:cNvPr id="243" name="Google Shape;243;p19"/>
          <p:cNvSpPr txBox="1"/>
          <p:nvPr/>
        </p:nvSpPr>
        <p:spPr>
          <a:xfrm>
            <a:off x="904875" y="612130"/>
            <a:ext cx="1105138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 sz="3000" dirty="0"/>
          </a:p>
        </p:txBody>
      </p:sp>
      <p:sp>
        <p:nvSpPr>
          <p:cNvPr id="244" name="Google Shape;244;p19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124325"/>
            <a:ext cx="2449115" cy="1575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4753" y="1798439"/>
            <a:ext cx="2449115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7982" y="4124325"/>
            <a:ext cx="2449115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71210" y="1798439"/>
            <a:ext cx="2449115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6288434"/>
            <a:ext cx="10648950" cy="32191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0"/>
          <p:cNvSpPr txBox="1"/>
          <p:nvPr/>
        </p:nvSpPr>
        <p:spPr>
          <a:xfrm>
            <a:off x="771525" y="6412259"/>
            <a:ext cx="14573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11058525" y="6412259"/>
            <a:ext cx="3619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Slide 8</a:t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771525" y="3867150"/>
            <a:ext cx="106489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870317" y="4276725"/>
            <a:ext cx="22515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1</a:t>
            </a:r>
            <a:endParaRPr sz="2000"/>
          </a:p>
        </p:txBody>
      </p:sp>
      <p:sp>
        <p:nvSpPr>
          <p:cNvPr id="262" name="Google Shape;262;p20"/>
          <p:cNvSpPr txBox="1"/>
          <p:nvPr/>
        </p:nvSpPr>
        <p:spPr>
          <a:xfrm>
            <a:off x="923925" y="4724400"/>
            <a:ext cx="214431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Problem Identification, Literature Survey, and Requirements Analysis.</a:t>
            </a:r>
            <a:endParaRPr dirty="0"/>
          </a:p>
        </p:txBody>
      </p:sp>
      <p:sp>
        <p:nvSpPr>
          <p:cNvPr id="263" name="Google Shape;263;p20"/>
          <p:cNvSpPr txBox="1"/>
          <p:nvPr/>
        </p:nvSpPr>
        <p:spPr>
          <a:xfrm>
            <a:off x="3603545" y="1950839"/>
            <a:ext cx="22515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2</a:t>
            </a:r>
            <a:endParaRPr sz="2000"/>
          </a:p>
        </p:txBody>
      </p:sp>
      <p:sp>
        <p:nvSpPr>
          <p:cNvPr id="264" name="Google Shape;264;p20"/>
          <p:cNvSpPr txBox="1"/>
          <p:nvPr/>
        </p:nvSpPr>
        <p:spPr>
          <a:xfrm>
            <a:off x="3657153" y="2398514"/>
            <a:ext cx="214431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Database Model Design, Entity Schema Architecture, and Client UI Prototyping.</a:t>
            </a:r>
            <a:endParaRPr dirty="0"/>
          </a:p>
        </p:txBody>
      </p:sp>
      <p:sp>
        <p:nvSpPr>
          <p:cNvPr id="265" name="Google Shape;265;p20"/>
          <p:cNvSpPr txBox="1"/>
          <p:nvPr/>
        </p:nvSpPr>
        <p:spPr>
          <a:xfrm>
            <a:off x="6336774" y="4276725"/>
            <a:ext cx="22515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3</a:t>
            </a:r>
            <a:endParaRPr sz="2000"/>
          </a:p>
        </p:txBody>
      </p:sp>
      <p:sp>
        <p:nvSpPr>
          <p:cNvPr id="266" name="Google Shape;266;p20"/>
          <p:cNvSpPr txBox="1"/>
          <p:nvPr/>
        </p:nvSpPr>
        <p:spPr>
          <a:xfrm>
            <a:off x="6390382" y="4724400"/>
            <a:ext cx="214431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Hardware Setup (ESP32 Calibration with Sensors) and Flask Backend API development.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9070002" y="1950839"/>
            <a:ext cx="22515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4</a:t>
            </a:r>
            <a:endParaRPr sz="2000"/>
          </a:p>
        </p:txBody>
      </p:sp>
      <p:sp>
        <p:nvSpPr>
          <p:cNvPr id="268" name="Google Shape;268;p20"/>
          <p:cNvSpPr txBox="1"/>
          <p:nvPr/>
        </p:nvSpPr>
        <p:spPr>
          <a:xfrm>
            <a:off x="9123610" y="2398514"/>
            <a:ext cx="214431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rPr>
              <a:t>Hardware-Software Integration, Performance Testing, and Documentation.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1900832" y="3790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634061" y="3790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7367289" y="3790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0100518" y="3790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914400" y="569268"/>
            <a:ext cx="1103137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Timeline</a:t>
            </a:r>
            <a:endParaRPr sz="3000" dirty="0"/>
          </a:p>
        </p:txBody>
      </p:sp>
      <p:sp>
        <p:nvSpPr>
          <p:cNvPr id="274" name="Google Shape;274;p20"/>
          <p:cNvSpPr/>
          <p:nvPr/>
        </p:nvSpPr>
        <p:spPr>
          <a:xfrm>
            <a:off x="7715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762000" y="6419850"/>
            <a:ext cx="1457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1068050" y="6419850"/>
            <a:ext cx="361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Slide 9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1095375" y="1741825"/>
            <a:ext cx="48101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Online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Library: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Recent research papers analyzing ultrasonic sensor latency and space allocation heuristics.</a:t>
            </a:r>
            <a:endParaRPr sz="1800" dirty="0"/>
          </a:p>
        </p:txBody>
      </p:sp>
      <p:sp>
        <p:nvSpPr>
          <p:cNvPr id="280" name="Google Shape;280;p21"/>
          <p:cNvSpPr txBox="1"/>
          <p:nvPr/>
        </p:nvSpPr>
        <p:spPr>
          <a:xfrm>
            <a:off x="1095375" y="3867150"/>
            <a:ext cx="48101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Espressif Docs: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Official data sheets detailing hardware configurations, ESP32 power profiles, and sleep cycles.</a:t>
            </a:r>
            <a:endParaRPr sz="1800"/>
          </a:p>
        </p:txBody>
      </p:sp>
      <p:sp>
        <p:nvSpPr>
          <p:cNvPr id="282" name="Google Shape;282;p21"/>
          <p:cNvSpPr txBox="1"/>
          <p:nvPr/>
        </p:nvSpPr>
        <p:spPr>
          <a:xfrm>
            <a:off x="6406093" y="1741825"/>
            <a:ext cx="48101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MySQL Server Guide: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Optimized patterns for handling real-time indexing in transaction-heavy relational structures.</a:t>
            </a:r>
            <a:endParaRPr sz="1800" dirty="0"/>
          </a:p>
        </p:txBody>
      </p:sp>
      <p:pic>
        <p:nvPicPr>
          <p:cNvPr id="283" name="Google Shape;28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757" y="185975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9004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2718" y="177516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904875" y="612130"/>
            <a:ext cx="1105138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Project References</a:t>
            </a:r>
            <a:endParaRPr sz="3000" dirty="0"/>
          </a:p>
        </p:txBody>
      </p:sp>
      <p:sp>
        <p:nvSpPr>
          <p:cNvPr id="288" name="Google Shape;288;p21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3618295" y="2201704"/>
            <a:ext cx="495540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</a:t>
            </a:r>
            <a:endParaRPr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762000" y="6419850"/>
            <a:ext cx="1457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Park Ease • Zeroth Review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11001375" y="6419850"/>
            <a:ext cx="428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Slide 10</a:t>
            </a:r>
            <a:endParaRPr/>
          </a:p>
        </p:txBody>
      </p:sp>
      <p:pic>
        <p:nvPicPr>
          <p:cNvPr id="300" name="Google Shape;30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8295" y="3791493"/>
            <a:ext cx="473582" cy="397849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A9C19F-20A0-2F11-79E9-ED282B1DA39A}"/>
              </a:ext>
            </a:extLst>
          </p:cNvPr>
          <p:cNvSpPr txBox="1"/>
          <p:nvPr/>
        </p:nvSpPr>
        <p:spPr>
          <a:xfrm>
            <a:off x="4091877" y="3836528"/>
            <a:ext cx="477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Open for Questions and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629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Outfit</vt:lpstr>
      <vt:lpstr>Arial</vt:lpstr>
      <vt:lpstr>Poppins</vt:lpstr>
      <vt:lpstr>Outfit Medium</vt:lpstr>
      <vt:lpstr>Calibri</vt:lpstr>
      <vt:lpstr>Poppins SemiBold</vt:lpstr>
      <vt:lpstr>Outfit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MITHULESH N</dc:creator>
  <cp:lastModifiedBy>MITHULESH N</cp:lastModifiedBy>
  <cp:revision>2</cp:revision>
  <dcterms:modified xsi:type="dcterms:W3CDTF">2026-07-16T16:56:53Z</dcterms:modified>
</cp:coreProperties>
</file>